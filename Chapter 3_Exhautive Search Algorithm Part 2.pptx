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56"/>
  </p:notesMasterIdLst>
  <p:sldIdLst>
    <p:sldId id="256" r:id="rId3"/>
    <p:sldId id="257" r:id="rId4"/>
    <p:sldId id="271" r:id="rId5"/>
    <p:sldId id="286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57" r:id="rId43"/>
    <p:sldId id="354" r:id="rId44"/>
    <p:sldId id="345" r:id="rId45"/>
    <p:sldId id="356" r:id="rId46"/>
    <p:sldId id="358" r:id="rId47"/>
    <p:sldId id="346" r:id="rId48"/>
    <p:sldId id="347" r:id="rId49"/>
    <p:sldId id="348" r:id="rId50"/>
    <p:sldId id="349" r:id="rId51"/>
    <p:sldId id="350" r:id="rId52"/>
    <p:sldId id="351" r:id="rId53"/>
    <p:sldId id="352" r:id="rId54"/>
    <p:sldId id="353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0C0"/>
    <a:srgbClr val="008000"/>
    <a:srgbClr val="0099FF"/>
    <a:srgbClr val="984807"/>
    <a:srgbClr val="F79646"/>
    <a:srgbClr val="9D3B38"/>
    <a:srgbClr val="3898B2"/>
    <a:srgbClr val="358BA2"/>
    <a:srgbClr val="FFE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43" autoAdjust="0"/>
    <p:restoredTop sz="88413" autoAdjust="0"/>
  </p:normalViewPr>
  <p:slideViewPr>
    <p:cSldViewPr>
      <p:cViewPr varScale="1">
        <p:scale>
          <a:sx n="65" d="100"/>
          <a:sy n="65" d="100"/>
        </p:scale>
        <p:origin x="118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38C5C5-17B3-4601-B1F3-C066BA493911}" type="doc">
      <dgm:prSet loTypeId="urn:microsoft.com/office/officeart/2005/8/layout/h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469B87B-209C-442D-839C-D95123D9EAED}">
      <dgm:prSet phldrT="[Text]" custT="1"/>
      <dgm:spPr>
        <a:solidFill>
          <a:srgbClr val="C00000"/>
        </a:solidFill>
        <a:ln>
          <a:noFill/>
        </a:ln>
      </dgm:spPr>
      <dgm:t>
        <a:bodyPr/>
        <a:lstStyle/>
        <a:p>
          <a:r>
            <a:rPr lang="en-US" sz="2800" b="1" dirty="0">
              <a:effectLst/>
              <a:cs typeface="Arial" charset="0"/>
            </a:rPr>
            <a:t>Uninformed Search</a:t>
          </a:r>
          <a:endParaRPr lang="en-US" sz="2800" b="1" dirty="0">
            <a:effectLst/>
          </a:endParaRPr>
        </a:p>
      </dgm:t>
    </dgm:pt>
    <dgm:pt modelId="{FC57707A-A6D0-4D59-B0B0-B77D4FF18E18}" type="parTrans" cxnId="{AA08422A-FBF9-405A-9535-D6F7843CC893}">
      <dgm:prSet/>
      <dgm:spPr/>
      <dgm:t>
        <a:bodyPr/>
        <a:lstStyle/>
        <a:p>
          <a:endParaRPr lang="en-US" sz="2400">
            <a:effectLst/>
          </a:endParaRPr>
        </a:p>
      </dgm:t>
    </dgm:pt>
    <dgm:pt modelId="{186BEA82-27EA-4AF0-A4BF-5A93488BF86C}" type="sibTrans" cxnId="{AA08422A-FBF9-405A-9535-D6F7843CC893}">
      <dgm:prSet/>
      <dgm:spPr/>
      <dgm:t>
        <a:bodyPr/>
        <a:lstStyle/>
        <a:p>
          <a:endParaRPr lang="en-US" sz="2400">
            <a:effectLst/>
          </a:endParaRPr>
        </a:p>
      </dgm:t>
    </dgm:pt>
    <dgm:pt modelId="{D8F3414F-98A9-4253-AA77-C4B29817AA36}">
      <dgm:prSet phldrT="[Text]" custT="1"/>
      <dgm:spPr/>
      <dgm:t>
        <a:bodyPr/>
        <a:lstStyle/>
        <a:p>
          <a:r>
            <a:rPr lang="en-US" sz="2400" dirty="0">
              <a:solidFill>
                <a:srgbClr val="C00000"/>
              </a:solidFill>
              <a:effectLst/>
              <a:cs typeface="Arial" charset="0"/>
            </a:rPr>
            <a:t>Breadth-first</a:t>
          </a:r>
          <a:endParaRPr lang="en-US" sz="2400" dirty="0">
            <a:solidFill>
              <a:srgbClr val="C00000"/>
            </a:solidFill>
            <a:effectLst/>
          </a:endParaRPr>
        </a:p>
      </dgm:t>
    </dgm:pt>
    <dgm:pt modelId="{D1EB4FB7-E2F3-4F94-B7CA-8C00F6D46EDA}" type="parTrans" cxnId="{AC9AF068-67ED-495C-AC37-C1CD65B9FB46}">
      <dgm:prSet/>
      <dgm:spPr/>
      <dgm:t>
        <a:bodyPr/>
        <a:lstStyle/>
        <a:p>
          <a:endParaRPr lang="en-US" sz="2400">
            <a:effectLst/>
          </a:endParaRPr>
        </a:p>
      </dgm:t>
    </dgm:pt>
    <dgm:pt modelId="{8EFC9BDE-DCFC-4031-A956-C34C2CA57C17}" type="sibTrans" cxnId="{AC9AF068-67ED-495C-AC37-C1CD65B9FB46}">
      <dgm:prSet/>
      <dgm:spPr/>
      <dgm:t>
        <a:bodyPr/>
        <a:lstStyle/>
        <a:p>
          <a:endParaRPr lang="en-US" sz="2400">
            <a:effectLst/>
          </a:endParaRPr>
        </a:p>
      </dgm:t>
    </dgm:pt>
    <dgm:pt modelId="{C8FA63AE-85BE-4E97-B467-33372E156C4E}">
      <dgm:prSet phldrT="[Text]" custT="1"/>
      <dgm:spPr/>
      <dgm:t>
        <a:bodyPr/>
        <a:lstStyle/>
        <a:p>
          <a:r>
            <a:rPr lang="en-US" sz="2800" b="1" dirty="0">
              <a:effectLst/>
              <a:cs typeface="Arial" charset="0"/>
            </a:rPr>
            <a:t>Informed Search</a:t>
          </a:r>
          <a:endParaRPr lang="en-US" sz="2800" b="1" dirty="0">
            <a:effectLst/>
          </a:endParaRPr>
        </a:p>
      </dgm:t>
    </dgm:pt>
    <dgm:pt modelId="{520565B1-4DD0-4C6B-992B-F79C7DC9F60D}" type="parTrans" cxnId="{71E5B0C3-445C-4A39-BC07-3A0144CEECB0}">
      <dgm:prSet/>
      <dgm:spPr/>
      <dgm:t>
        <a:bodyPr/>
        <a:lstStyle/>
        <a:p>
          <a:endParaRPr lang="en-US" sz="2400">
            <a:effectLst/>
          </a:endParaRPr>
        </a:p>
      </dgm:t>
    </dgm:pt>
    <dgm:pt modelId="{79F41990-167D-4B87-BE28-0479A509B217}" type="sibTrans" cxnId="{71E5B0C3-445C-4A39-BC07-3A0144CEECB0}">
      <dgm:prSet/>
      <dgm:spPr/>
      <dgm:t>
        <a:bodyPr/>
        <a:lstStyle/>
        <a:p>
          <a:endParaRPr lang="en-US" sz="2400">
            <a:effectLst/>
          </a:endParaRPr>
        </a:p>
      </dgm:t>
    </dgm:pt>
    <dgm:pt modelId="{66FE19A9-AFFE-4870-935A-016010D1FB14}">
      <dgm:prSet phldrT="[Text]" custT="1"/>
      <dgm:spPr/>
      <dgm:t>
        <a:bodyPr/>
        <a:lstStyle/>
        <a:p>
          <a:r>
            <a:rPr lang="en-US" sz="2400" dirty="0">
              <a:solidFill>
                <a:srgbClr val="0070C0"/>
              </a:solidFill>
              <a:effectLst/>
              <a:cs typeface="Arial" charset="0"/>
            </a:rPr>
            <a:t>Best-first search</a:t>
          </a:r>
          <a:endParaRPr lang="en-US" sz="2400" dirty="0">
            <a:solidFill>
              <a:srgbClr val="0070C0"/>
            </a:solidFill>
            <a:effectLst/>
          </a:endParaRPr>
        </a:p>
      </dgm:t>
    </dgm:pt>
    <dgm:pt modelId="{ACEB5D8F-8EB1-4960-97D1-603017B57002}" type="parTrans" cxnId="{DDFCE087-637A-4A6B-B50B-43A5ED7C522B}">
      <dgm:prSet/>
      <dgm:spPr/>
      <dgm:t>
        <a:bodyPr/>
        <a:lstStyle/>
        <a:p>
          <a:endParaRPr lang="en-US" sz="2400">
            <a:effectLst/>
          </a:endParaRPr>
        </a:p>
      </dgm:t>
    </dgm:pt>
    <dgm:pt modelId="{13C58572-413C-4D32-87CF-2C7875A37489}" type="sibTrans" cxnId="{DDFCE087-637A-4A6B-B50B-43A5ED7C522B}">
      <dgm:prSet/>
      <dgm:spPr/>
      <dgm:t>
        <a:bodyPr/>
        <a:lstStyle/>
        <a:p>
          <a:endParaRPr lang="en-US" sz="2400">
            <a:effectLst/>
          </a:endParaRPr>
        </a:p>
      </dgm:t>
    </dgm:pt>
    <dgm:pt modelId="{B5F5D851-C014-4F21-9557-3A4330610529}">
      <dgm:prSet custT="1"/>
      <dgm:spPr/>
      <dgm:t>
        <a:bodyPr/>
        <a:lstStyle/>
        <a:p>
          <a:r>
            <a:rPr lang="en-US" sz="2400" dirty="0">
              <a:solidFill>
                <a:srgbClr val="C00000"/>
              </a:solidFill>
              <a:effectLst/>
              <a:cs typeface="Arial" charset="0"/>
            </a:rPr>
            <a:t>Depth-first</a:t>
          </a:r>
        </a:p>
      </dgm:t>
    </dgm:pt>
    <dgm:pt modelId="{714AC28A-264B-40BF-9A7D-4302BB9FDE1A}" type="parTrans" cxnId="{86A66403-F544-4BEC-87EA-2F5B3E65E597}">
      <dgm:prSet/>
      <dgm:spPr/>
      <dgm:t>
        <a:bodyPr/>
        <a:lstStyle/>
        <a:p>
          <a:endParaRPr lang="en-US" sz="2400">
            <a:effectLst/>
          </a:endParaRPr>
        </a:p>
      </dgm:t>
    </dgm:pt>
    <dgm:pt modelId="{24AF990C-3CBC-403F-81CB-3495485460B8}" type="sibTrans" cxnId="{86A66403-F544-4BEC-87EA-2F5B3E65E597}">
      <dgm:prSet/>
      <dgm:spPr/>
      <dgm:t>
        <a:bodyPr/>
        <a:lstStyle/>
        <a:p>
          <a:endParaRPr lang="en-US" sz="2400">
            <a:effectLst/>
          </a:endParaRPr>
        </a:p>
      </dgm:t>
    </dgm:pt>
    <dgm:pt modelId="{A2D2E3DC-B5B3-436B-86EF-FEE7F3E52DE2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Iterative deepening</a:t>
          </a:r>
        </a:p>
      </dgm:t>
    </dgm:pt>
    <dgm:pt modelId="{9F382850-C787-40AE-A253-C57213419BF0}" type="parTrans" cxnId="{8CD0FC68-56F2-4F1E-8FF8-2292695DC50E}">
      <dgm:prSet/>
      <dgm:spPr/>
      <dgm:t>
        <a:bodyPr/>
        <a:lstStyle/>
        <a:p>
          <a:endParaRPr lang="en-US" sz="2400">
            <a:effectLst/>
          </a:endParaRPr>
        </a:p>
      </dgm:t>
    </dgm:pt>
    <dgm:pt modelId="{7A8F4E63-76A2-47D1-BBE2-45920BF4AD1A}" type="sibTrans" cxnId="{8CD0FC68-56F2-4F1E-8FF8-2292695DC50E}">
      <dgm:prSet/>
      <dgm:spPr/>
      <dgm:t>
        <a:bodyPr/>
        <a:lstStyle/>
        <a:p>
          <a:endParaRPr lang="en-US" sz="2400">
            <a:effectLst/>
          </a:endParaRPr>
        </a:p>
      </dgm:t>
    </dgm:pt>
    <dgm:pt modelId="{0E334852-6731-4B7B-B92E-ED9CE39DC1CA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Uniform-cost search</a:t>
          </a:r>
        </a:p>
      </dgm:t>
    </dgm:pt>
    <dgm:pt modelId="{F34EBB13-422A-4AA1-AACD-BE89DE769C1B}" type="parTrans" cxnId="{2FFB0C67-40AB-4680-B5C7-67B1D3584F75}">
      <dgm:prSet/>
      <dgm:spPr/>
      <dgm:t>
        <a:bodyPr/>
        <a:lstStyle/>
        <a:p>
          <a:endParaRPr lang="en-US" sz="2400">
            <a:effectLst/>
          </a:endParaRPr>
        </a:p>
      </dgm:t>
    </dgm:pt>
    <dgm:pt modelId="{596CFC01-EC33-47EC-B07B-7C324D791E7D}" type="sibTrans" cxnId="{2FFB0C67-40AB-4680-B5C7-67B1D3584F75}">
      <dgm:prSet/>
      <dgm:spPr/>
      <dgm:t>
        <a:bodyPr/>
        <a:lstStyle/>
        <a:p>
          <a:endParaRPr lang="en-US" sz="2400">
            <a:effectLst/>
          </a:endParaRPr>
        </a:p>
      </dgm:t>
    </dgm:pt>
    <dgm:pt modelId="{7FE194D9-005B-4037-A8D9-48B232097107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Depth-limited search</a:t>
          </a:r>
        </a:p>
      </dgm:t>
    </dgm:pt>
    <dgm:pt modelId="{4A585D50-D9E5-4D67-99B5-6727FBFA345C}" type="parTrans" cxnId="{F646B00B-0800-4366-B45D-E3A6D396EC01}">
      <dgm:prSet/>
      <dgm:spPr/>
      <dgm:t>
        <a:bodyPr/>
        <a:lstStyle/>
        <a:p>
          <a:endParaRPr lang="en-US" sz="2400">
            <a:effectLst/>
          </a:endParaRPr>
        </a:p>
      </dgm:t>
    </dgm:pt>
    <dgm:pt modelId="{FED3BDBA-17BC-41D8-8483-BE7DA1019141}" type="sibTrans" cxnId="{F646B00B-0800-4366-B45D-E3A6D396EC01}">
      <dgm:prSet/>
      <dgm:spPr/>
      <dgm:t>
        <a:bodyPr/>
        <a:lstStyle/>
        <a:p>
          <a:endParaRPr lang="en-US" sz="2400">
            <a:effectLst/>
          </a:endParaRPr>
        </a:p>
      </dgm:t>
    </dgm:pt>
    <dgm:pt modelId="{0DEA17B2-781E-4AA7-98BF-6CA0B7445FFB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Bi-directional search</a:t>
          </a:r>
        </a:p>
      </dgm:t>
    </dgm:pt>
    <dgm:pt modelId="{43D24FAF-D2F5-4F97-8E25-210DF7DC2AC7}" type="parTrans" cxnId="{1C0EBE42-A4C0-449A-8AB0-ABE6EA2175A2}">
      <dgm:prSet/>
      <dgm:spPr/>
      <dgm:t>
        <a:bodyPr/>
        <a:lstStyle/>
        <a:p>
          <a:endParaRPr lang="en-US" sz="2400">
            <a:effectLst/>
          </a:endParaRPr>
        </a:p>
      </dgm:t>
    </dgm:pt>
    <dgm:pt modelId="{4977DE06-8924-4B74-8F54-E67D4FF129C6}" type="sibTrans" cxnId="{1C0EBE42-A4C0-449A-8AB0-ABE6EA2175A2}">
      <dgm:prSet/>
      <dgm:spPr/>
      <dgm:t>
        <a:bodyPr/>
        <a:lstStyle/>
        <a:p>
          <a:endParaRPr lang="en-US" sz="2400">
            <a:effectLst/>
          </a:endParaRPr>
        </a:p>
      </dgm:t>
    </dgm:pt>
    <dgm:pt modelId="{BCADFB13-ACB4-43E0-8ACE-47BC9BF2C4AC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Constraint satisfaction</a:t>
          </a:r>
        </a:p>
      </dgm:t>
    </dgm:pt>
    <dgm:pt modelId="{5D16B2C4-FF6D-40D4-A01D-69A2620BB2F6}" type="parTrans" cxnId="{68D3B201-03CC-4A8C-A330-1E3D4FCD1BD1}">
      <dgm:prSet/>
      <dgm:spPr/>
      <dgm:t>
        <a:bodyPr/>
        <a:lstStyle/>
        <a:p>
          <a:endParaRPr lang="en-US" sz="2400">
            <a:effectLst/>
          </a:endParaRPr>
        </a:p>
      </dgm:t>
    </dgm:pt>
    <dgm:pt modelId="{3D8087F4-480C-4C36-B031-CE809115C464}" type="sibTrans" cxnId="{68D3B201-03CC-4A8C-A330-1E3D4FCD1BD1}">
      <dgm:prSet/>
      <dgm:spPr/>
      <dgm:t>
        <a:bodyPr/>
        <a:lstStyle/>
        <a:p>
          <a:endParaRPr lang="en-US" sz="2400">
            <a:effectLst/>
          </a:endParaRPr>
        </a:p>
      </dgm:t>
    </dgm:pt>
    <dgm:pt modelId="{4AC2BA3E-8BEC-4182-9509-54CE4DD800A6}">
      <dgm:prSet custT="1"/>
      <dgm:spPr/>
      <dgm:t>
        <a:bodyPr/>
        <a:lstStyle/>
        <a:p>
          <a:r>
            <a:rPr lang="en-US" sz="2400" dirty="0">
              <a:solidFill>
                <a:srgbClr val="0070C0"/>
              </a:solidFill>
              <a:effectLst/>
              <a:cs typeface="Arial" charset="0"/>
            </a:rPr>
            <a:t>Search with heuristics</a:t>
          </a:r>
        </a:p>
      </dgm:t>
    </dgm:pt>
    <dgm:pt modelId="{AE00E439-4394-4892-8A4F-A3FFF1E521C9}" type="parTrans" cxnId="{3306D2A6-1B8D-4E08-8D41-2F89809B0F83}">
      <dgm:prSet/>
      <dgm:spPr/>
      <dgm:t>
        <a:bodyPr/>
        <a:lstStyle/>
        <a:p>
          <a:endParaRPr lang="en-US" sz="2400">
            <a:effectLst/>
          </a:endParaRPr>
        </a:p>
      </dgm:t>
    </dgm:pt>
    <dgm:pt modelId="{5DE25616-1BED-4AB3-8EFD-CFA5E3087DC2}" type="sibTrans" cxnId="{3306D2A6-1B8D-4E08-8D41-2F89809B0F83}">
      <dgm:prSet/>
      <dgm:spPr/>
      <dgm:t>
        <a:bodyPr/>
        <a:lstStyle/>
        <a:p>
          <a:endParaRPr lang="en-US" sz="2400">
            <a:effectLst/>
          </a:endParaRPr>
        </a:p>
      </dgm:t>
    </dgm:pt>
    <dgm:pt modelId="{F2428947-677A-4EB1-8323-429BF607B67C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Memory-bounded search</a:t>
          </a:r>
        </a:p>
      </dgm:t>
    </dgm:pt>
    <dgm:pt modelId="{24B8C0C8-B498-476D-9E92-107BD4E003A3}" type="parTrans" cxnId="{F281519E-4DBE-4062-943A-DD869013CB10}">
      <dgm:prSet/>
      <dgm:spPr/>
      <dgm:t>
        <a:bodyPr/>
        <a:lstStyle/>
        <a:p>
          <a:endParaRPr lang="en-US" sz="2400">
            <a:effectLst/>
          </a:endParaRPr>
        </a:p>
      </dgm:t>
    </dgm:pt>
    <dgm:pt modelId="{16418292-6B6A-4690-80E9-2332E21EF484}" type="sibTrans" cxnId="{F281519E-4DBE-4062-943A-DD869013CB10}">
      <dgm:prSet/>
      <dgm:spPr/>
      <dgm:t>
        <a:bodyPr/>
        <a:lstStyle/>
        <a:p>
          <a:endParaRPr lang="en-US" sz="2400">
            <a:effectLst/>
          </a:endParaRPr>
        </a:p>
      </dgm:t>
    </dgm:pt>
    <dgm:pt modelId="{908CBC98-32F7-427D-9B50-CDDB73D271C2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Iterative improvement search</a:t>
          </a:r>
        </a:p>
      </dgm:t>
    </dgm:pt>
    <dgm:pt modelId="{B6ED4D7A-3BBB-4946-BEF7-F89C3D79655C}" type="parTrans" cxnId="{9F89745A-E357-44AB-BE28-BAB7EE4AF52E}">
      <dgm:prSet/>
      <dgm:spPr/>
      <dgm:t>
        <a:bodyPr/>
        <a:lstStyle/>
        <a:p>
          <a:endParaRPr lang="en-US" sz="2400">
            <a:effectLst/>
          </a:endParaRPr>
        </a:p>
      </dgm:t>
    </dgm:pt>
    <dgm:pt modelId="{55AE337A-7E1A-4C12-B36E-B3FD584A6B37}" type="sibTrans" cxnId="{9F89745A-E357-44AB-BE28-BAB7EE4AF52E}">
      <dgm:prSet/>
      <dgm:spPr/>
      <dgm:t>
        <a:bodyPr/>
        <a:lstStyle/>
        <a:p>
          <a:endParaRPr lang="en-US" sz="2400">
            <a:effectLst/>
          </a:endParaRPr>
        </a:p>
      </dgm:t>
    </dgm:pt>
    <dgm:pt modelId="{453B86D9-45D8-4E7C-A1CD-D98F4FAAC148}" type="pres">
      <dgm:prSet presAssocID="{2138C5C5-17B3-4601-B1F3-C066BA49391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MY"/>
        </a:p>
      </dgm:t>
    </dgm:pt>
    <dgm:pt modelId="{54D474EC-788C-4DBF-9034-B9EDEFEEBC32}" type="pres">
      <dgm:prSet presAssocID="{B469B87B-209C-442D-839C-D95123D9EAED}" presName="composite" presStyleCnt="0"/>
      <dgm:spPr/>
    </dgm:pt>
    <dgm:pt modelId="{CAAA95FD-A962-4DEA-B96C-B16876FC4420}" type="pres">
      <dgm:prSet presAssocID="{B469B87B-209C-442D-839C-D95123D9EAE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MY"/>
        </a:p>
      </dgm:t>
    </dgm:pt>
    <dgm:pt modelId="{6728528F-6439-4C79-A155-8CDF1975EE69}" type="pres">
      <dgm:prSet presAssocID="{B469B87B-209C-442D-839C-D95123D9EAED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MY"/>
        </a:p>
      </dgm:t>
    </dgm:pt>
    <dgm:pt modelId="{23382182-D2E3-470B-97EC-75F076FE7C05}" type="pres">
      <dgm:prSet presAssocID="{186BEA82-27EA-4AF0-A4BF-5A93488BF86C}" presName="space" presStyleCnt="0"/>
      <dgm:spPr/>
    </dgm:pt>
    <dgm:pt modelId="{5E45A7B6-E20C-46A4-A067-2E5B2D2659FC}" type="pres">
      <dgm:prSet presAssocID="{C8FA63AE-85BE-4E97-B467-33372E156C4E}" presName="composite" presStyleCnt="0"/>
      <dgm:spPr/>
    </dgm:pt>
    <dgm:pt modelId="{F02180AD-BF38-4114-8989-65BC684217CB}" type="pres">
      <dgm:prSet presAssocID="{C8FA63AE-85BE-4E97-B467-33372E156C4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MY"/>
        </a:p>
      </dgm:t>
    </dgm:pt>
    <dgm:pt modelId="{A87752A5-BECF-4733-92EE-436DF6457D6A}" type="pres">
      <dgm:prSet presAssocID="{C8FA63AE-85BE-4E97-B467-33372E156C4E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MY"/>
        </a:p>
      </dgm:t>
    </dgm:pt>
  </dgm:ptLst>
  <dgm:cxnLst>
    <dgm:cxn modelId="{8CD0FC68-56F2-4F1E-8FF8-2292695DC50E}" srcId="{B469B87B-209C-442D-839C-D95123D9EAED}" destId="{A2D2E3DC-B5B3-436B-86EF-FEE7F3E52DE2}" srcOrd="2" destOrd="0" parTransId="{9F382850-C787-40AE-A253-C57213419BF0}" sibTransId="{7A8F4E63-76A2-47D1-BBE2-45920BF4AD1A}"/>
    <dgm:cxn modelId="{A3547529-EEB9-4E56-9732-6EF97D750A03}" type="presOf" srcId="{C8FA63AE-85BE-4E97-B467-33372E156C4E}" destId="{F02180AD-BF38-4114-8989-65BC684217CB}" srcOrd="0" destOrd="0" presId="urn:microsoft.com/office/officeart/2005/8/layout/hList1"/>
    <dgm:cxn modelId="{AA08422A-FBF9-405A-9535-D6F7843CC893}" srcId="{2138C5C5-17B3-4601-B1F3-C066BA493911}" destId="{B469B87B-209C-442D-839C-D95123D9EAED}" srcOrd="0" destOrd="0" parTransId="{FC57707A-A6D0-4D59-B0B0-B77D4FF18E18}" sibTransId="{186BEA82-27EA-4AF0-A4BF-5A93488BF86C}"/>
    <dgm:cxn modelId="{68D3B201-03CC-4A8C-A330-1E3D4FCD1BD1}" srcId="{B469B87B-209C-442D-839C-D95123D9EAED}" destId="{BCADFB13-ACB4-43E0-8ACE-47BC9BF2C4AC}" srcOrd="6" destOrd="0" parTransId="{5D16B2C4-FF6D-40D4-A01D-69A2620BB2F6}" sibTransId="{3D8087F4-480C-4C36-B031-CE809115C464}"/>
    <dgm:cxn modelId="{DDFCE087-637A-4A6B-B50B-43A5ED7C522B}" srcId="{C8FA63AE-85BE-4E97-B467-33372E156C4E}" destId="{66FE19A9-AFFE-4870-935A-016010D1FB14}" srcOrd="0" destOrd="0" parTransId="{ACEB5D8F-8EB1-4960-97D1-603017B57002}" sibTransId="{13C58572-413C-4D32-87CF-2C7875A37489}"/>
    <dgm:cxn modelId="{9674BFDA-7D08-417E-A9F3-2AB047E2FF73}" type="presOf" srcId="{B5F5D851-C014-4F21-9557-3A4330610529}" destId="{6728528F-6439-4C79-A155-8CDF1975EE69}" srcOrd="0" destOrd="1" presId="urn:microsoft.com/office/officeart/2005/8/layout/hList1"/>
    <dgm:cxn modelId="{51EF5CE0-DA88-432B-9E19-B2D6B779DD2F}" type="presOf" srcId="{4AC2BA3E-8BEC-4182-9509-54CE4DD800A6}" destId="{A87752A5-BECF-4733-92EE-436DF6457D6A}" srcOrd="0" destOrd="1" presId="urn:microsoft.com/office/officeart/2005/8/layout/hList1"/>
    <dgm:cxn modelId="{E0AAE1E9-3E42-44DB-8EB3-558D1B798412}" type="presOf" srcId="{BCADFB13-ACB4-43E0-8ACE-47BC9BF2C4AC}" destId="{6728528F-6439-4C79-A155-8CDF1975EE69}" srcOrd="0" destOrd="6" presId="urn:microsoft.com/office/officeart/2005/8/layout/hList1"/>
    <dgm:cxn modelId="{855B6530-FA41-469E-B514-603939335051}" type="presOf" srcId="{A2D2E3DC-B5B3-436B-86EF-FEE7F3E52DE2}" destId="{6728528F-6439-4C79-A155-8CDF1975EE69}" srcOrd="0" destOrd="2" presId="urn:microsoft.com/office/officeart/2005/8/layout/hList1"/>
    <dgm:cxn modelId="{3306D2A6-1B8D-4E08-8D41-2F89809B0F83}" srcId="{C8FA63AE-85BE-4E97-B467-33372E156C4E}" destId="{4AC2BA3E-8BEC-4182-9509-54CE4DD800A6}" srcOrd="1" destOrd="0" parTransId="{AE00E439-4394-4892-8A4F-A3FFF1E521C9}" sibTransId="{5DE25616-1BED-4AB3-8EFD-CFA5E3087DC2}"/>
    <dgm:cxn modelId="{C4D7FF6C-5CDE-4F11-8E55-638B1EE2A38A}" type="presOf" srcId="{908CBC98-32F7-427D-9B50-CDDB73D271C2}" destId="{A87752A5-BECF-4733-92EE-436DF6457D6A}" srcOrd="0" destOrd="3" presId="urn:microsoft.com/office/officeart/2005/8/layout/hList1"/>
    <dgm:cxn modelId="{94112F69-CA6E-496B-859F-C2E44EC13554}" type="presOf" srcId="{2138C5C5-17B3-4601-B1F3-C066BA493911}" destId="{453B86D9-45D8-4E7C-A1CD-D98F4FAAC148}" srcOrd="0" destOrd="0" presId="urn:microsoft.com/office/officeart/2005/8/layout/hList1"/>
    <dgm:cxn modelId="{775CED01-4782-4917-B3C2-A3AE37F63F9B}" type="presOf" srcId="{F2428947-677A-4EB1-8323-429BF607B67C}" destId="{A87752A5-BECF-4733-92EE-436DF6457D6A}" srcOrd="0" destOrd="2" presId="urn:microsoft.com/office/officeart/2005/8/layout/hList1"/>
    <dgm:cxn modelId="{2FFB0C67-40AB-4680-B5C7-67B1D3584F75}" srcId="{B469B87B-209C-442D-839C-D95123D9EAED}" destId="{0E334852-6731-4B7B-B92E-ED9CE39DC1CA}" srcOrd="3" destOrd="0" parTransId="{F34EBB13-422A-4AA1-AACD-BE89DE769C1B}" sibTransId="{596CFC01-EC33-47EC-B07B-7C324D791E7D}"/>
    <dgm:cxn modelId="{961F105F-D8BF-47C0-9AE5-3C13638631A0}" type="presOf" srcId="{B469B87B-209C-442D-839C-D95123D9EAED}" destId="{CAAA95FD-A962-4DEA-B96C-B16876FC4420}" srcOrd="0" destOrd="0" presId="urn:microsoft.com/office/officeart/2005/8/layout/hList1"/>
    <dgm:cxn modelId="{105AB871-5B4C-4624-AC59-99BECD834852}" type="presOf" srcId="{0E334852-6731-4B7B-B92E-ED9CE39DC1CA}" destId="{6728528F-6439-4C79-A155-8CDF1975EE69}" srcOrd="0" destOrd="3" presId="urn:microsoft.com/office/officeart/2005/8/layout/hList1"/>
    <dgm:cxn modelId="{AC9AF068-67ED-495C-AC37-C1CD65B9FB46}" srcId="{B469B87B-209C-442D-839C-D95123D9EAED}" destId="{D8F3414F-98A9-4253-AA77-C4B29817AA36}" srcOrd="0" destOrd="0" parTransId="{D1EB4FB7-E2F3-4F94-B7CA-8C00F6D46EDA}" sibTransId="{8EFC9BDE-DCFC-4031-A956-C34C2CA57C17}"/>
    <dgm:cxn modelId="{B061642B-9661-4463-92EB-B0423A2337D8}" type="presOf" srcId="{66FE19A9-AFFE-4870-935A-016010D1FB14}" destId="{A87752A5-BECF-4733-92EE-436DF6457D6A}" srcOrd="0" destOrd="0" presId="urn:microsoft.com/office/officeart/2005/8/layout/hList1"/>
    <dgm:cxn modelId="{71E5B0C3-445C-4A39-BC07-3A0144CEECB0}" srcId="{2138C5C5-17B3-4601-B1F3-C066BA493911}" destId="{C8FA63AE-85BE-4E97-B467-33372E156C4E}" srcOrd="1" destOrd="0" parTransId="{520565B1-4DD0-4C6B-992B-F79C7DC9F60D}" sibTransId="{79F41990-167D-4B87-BE28-0479A509B217}"/>
    <dgm:cxn modelId="{D3E222C4-D756-4A7D-A47A-512BBE22C9E6}" type="presOf" srcId="{0DEA17B2-781E-4AA7-98BF-6CA0B7445FFB}" destId="{6728528F-6439-4C79-A155-8CDF1975EE69}" srcOrd="0" destOrd="5" presId="urn:microsoft.com/office/officeart/2005/8/layout/hList1"/>
    <dgm:cxn modelId="{1C0EBE42-A4C0-449A-8AB0-ABE6EA2175A2}" srcId="{B469B87B-209C-442D-839C-D95123D9EAED}" destId="{0DEA17B2-781E-4AA7-98BF-6CA0B7445FFB}" srcOrd="5" destOrd="0" parTransId="{43D24FAF-D2F5-4F97-8E25-210DF7DC2AC7}" sibTransId="{4977DE06-8924-4B74-8F54-E67D4FF129C6}"/>
    <dgm:cxn modelId="{F646B00B-0800-4366-B45D-E3A6D396EC01}" srcId="{B469B87B-209C-442D-839C-D95123D9EAED}" destId="{7FE194D9-005B-4037-A8D9-48B232097107}" srcOrd="4" destOrd="0" parTransId="{4A585D50-D9E5-4D67-99B5-6727FBFA345C}" sibTransId="{FED3BDBA-17BC-41D8-8483-BE7DA1019141}"/>
    <dgm:cxn modelId="{9F89745A-E357-44AB-BE28-BAB7EE4AF52E}" srcId="{C8FA63AE-85BE-4E97-B467-33372E156C4E}" destId="{908CBC98-32F7-427D-9B50-CDDB73D271C2}" srcOrd="3" destOrd="0" parTransId="{B6ED4D7A-3BBB-4946-BEF7-F89C3D79655C}" sibTransId="{55AE337A-7E1A-4C12-B36E-B3FD584A6B37}"/>
    <dgm:cxn modelId="{9E6134F3-E12F-4822-9839-C597218CD7F0}" type="presOf" srcId="{7FE194D9-005B-4037-A8D9-48B232097107}" destId="{6728528F-6439-4C79-A155-8CDF1975EE69}" srcOrd="0" destOrd="4" presId="urn:microsoft.com/office/officeart/2005/8/layout/hList1"/>
    <dgm:cxn modelId="{621524CF-4AF1-46D4-9E10-27C78BFB2BA9}" type="presOf" srcId="{D8F3414F-98A9-4253-AA77-C4B29817AA36}" destId="{6728528F-6439-4C79-A155-8CDF1975EE69}" srcOrd="0" destOrd="0" presId="urn:microsoft.com/office/officeart/2005/8/layout/hList1"/>
    <dgm:cxn modelId="{F281519E-4DBE-4062-943A-DD869013CB10}" srcId="{C8FA63AE-85BE-4E97-B467-33372E156C4E}" destId="{F2428947-677A-4EB1-8323-429BF607B67C}" srcOrd="2" destOrd="0" parTransId="{24B8C0C8-B498-476D-9E92-107BD4E003A3}" sibTransId="{16418292-6B6A-4690-80E9-2332E21EF484}"/>
    <dgm:cxn modelId="{86A66403-F544-4BEC-87EA-2F5B3E65E597}" srcId="{B469B87B-209C-442D-839C-D95123D9EAED}" destId="{B5F5D851-C014-4F21-9557-3A4330610529}" srcOrd="1" destOrd="0" parTransId="{714AC28A-264B-40BF-9A7D-4302BB9FDE1A}" sibTransId="{24AF990C-3CBC-403F-81CB-3495485460B8}"/>
    <dgm:cxn modelId="{AABB7212-7C4F-4B92-97BF-1C73D0110B3A}" type="presParOf" srcId="{453B86D9-45D8-4E7C-A1CD-D98F4FAAC148}" destId="{54D474EC-788C-4DBF-9034-B9EDEFEEBC32}" srcOrd="0" destOrd="0" presId="urn:microsoft.com/office/officeart/2005/8/layout/hList1"/>
    <dgm:cxn modelId="{F9C4FCF6-B195-4109-A270-2205FC8CDAFD}" type="presParOf" srcId="{54D474EC-788C-4DBF-9034-B9EDEFEEBC32}" destId="{CAAA95FD-A962-4DEA-B96C-B16876FC4420}" srcOrd="0" destOrd="0" presId="urn:microsoft.com/office/officeart/2005/8/layout/hList1"/>
    <dgm:cxn modelId="{3A3AB3AC-A68D-45DB-B850-620C955D8008}" type="presParOf" srcId="{54D474EC-788C-4DBF-9034-B9EDEFEEBC32}" destId="{6728528F-6439-4C79-A155-8CDF1975EE69}" srcOrd="1" destOrd="0" presId="urn:microsoft.com/office/officeart/2005/8/layout/hList1"/>
    <dgm:cxn modelId="{4EDE1FCB-2E11-4A5F-A3FA-0EFAF6B37E6F}" type="presParOf" srcId="{453B86D9-45D8-4E7C-A1CD-D98F4FAAC148}" destId="{23382182-D2E3-470B-97EC-75F076FE7C05}" srcOrd="1" destOrd="0" presId="urn:microsoft.com/office/officeart/2005/8/layout/hList1"/>
    <dgm:cxn modelId="{94B1DF8F-CB73-4248-81B9-4BFE9099E082}" type="presParOf" srcId="{453B86D9-45D8-4E7C-A1CD-D98F4FAAC148}" destId="{5E45A7B6-E20C-46A4-A067-2E5B2D2659FC}" srcOrd="2" destOrd="0" presId="urn:microsoft.com/office/officeart/2005/8/layout/hList1"/>
    <dgm:cxn modelId="{FF82C5E4-9837-4389-83DC-A6C992A42510}" type="presParOf" srcId="{5E45A7B6-E20C-46A4-A067-2E5B2D2659FC}" destId="{F02180AD-BF38-4114-8989-65BC684217CB}" srcOrd="0" destOrd="0" presId="urn:microsoft.com/office/officeart/2005/8/layout/hList1"/>
    <dgm:cxn modelId="{11186E25-2043-43CE-A60B-5EB444FF66E7}" type="presParOf" srcId="{5E45A7B6-E20C-46A4-A067-2E5B2D2659FC}" destId="{A87752A5-BECF-4733-92EE-436DF6457D6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A95FD-A962-4DEA-B96C-B16876FC4420}">
      <dsp:nvSpPr>
        <dsp:cNvPr id="0" name=""/>
        <dsp:cNvSpPr/>
      </dsp:nvSpPr>
      <dsp:spPr>
        <a:xfrm>
          <a:off x="40" y="1124"/>
          <a:ext cx="3845569" cy="1065600"/>
        </a:xfrm>
        <a:prstGeom prst="rect">
          <a:avLst/>
        </a:prstGeom>
        <a:solidFill>
          <a:srgbClr val="C00000"/>
        </a:solidFill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/>
              <a:cs typeface="Arial" charset="0"/>
            </a:rPr>
            <a:t>Uninformed Search</a:t>
          </a:r>
          <a:endParaRPr lang="en-US" sz="2800" b="1" kern="1200" dirty="0">
            <a:effectLst/>
          </a:endParaRPr>
        </a:p>
      </dsp:txBody>
      <dsp:txXfrm>
        <a:off x="40" y="1124"/>
        <a:ext cx="3845569" cy="1065600"/>
      </dsp:txXfrm>
    </dsp:sp>
    <dsp:sp modelId="{6728528F-6439-4C79-A155-8CDF1975EE69}">
      <dsp:nvSpPr>
        <dsp:cNvPr id="0" name=""/>
        <dsp:cNvSpPr/>
      </dsp:nvSpPr>
      <dsp:spPr>
        <a:xfrm>
          <a:off x="40" y="1066724"/>
          <a:ext cx="3845569" cy="30469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solidFill>
                <a:srgbClr val="C00000"/>
              </a:solidFill>
              <a:effectLst/>
              <a:cs typeface="Arial" charset="0"/>
            </a:rPr>
            <a:t>Breadth-first</a:t>
          </a:r>
          <a:endParaRPr lang="en-US" sz="2400" kern="1200" dirty="0">
            <a:solidFill>
              <a:srgbClr val="C00000"/>
            </a:solidFill>
            <a:effectLst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solidFill>
                <a:srgbClr val="C00000"/>
              </a:solidFill>
              <a:effectLst/>
              <a:cs typeface="Arial" charset="0"/>
            </a:rPr>
            <a:t>Depth-first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Iterative deepening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Uniform-cost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Depth-limited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Bi-directional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Constraint satisfaction</a:t>
          </a:r>
        </a:p>
      </dsp:txBody>
      <dsp:txXfrm>
        <a:off x="40" y="1066724"/>
        <a:ext cx="3845569" cy="3046950"/>
      </dsp:txXfrm>
    </dsp:sp>
    <dsp:sp modelId="{F02180AD-BF38-4114-8989-65BC684217CB}">
      <dsp:nvSpPr>
        <dsp:cNvPr id="0" name=""/>
        <dsp:cNvSpPr/>
      </dsp:nvSpPr>
      <dsp:spPr>
        <a:xfrm>
          <a:off x="4383989" y="1124"/>
          <a:ext cx="3845569" cy="10656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/>
              <a:cs typeface="Arial" charset="0"/>
            </a:rPr>
            <a:t>Informed Search</a:t>
          </a:r>
          <a:endParaRPr lang="en-US" sz="2800" b="1" kern="1200" dirty="0">
            <a:effectLst/>
          </a:endParaRPr>
        </a:p>
      </dsp:txBody>
      <dsp:txXfrm>
        <a:off x="4383989" y="1124"/>
        <a:ext cx="3845569" cy="1065600"/>
      </dsp:txXfrm>
    </dsp:sp>
    <dsp:sp modelId="{A87752A5-BECF-4733-92EE-436DF6457D6A}">
      <dsp:nvSpPr>
        <dsp:cNvPr id="0" name=""/>
        <dsp:cNvSpPr/>
      </dsp:nvSpPr>
      <dsp:spPr>
        <a:xfrm>
          <a:off x="4383989" y="1066724"/>
          <a:ext cx="3845569" cy="30469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solidFill>
                <a:srgbClr val="0070C0"/>
              </a:solidFill>
              <a:effectLst/>
              <a:cs typeface="Arial" charset="0"/>
            </a:rPr>
            <a:t>Best-first search</a:t>
          </a:r>
          <a:endParaRPr lang="en-US" sz="2400" kern="1200" dirty="0">
            <a:solidFill>
              <a:srgbClr val="0070C0"/>
            </a:solidFill>
            <a:effectLst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solidFill>
                <a:srgbClr val="0070C0"/>
              </a:solidFill>
              <a:effectLst/>
              <a:cs typeface="Arial" charset="0"/>
            </a:rPr>
            <a:t>Search with heuristics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Memory-bounded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>
              <a:effectLst/>
              <a:cs typeface="Arial" charset="0"/>
            </a:rPr>
            <a:t>Iterative improvement search</a:t>
          </a:r>
        </a:p>
      </dsp:txBody>
      <dsp:txXfrm>
        <a:off x="4383989" y="1066724"/>
        <a:ext cx="3845569" cy="3046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D72AD-98F2-48AA-9584-1CD8673FAED1}" type="datetimeFigureOut">
              <a:rPr lang="en-US" smtClean="0"/>
              <a:pPr/>
              <a:t>10/11/2019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8F6A6-5BDF-41D7-9B84-3DCB4D0C04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0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23477856/why-does-a-breadth-first-search-use-more-memory-than-depth-first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51BE44-71FE-4953-A5A7-4FF02C320771}" type="slidenum">
              <a:rPr lang="en-US" altLang="en-US" sz="1200">
                <a:latin typeface="Arial" panose="020B0604020202020204" pitchFamily="34" charset="0"/>
              </a:rPr>
              <a:pPr eaLnBrk="1" hangingPunct="1"/>
              <a:t>16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current node [1] already has been removed from the fringe, and the new ones [2,3] will be added.</a:t>
            </a:r>
          </a:p>
        </p:txBody>
      </p:sp>
    </p:spTree>
    <p:extLst>
      <p:ext uri="{BB962C8B-B14F-4D97-AF65-F5344CB8AC3E}">
        <p14:creationId xmlns:p14="http://schemas.microsoft.com/office/powerpoint/2010/main" val="18290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BF355A-E957-4446-AE28-06ED38463BB9}" type="slidenum">
              <a:rPr lang="en-US" altLang="en-US" sz="1200">
                <a:latin typeface="Arial" panose="020B0604020202020204" pitchFamily="34" charset="0"/>
              </a:rPr>
              <a:pPr eaLnBrk="1" hangingPunct="1"/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335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69EBD13-3123-4A8E-8315-B57EE10E71F5}" type="slidenum">
              <a:rPr lang="en-US" altLang="en-US" sz="1200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1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1E00DE-4540-4A05-B87D-8E038AD59ADD}" type="slidenum">
              <a:rPr lang="en-US" altLang="en-US" sz="1200"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718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E585FA-B0EE-48E7-9995-47EB2C034EF7}" type="slidenum">
              <a:rPr lang="en-US" altLang="en-US" sz="1200"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030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BEE440-E7DB-44BD-BD44-F9FD4472AE0F}" type="slidenum">
              <a:rPr lang="en-US" altLang="en-US" sz="1200"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196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BB3918-DDDD-430F-B22C-EBF40720F0EF}" type="slidenum">
              <a:rPr lang="en-US" altLang="en-US" sz="1200">
                <a:latin typeface="Arial" panose="020B0604020202020204" pitchFamily="34" charset="0"/>
              </a:rPr>
              <a:pPr eaLnBrk="1" hangingPunct="1"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23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0A0FD5-1787-4825-BCC1-FA7B522CA830}" type="slidenum">
              <a:rPr lang="en-US" altLang="en-US" sz="1200">
                <a:latin typeface="Arial" panose="020B0604020202020204" pitchFamily="34" charset="0"/>
              </a:rPr>
              <a:pPr eaLnBrk="1" hangingPunct="1"/>
              <a:t>23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59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DFAB2E3-CFD7-48AE-B76F-745306C37254}" type="slidenum">
              <a:rPr lang="en-US" altLang="en-US" sz="1200">
                <a:latin typeface="Arial" panose="020B0604020202020204" pitchFamily="34" charset="0"/>
              </a:rPr>
              <a:pPr eaLnBrk="1" hangingPunct="1"/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63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D89212-0139-419C-BADC-E04B2AE4A23F}" type="slidenum">
              <a:rPr lang="en-US" altLang="en-US" sz="1200">
                <a:latin typeface="Arial" panose="020B0604020202020204" pitchFamily="34" charset="0"/>
              </a:rPr>
              <a:pPr eaLnBrk="1" hangingPunct="1"/>
              <a:t>25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75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4C6FA3-9894-4E8B-9020-2269F2CC6CA9}" type="slidenum">
              <a:rPr lang="en-US" altLang="en-US" sz="1200">
                <a:latin typeface="Arial" panose="020B0604020202020204" pitchFamily="34" charset="0"/>
              </a:rPr>
              <a:pPr eaLnBrk="1" hangingPunct="1"/>
              <a:t>26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06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6F7162-5D2D-4A4C-9703-F0DD4A488FB7}" type="slidenum">
              <a:rPr lang="en-US" altLang="en-US" sz="1200">
                <a:latin typeface="Arial" panose="020B0604020202020204" pitchFamily="34" charset="0"/>
              </a:rPr>
              <a:pPr eaLnBrk="1" hangingPunct="1"/>
              <a:t>27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661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F09096-AC66-437D-A2D1-ACE2B43E9E68}" type="slidenum">
              <a:rPr lang="en-US" altLang="en-US" sz="1200">
                <a:latin typeface="Arial" panose="020B0604020202020204" pitchFamily="34" charset="0"/>
              </a:rPr>
              <a:pPr eaLnBrk="1" hangingPunct="1"/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46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335E47-8618-443F-9CA9-F2E1686BAA59}" type="slidenum">
              <a:rPr lang="en-US" altLang="en-US" sz="1200">
                <a:latin typeface="Arial" panose="020B0604020202020204" pitchFamily="34" charset="0"/>
              </a:rPr>
              <a:pPr eaLnBrk="1" hangingPunct="1"/>
              <a:t>29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0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A003A14-23D7-4108-8AA4-2B7EA2DAA6BE}" type="slidenum">
              <a:rPr lang="en-US" altLang="en-US" sz="1200">
                <a:latin typeface="Arial" panose="020B0604020202020204" pitchFamily="34" charset="0"/>
              </a:rPr>
              <a:pPr eaLnBrk="1" hangingPunct="1"/>
              <a:t>30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622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282BE8-D25F-4D3A-A785-3949C33286ED}" type="slidenum">
              <a:rPr lang="en-US" altLang="en-US" sz="1200">
                <a:latin typeface="Arial" panose="020B0604020202020204" pitchFamily="34" charset="0"/>
              </a:rPr>
              <a:pPr eaLnBrk="1" hangingPunct="1"/>
              <a:t>31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178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8A7F8F-5657-4590-9779-7D326689097E}" type="slidenum">
              <a:rPr lang="en-US" altLang="en-US" sz="1200">
                <a:latin typeface="Arial" panose="020B0604020202020204" pitchFamily="34" charset="0"/>
              </a:rPr>
              <a:pPr eaLnBrk="1" hangingPunct="1"/>
              <a:t>32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995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D095C7-6749-47E3-9C43-C8AC8369DD5F}" type="slidenum">
              <a:rPr lang="en-US" altLang="en-US" sz="1200">
                <a:latin typeface="Arial" panose="020B0604020202020204" pitchFamily="34" charset="0"/>
              </a:rPr>
              <a:pPr eaLnBrk="1" hangingPunct="1"/>
              <a:t>33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58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677255-BBD4-4B39-B06A-205ADBADC914}" type="slidenum">
              <a:rPr lang="en-US" altLang="en-US" sz="1200">
                <a:latin typeface="Arial" panose="020B0604020202020204" pitchFamily="34" charset="0"/>
              </a:rPr>
              <a:pPr eaLnBrk="1" hangingPunct="1"/>
              <a:t>34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267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8FCC66-2EC1-4CBD-894B-8DE3A200C372}" type="slidenum">
              <a:rPr lang="en-US" altLang="en-US" sz="1200">
                <a:latin typeface="Arial" panose="020B0604020202020204" pitchFamily="34" charset="0"/>
              </a:rPr>
              <a:pPr eaLnBrk="1" hangingPunct="1"/>
              <a:t>35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8329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781A9-1B65-4A01-8F9B-F139BA129E69}" type="slidenum">
              <a:rPr lang="en-US" altLang="en-US" sz="1200">
                <a:latin typeface="Arial" panose="020B0604020202020204" pitchFamily="34" charset="0"/>
              </a:rPr>
              <a:pPr eaLnBrk="1" hangingPunct="1"/>
              <a:t>36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6847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3AB6F3-9009-46F6-B9EA-B554BE0B0B78}" type="slidenum">
              <a:rPr lang="en-US" altLang="en-US" sz="1200">
                <a:latin typeface="Arial" panose="020B0604020202020204" pitchFamily="34" charset="0"/>
              </a:rPr>
              <a:pPr eaLnBrk="1" hangingPunct="1"/>
              <a:t>37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395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3DA370-682F-4775-8433-CFA3410F3F60}" type="slidenum">
              <a:rPr lang="en-US" altLang="en-US" sz="1200">
                <a:latin typeface="Arial" panose="020B0604020202020204" pitchFamily="34" charset="0"/>
              </a:rPr>
              <a:pPr eaLnBrk="1" hangingPunct="1"/>
              <a:t>38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7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# 2: Refer here: </a:t>
            </a:r>
            <a:r>
              <a:rPr lang="en-MY" dirty="0">
                <a:hlinkClick r:id="rId3"/>
              </a:rPr>
              <a:t>https://stackoverflow.com/questions/23477856/why-does-a-breadth-first-search-use-more-memory-than-depth-first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369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Modus  Pones: Alpha, alpha </a:t>
            </a:r>
            <a:r>
              <a:rPr lang="en-US" dirty="0">
                <a:sym typeface="Wingdings" panose="05000000000000000000" pitchFamily="2" charset="2"/>
              </a:rPr>
              <a:t> Beta / Beta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3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Modus  Pones: Alpha, alpha </a:t>
            </a:r>
            <a:r>
              <a:rPr lang="en-US" dirty="0">
                <a:sym typeface="Wingdings" panose="05000000000000000000" pitchFamily="2" charset="2"/>
              </a:rPr>
              <a:t> Beta / Beta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499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Modus  Pones: Alpha, alpha </a:t>
            </a:r>
            <a:r>
              <a:rPr lang="en-US" dirty="0">
                <a:sym typeface="Wingdings" panose="05000000000000000000" pitchFamily="2" charset="2"/>
              </a:rPr>
              <a:t> Beta / Beta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2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xmlns="" id="{5A3AE759-D010-43EB-8C5F-B95307ECC8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 userDrawn="1"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Terima Kasih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atas keprihatinan anda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“I Care, You Care, We Care”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skerville Old Face" pitchFamily="18" charset="0"/>
              <a:ea typeface="+mn-ea"/>
              <a:cs typeface="+mn-cs"/>
            </a:endParaRPr>
          </a:p>
        </p:txBody>
      </p:sp>
      <p:pic>
        <p:nvPicPr>
          <p:cNvPr id="13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451"/>
            <a:ext cx="1547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2019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038A795-CA2C-4B96-A1E0-C7053193A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pic>
        <p:nvPicPr>
          <p:cNvPr id="17" name="Picture 20" descr="header_UT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header_url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009650"/>
            <a:ext cx="2376488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3008" y="53788"/>
            <a:ext cx="580837" cy="438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8" descr="PNG_new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4633" y="26894"/>
            <a:ext cx="504056" cy="477366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pPr>
              <a:defRPr/>
            </a:pPr>
            <a:r>
              <a:rPr lang="en-US"/>
              <a:t>SCSJ 3353: Artificial Intelligence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220200" cy="9366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Exhaustive </a:t>
            </a:r>
            <a:r>
              <a:rPr lang="en-US" sz="4000" b="1" dirty="0">
                <a:latin typeface="Roboto" pitchFamily="2" charset="0"/>
                <a:ea typeface="Roboto" pitchFamily="2" charset="0"/>
              </a:rPr>
              <a:t>Search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  <a:solidFill>
            <a:srgbClr val="FFE1AD"/>
          </a:solidFill>
        </p:spPr>
        <p:txBody>
          <a:bodyPr>
            <a:normAutofit lnSpcReduction="1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Artificial Intelligence</a:t>
            </a:r>
          </a:p>
          <a:p>
            <a:endParaRPr lang="en-US" sz="1100" b="1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</a:pPr>
            <a:r>
              <a:rPr lang="en-US" sz="2800" i="1" spc="-150" dirty="0"/>
              <a:t>School of Computing</a:t>
            </a:r>
          </a:p>
          <a:p>
            <a:pPr>
              <a:spcBef>
                <a:spcPts val="0"/>
              </a:spcBef>
            </a:pPr>
            <a:r>
              <a:rPr lang="en-US" sz="2800" i="1" spc="-150" dirty="0"/>
              <a:t>Universiti Teknologi Malaysia</a:t>
            </a:r>
          </a:p>
        </p:txBody>
      </p:sp>
      <p:pic>
        <p:nvPicPr>
          <p:cNvPr id="5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1" y="3429000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7257" y="3059668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spc="-150" dirty="0">
                <a:latin typeface="Roboto" pitchFamily="2" charset="0"/>
                <a:ea typeface="Roboto" pitchFamily="2" charset="0"/>
              </a:rPr>
              <a:t>(Exhaustive – Uninformed - Blind Search)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Roboto" pitchFamily="2" charset="0"/>
                <a:ea typeface="Roboto" pitchFamily="2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Selection of a Search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Breadth-first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Depth-first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Comparison of both search strategy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State Space to Represent Reasoning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And/or graph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Hypergraph</a:t>
            </a:r>
            <a:endParaRPr lang="en-US" altLang="en-US" dirty="0"/>
          </a:p>
          <a:p>
            <a:endParaRPr lang="en-MY" dirty="0"/>
          </a:p>
          <a:p>
            <a:pPr marL="0" indent="0">
              <a:buNone/>
            </a:pPr>
            <a:endParaRPr lang="en-MY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6437873"/>
            <a:ext cx="2133600" cy="365125"/>
          </a:xfrm>
        </p:spPr>
        <p:txBody>
          <a:bodyPr/>
          <a:lstStyle/>
          <a:p>
            <a:r>
              <a:rPr lang="en-US"/>
              <a:t>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64826" y="2259238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821186" y="1619213"/>
            <a:ext cx="7257988" cy="9366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Selection of a Search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6238" y="3124200"/>
            <a:ext cx="6217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400" dirty="0"/>
              <a:t>Breadth-first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400" dirty="0"/>
              <a:t>Depth-first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400" dirty="0"/>
              <a:t>Comparison of both search strategy</a:t>
            </a:r>
          </a:p>
        </p:txBody>
      </p:sp>
    </p:spTree>
    <p:extLst>
      <p:ext uri="{BB962C8B-B14F-4D97-AF65-F5344CB8AC3E}">
        <p14:creationId xmlns:p14="http://schemas.microsoft.com/office/powerpoint/2010/main" val="139283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4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1638115"/>
            <a:ext cx="8763000" cy="513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9pPr>
          </a:lstStyle>
          <a:p>
            <a:pPr marL="57150" indent="0">
              <a:buClr>
                <a:srgbClr val="0070C0"/>
              </a:buClr>
              <a:buNone/>
              <a:defRPr/>
            </a:pPr>
            <a:r>
              <a:rPr lang="en-US" altLang="en-US" sz="2800" dirty="0">
                <a:effectLst/>
                <a:latin typeface="+mn-lt"/>
              </a:rPr>
              <a:t>Most of the effort is often spent on the selection of an appropriate search strategy for a given problem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effectLst/>
                <a:latin typeface="+mn-lt"/>
              </a:rPr>
              <a:t>Uninformed search (</a:t>
            </a:r>
            <a:r>
              <a:rPr lang="en-US" altLang="en-US" dirty="0" err="1">
                <a:effectLst/>
                <a:latin typeface="+mn-lt"/>
              </a:rPr>
              <a:t>blind..exhaustive</a:t>
            </a:r>
            <a:r>
              <a:rPr lang="en-US" altLang="en-US" dirty="0">
                <a:effectLst/>
                <a:latin typeface="+mn-lt"/>
              </a:rPr>
              <a:t> search)</a:t>
            </a:r>
          </a:p>
          <a:p>
            <a:pPr lvl="2"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ffectLst/>
                <a:latin typeface="+mn-lt"/>
              </a:rPr>
              <a:t>number of steps, path cost unknown</a:t>
            </a:r>
          </a:p>
          <a:p>
            <a:pPr lvl="2"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ffectLst/>
                <a:latin typeface="+mn-lt"/>
              </a:rPr>
              <a:t>knows when it reaches a goal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effectLst/>
                <a:latin typeface="+mn-lt"/>
              </a:rPr>
              <a:t>Informed search (heuristic search)</a:t>
            </a:r>
          </a:p>
          <a:p>
            <a:pPr lvl="2"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ffectLst/>
                <a:latin typeface="+mn-lt"/>
              </a:rPr>
              <a:t>has background information about the problem</a:t>
            </a:r>
          </a:p>
          <a:p>
            <a:pPr lvl="3"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dirty="0">
                <a:effectLst/>
                <a:latin typeface="+mn-lt"/>
              </a:rPr>
              <a:t>map, costs of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Selection of a Search Strategy</a:t>
            </a:r>
          </a:p>
        </p:txBody>
      </p:sp>
    </p:spTree>
    <p:extLst>
      <p:ext uri="{BB962C8B-B14F-4D97-AF65-F5344CB8AC3E}">
        <p14:creationId xmlns:p14="http://schemas.microsoft.com/office/powerpoint/2010/main" val="324883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5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The order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769870179"/>
              </p:ext>
            </p:extLst>
          </p:nvPr>
        </p:nvGraphicFramePr>
        <p:xfrm>
          <a:off x="457200" y="1752600"/>
          <a:ext cx="8229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2743200"/>
            <a:ext cx="4114800" cy="10668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93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447800"/>
            <a:ext cx="5410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1395064" cy="168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loud Callout 5"/>
          <p:cNvSpPr/>
          <p:nvPr/>
        </p:nvSpPr>
        <p:spPr>
          <a:xfrm>
            <a:off x="1767961" y="4020040"/>
            <a:ext cx="2133600" cy="798608"/>
          </a:xfrm>
          <a:prstGeom prst="cloudCallout">
            <a:avLst>
              <a:gd name="adj1" fmla="val -36114"/>
              <a:gd name="adj2" fmla="val 77804"/>
            </a:avLst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How Breadth-first</a:t>
            </a:r>
            <a:endParaRPr lang="en-GB" dirty="0"/>
          </a:p>
        </p:txBody>
      </p:sp>
      <p:sp>
        <p:nvSpPr>
          <p:cNvPr id="9" name="Cloud Callout 8"/>
          <p:cNvSpPr/>
          <p:nvPr/>
        </p:nvSpPr>
        <p:spPr>
          <a:xfrm>
            <a:off x="85694" y="2889484"/>
            <a:ext cx="2657506" cy="887146"/>
          </a:xfrm>
          <a:prstGeom prst="cloudCallout">
            <a:avLst>
              <a:gd name="adj1" fmla="val 435"/>
              <a:gd name="adj2" fmla="val 97980"/>
            </a:avLst>
          </a:prstGeom>
          <a:ln>
            <a:solidFill>
              <a:srgbClr val="008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How Depth-first</a:t>
            </a:r>
            <a:endParaRPr lang="en-GB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0" y="1455888"/>
            <a:ext cx="6096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+mn-lt"/>
              </a:rPr>
              <a:t>Graph for breadth and depth-first search examples.</a:t>
            </a:r>
            <a:endParaRPr lang="en-US" altLang="en-US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</a:t>
            </a:r>
            <a:endParaRPr lang="en-US" sz="4000" b="1" dirty="0">
              <a:solidFill>
                <a:srgbClr val="C00000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17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7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0477" y="1495438"/>
            <a:ext cx="8229600" cy="170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hlink"/>
              </a:buClr>
              <a:buSzPct val="65000"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cs typeface="Arial" charset="0"/>
              </a:rPr>
              <a:t>All the nodes reachable from the current node are explored first</a:t>
            </a:r>
          </a:p>
          <a:p>
            <a:pPr marL="914400" lvl="1" indent="-457200">
              <a:spcBef>
                <a:spcPct val="20000"/>
              </a:spcBef>
              <a:buClr>
                <a:schemeClr val="folHlink"/>
              </a:buClr>
              <a:buSzPct val="65000"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cs typeface="Arial" charset="0"/>
              </a:rPr>
              <a:t>Achieved by the TREE-SEARCH method by appending newly generated nodes at the end of the search queue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63600" y="3118764"/>
            <a:ext cx="7766870" cy="1015663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 dirty="0">
                <a:solidFill>
                  <a:schemeClr val="bg2"/>
                </a:solidFill>
                <a:latin typeface="Courier" pitchFamily="49" charset="0"/>
              </a:rPr>
              <a:t>function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 BREADTH-FIRST-SEARCH(</a:t>
            </a:r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problem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) </a:t>
            </a:r>
            <a:r>
              <a:rPr lang="en-US" altLang="en-US" sz="1800" b="1" dirty="0">
                <a:solidFill>
                  <a:schemeClr val="bg2"/>
                </a:solidFill>
                <a:latin typeface="Courier" pitchFamily="49" charset="0"/>
              </a:rPr>
              <a:t>returns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 </a:t>
            </a:r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solution</a:t>
            </a:r>
            <a:endParaRPr lang="en-US" altLang="en-US" sz="1800" dirty="0">
              <a:solidFill>
                <a:schemeClr val="bg2"/>
              </a:solidFill>
              <a:latin typeface="Courier" pitchFamily="49" charset="0"/>
            </a:endParaRPr>
          </a:p>
          <a:p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	</a:t>
            </a:r>
            <a:endParaRPr lang="en-US" altLang="en-US" sz="1800" i="1" dirty="0">
              <a:solidFill>
                <a:schemeClr val="bg2"/>
              </a:solidFill>
              <a:latin typeface="Courier" pitchFamily="49" charset="0"/>
            </a:endParaRPr>
          </a:p>
          <a:p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	</a:t>
            </a:r>
            <a:r>
              <a:rPr lang="en-US" altLang="en-US" sz="1800" b="1" dirty="0">
                <a:solidFill>
                  <a:schemeClr val="bg2"/>
                </a:solidFill>
                <a:latin typeface="Courier" pitchFamily="49" charset="0"/>
              </a:rPr>
              <a:t>return 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TREE-SEARCH(</a:t>
            </a:r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problem, </a:t>
            </a:r>
            <a:r>
              <a:rPr lang="en-US" altLang="en-US" b="1" dirty="0">
                <a:solidFill>
                  <a:srgbClr val="FF3300"/>
                </a:solidFill>
                <a:latin typeface="Courier" pitchFamily="49" charset="0"/>
              </a:rPr>
              <a:t>FIFO-QUEUE()</a:t>
            </a:r>
            <a:r>
              <a:rPr lang="en-US" altLang="en-US" dirty="0">
                <a:solidFill>
                  <a:schemeClr val="bg1"/>
                </a:solidFill>
                <a:latin typeface="Courier" pitchFamily="49" charset="0"/>
              </a:rPr>
              <a:t>)</a:t>
            </a:r>
          </a:p>
        </p:txBody>
      </p:sp>
      <p:graphicFrame>
        <p:nvGraphicFramePr>
          <p:cNvPr id="12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55419"/>
              </p:ext>
            </p:extLst>
          </p:nvPr>
        </p:nvGraphicFramePr>
        <p:xfrm>
          <a:off x="5892800" y="4322801"/>
          <a:ext cx="2514600" cy="7747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branching factor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depth of the tree</a:t>
                      </a:r>
                      <a:endParaRPr kumimoji="0" lang="en-US" sz="16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3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377845"/>
              </p:ext>
            </p:extLst>
          </p:nvPr>
        </p:nvGraphicFramePr>
        <p:xfrm>
          <a:off x="863600" y="4322801"/>
          <a:ext cx="4572000" cy="1737224"/>
        </p:xfrm>
        <a:graphic>
          <a:graphicData uri="http://schemas.openxmlformats.org/drawingml/2006/table">
            <a:tbl>
              <a:tblPr/>
              <a:tblGrid>
                <a:gridCol w="21986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73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 Complexity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d+1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Space Complexity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d+1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5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Completeness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 (for finite b)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Optimality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 (for non-negative path costs)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4" name="Oval 35"/>
          <p:cNvSpPr>
            <a:spLocks noChangeArrowheads="1"/>
          </p:cNvSpPr>
          <p:nvPr/>
        </p:nvSpPr>
        <p:spPr bwMode="auto">
          <a:xfrm>
            <a:off x="5892800" y="5285875"/>
            <a:ext cx="2514600" cy="609600"/>
          </a:xfrm>
          <a:prstGeom prst="ellips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Solution is found</a:t>
            </a:r>
          </a:p>
        </p:txBody>
      </p:sp>
      <p:sp>
        <p:nvSpPr>
          <p:cNvPr id="15" name="Line 36"/>
          <p:cNvSpPr>
            <a:spLocks noChangeShapeType="1"/>
          </p:cNvSpPr>
          <p:nvPr/>
        </p:nvSpPr>
        <p:spPr bwMode="auto">
          <a:xfrm flipH="1" flipV="1">
            <a:off x="5435600" y="5285874"/>
            <a:ext cx="457200" cy="276725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38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8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+mn-lt"/>
              </a:rPr>
              <a:t>Function Breadth-first search algorithm</a:t>
            </a: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55305"/>
            <a:ext cx="838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4038600" y="4800600"/>
            <a:ext cx="1143000" cy="457200"/>
          </a:xfrm>
          <a:prstGeom prst="ellipse">
            <a:avLst/>
          </a:prstGeom>
          <a:solidFill>
            <a:srgbClr val="0099FF">
              <a:alpha val="25098"/>
            </a:srgbClr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154491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9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+mn-lt"/>
              </a:rPr>
              <a:t>Function Breadth-first search algorithm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7" y="2296364"/>
            <a:ext cx="8458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92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10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407915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+mn-lt"/>
              </a:rPr>
              <a:t>Function Breadth-first search algorithm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5400" y="1856880"/>
            <a:ext cx="37338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0838" indent="-3508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States on open and closed are highlighted.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Explore level by level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Use list open ~ NSL in backtrack – states not yet evaluated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Use list close ~ SL and DE in backtrack –states already evaluated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Which state is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removed</a:t>
            </a:r>
            <a:r>
              <a:rPr lang="en-US" altLang="en-US" sz="2000" dirty="0">
                <a:latin typeface="+mn-lt"/>
              </a:rPr>
              <a:t> from open determines the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order of search-</a:t>
            </a:r>
            <a:r>
              <a:rPr lang="en-US" altLang="en-US" sz="2000" dirty="0">
                <a:latin typeface="+mn-lt"/>
              </a:rPr>
              <a:t> BFS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adds</a:t>
            </a:r>
            <a:r>
              <a:rPr lang="en-US" altLang="en-US" sz="2000" dirty="0">
                <a:latin typeface="+mn-lt"/>
              </a:rPr>
              <a:t> at the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right list </a:t>
            </a:r>
            <a:r>
              <a:rPr lang="en-US" altLang="en-US" sz="2000" dirty="0">
                <a:latin typeface="+mn-lt"/>
              </a:rPr>
              <a:t>and removes from the left (queue-FIFO)</a:t>
            </a: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1782386"/>
            <a:ext cx="5391150" cy="472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50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11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2286000"/>
            <a:ext cx="32004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indent="0" algn="ctr"/>
            <a:r>
              <a:rPr lang="en-US" altLang="en-US" dirty="0">
                <a:solidFill>
                  <a:srgbClr val="0070C0"/>
                </a:solidFill>
                <a:latin typeface="+mn-lt"/>
              </a:rPr>
              <a:t>Breadth-first search of the 8-puzzle, showing order in which states were removed from open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407915"/>
            <a:ext cx="5864977" cy="506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089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12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8000"/>
                </a:solidFill>
                <a:latin typeface="+mn-lt"/>
              </a:rPr>
              <a:t>Function Depth-first search algorithm</a:t>
            </a: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5344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3810000" y="4800600"/>
            <a:ext cx="1143000" cy="457200"/>
          </a:xfrm>
          <a:prstGeom prst="ellipse">
            <a:avLst/>
          </a:prstGeom>
          <a:solidFill>
            <a:srgbClr val="008000">
              <a:alpha val="25098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3215320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13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8000"/>
                </a:solidFill>
                <a:latin typeface="+mn-lt"/>
              </a:rPr>
              <a:t>Function Depth-first search algorithm</a:t>
            </a: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7029865" cy="4283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6736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14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8000"/>
                </a:solidFill>
                <a:latin typeface="+mn-lt"/>
              </a:rPr>
              <a:t>Function Depth-first search algorithm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2273" y="1833265"/>
            <a:ext cx="3051927" cy="520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96875" indent="-3968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indent="0"/>
            <a:r>
              <a:rPr lang="en-US" altLang="en-US" sz="2000" dirty="0">
                <a:latin typeface="Arial" panose="020B0604020202020204" pitchFamily="34" charset="0"/>
              </a:rPr>
              <a:t>States on open and closed are highlighted.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Child and descendants are evaluated before siblings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Goes deeper into search space whenever possible</a:t>
            </a:r>
          </a:p>
          <a:p>
            <a:pPr>
              <a:buFontTx/>
              <a:buChar char="•"/>
            </a:pPr>
            <a:r>
              <a:rPr lang="en-US" altLang="en-US" sz="1800" dirty="0"/>
              <a:t>Which state is removed from open determines the order of search- DFS </a:t>
            </a:r>
            <a:r>
              <a:rPr lang="en-US" altLang="en-US" sz="1800" dirty="0">
                <a:solidFill>
                  <a:srgbClr val="008000"/>
                </a:solidFill>
              </a:rPr>
              <a:t>adds</a:t>
            </a:r>
            <a:r>
              <a:rPr lang="en-US" altLang="en-US" sz="1800" dirty="0"/>
              <a:t> and </a:t>
            </a:r>
            <a:r>
              <a:rPr lang="en-US" altLang="en-US" sz="1800" dirty="0">
                <a:solidFill>
                  <a:srgbClr val="008000"/>
                </a:solidFill>
              </a:rPr>
              <a:t>removes</a:t>
            </a:r>
            <a:r>
              <a:rPr lang="en-US" altLang="en-US" sz="1800" dirty="0"/>
              <a:t> from the </a:t>
            </a:r>
            <a:r>
              <a:rPr lang="en-US" altLang="en-US" sz="1800" dirty="0">
                <a:solidFill>
                  <a:srgbClr val="008000"/>
                </a:solidFill>
              </a:rPr>
              <a:t>left</a:t>
            </a:r>
            <a:r>
              <a:rPr lang="en-US" altLang="en-US" sz="1800" dirty="0"/>
              <a:t> end (stack-LIFO)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1752600"/>
            <a:ext cx="5892800" cy="4732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785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15</a:t>
            </a:fld>
            <a:endParaRPr lang="en-US" sz="900" dirty="0">
              <a:solidFill>
                <a:srgbClr val="FFE1AD"/>
              </a:solidFill>
            </a:endParaRP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447800"/>
            <a:ext cx="6172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59613" y="1447800"/>
            <a:ext cx="47184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indent="0"/>
            <a:r>
              <a:rPr lang="en-US" altLang="en-US" dirty="0">
                <a:solidFill>
                  <a:srgbClr val="008000"/>
                </a:solidFill>
                <a:latin typeface="+mn-lt"/>
              </a:rPr>
              <a:t>Depth-first search of the 8-puzzle with a depth bound of 5</a:t>
            </a:r>
          </a:p>
        </p:txBody>
      </p:sp>
    </p:spTree>
    <p:extLst>
      <p:ext uri="{BB962C8B-B14F-4D97-AF65-F5344CB8AC3E}">
        <p14:creationId xmlns:p14="http://schemas.microsoft.com/office/powerpoint/2010/main" val="219398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rgbClr val="FF8000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4349" name="Oval 13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4351" name="Oval 15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4353" name="Oval 17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4355" name="Oval 19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2514600" y="6078537"/>
            <a:ext cx="161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[]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 + [2,3]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04956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5375" name="Oval 15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5377" name="Oval 17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5379" name="Oval 19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5381" name="Oval 21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87" name="Text Box 27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2489993" y="6056312"/>
            <a:ext cx="1725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[3]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[4,5]</a:t>
            </a:r>
          </a:p>
        </p:txBody>
      </p:sp>
    </p:spTree>
    <p:extLst>
      <p:ext uri="{BB962C8B-B14F-4D97-AF65-F5344CB8AC3E}">
        <p14:creationId xmlns:p14="http://schemas.microsoft.com/office/powerpoint/2010/main" val="338924337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3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7" name="Oval 1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8" name="Oval 1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9" name="Oval 1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00" name="Oval 1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6402" name="Oval 18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6404" name="Oval 20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6406" name="Oval 22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6408" name="Oval 24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6410" name="Oval 26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4" name="Text Box 30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0" name="Text Box 36"/>
          <p:cNvSpPr txBox="1">
            <a:spLocks noChangeArrowheads="1"/>
          </p:cNvSpPr>
          <p:nvPr/>
        </p:nvSpPr>
        <p:spPr bwMode="auto">
          <a:xfrm>
            <a:off x="2504281" y="6053136"/>
            <a:ext cx="1973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[4,5]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[6,7]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6421" name="Oval 37"/>
          <p:cNvSpPr>
            <a:spLocks noChangeArrowheads="1"/>
          </p:cNvSpPr>
          <p:nvPr/>
        </p:nvSpPr>
        <p:spPr bwMode="auto">
          <a:xfrm>
            <a:off x="3657600" y="1600200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9394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4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2" name="Oval 14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4" name="Oval 16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5" name="Oval 17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6" name="Oval 18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7" name="Oval 19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8" name="Oval 20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9" name="Oval 21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7431" name="Oval 23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7433" name="Oval 25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7435" name="Oval 27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7437" name="Oval 29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7439" name="Oval 31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42" name="Text Box 34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45" name="Text Box 37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46" name="Text Box 38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7448" name="Text Box 40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1" name="Text Box 43"/>
          <p:cNvSpPr txBox="1">
            <a:spLocks noChangeArrowheads="1"/>
          </p:cNvSpPr>
          <p:nvPr/>
        </p:nvSpPr>
        <p:spPr bwMode="auto">
          <a:xfrm>
            <a:off x="2492375" y="6078537"/>
            <a:ext cx="2141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[5,6,7]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[8,9]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62258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5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7" name="Oval 15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48" name="Oval 16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49" name="Oval 1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0" name="Oval 1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1" name="Oval 1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2" name="Oval 2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3" name="Oval 2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4" name="Oval 2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5" name="Oval 2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6" name="Oval 2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7" name="Oval 2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8459" name="Oval 2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8461" name="Oval 2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8463" name="Oval 3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8465" name="Oval 3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8467" name="Oval 3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8" name="Text Box 3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8469" name="Text Box 3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70" name="Text Box 3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71" name="Text Box 3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475" name="Text Box 4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477" name="Text Box 4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8478" name="Text Box 4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8479" name="Text Box 4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8480" name="Text Box 4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81" name="Text Box 49"/>
          <p:cNvSpPr txBox="1">
            <a:spLocks noChangeArrowheads="1"/>
          </p:cNvSpPr>
          <p:nvPr/>
        </p:nvSpPr>
        <p:spPr bwMode="auto">
          <a:xfrm>
            <a:off x="2466181" y="6048375"/>
            <a:ext cx="2535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[6,7,8,9]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[10,11]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99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6</a:t>
            </a: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3" name="Oval 17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4" name="Oval 18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5" name="Oval 19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6" name="Oval 20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7" name="Oval 21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8" name="Oval 22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9" name="Oval 23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0" name="Oval 24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1" name="Oval 25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4" name="Oval 28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5" name="Oval 29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9487" name="Oval 31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9489" name="Oval 33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9491" name="Oval 35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9493" name="Oval 37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94" name="Text Box 38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9495" name="Oval 39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498" name="Text Box 42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503" name="Text Box 47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9504" name="Text Box 48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505" name="Text Box 49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9506" name="Text Box 50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9507" name="Text Box 51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9508" name="Text Box 52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9509" name="Text Box 53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19510" name="Text Box 54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11" name="Text Box 55"/>
          <p:cNvSpPr txBox="1">
            <a:spLocks noChangeArrowheads="1"/>
          </p:cNvSpPr>
          <p:nvPr/>
        </p:nvSpPr>
        <p:spPr bwMode="auto">
          <a:xfrm>
            <a:off x="2444750" y="6073773"/>
            <a:ext cx="292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[7,8,9,10,11]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[12,13]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215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7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9" name="Oval 19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0" name="Oval 20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1" name="Oval 21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2" name="Oval 22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3" name="Oval 23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4" name="Oval 24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5" name="Oval 25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6" name="Oval 26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7" name="Oval 27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8" name="Oval 28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9" name="Oval 29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0" name="Oval 30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1" name="Oval 31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2" name="Oval 32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3" name="Oval 33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4" name="Text Box 34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0515" name="Oval 35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16" name="Text Box 36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0517" name="Oval 37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0518" name="Text Box 38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0519" name="Oval 39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0521" name="Oval 41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22" name="Text Box 42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0523" name="Oval 43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0525" name="Text Box 45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526" name="Text Box 46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528" name="Text Box 48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0529" name="Text Box 49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531" name="Text Box 51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0532" name="Text Box 52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0533" name="Text Box 53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0534" name="Text Box 54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0535" name="Text Box 55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0536" name="Text Box 56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0537" name="Text Box 57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0538" name="Text Box 58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0539" name="Text Box 59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0540" name="Text Box 6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41" name="Text Box 61"/>
          <p:cNvSpPr txBox="1">
            <a:spLocks noChangeArrowheads="1"/>
          </p:cNvSpPr>
          <p:nvPr/>
        </p:nvSpPr>
        <p:spPr bwMode="auto">
          <a:xfrm>
            <a:off x="2510631" y="6078537"/>
            <a:ext cx="332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[8,9.10,11,12,13]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[14,15]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9601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8</a:t>
            </a: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5" name="Oval 21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6" name="Oval 22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7" name="Oval 23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8" name="Oval 24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9" name="Oval 25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1" name="Oval 27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3" name="Oval 29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4" name="Oval 30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5" name="Oval 3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6" name="Oval 3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7" name="Oval 3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8" name="Oval 3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9" name="Oval 3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40" name="Oval 3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41" name="Oval 37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1543" name="Oval 39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1545" name="Oval 41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46" name="Text Box 42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1547" name="Oval 43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48" name="Text Box 44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1549" name="Oval 45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50" name="Text Box 46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1551" name="Oval 47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52" name="Text Box 48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1553" name="Text Box 49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554" name="Text Box 50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1555" name="Text Box 51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556" name="Text Box 52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1557" name="Text Box 53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1558" name="Text Box 54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559" name="Text Box 55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560" name="Text Box 56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1561" name="Text Box 57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1562" name="Text Box 58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1563" name="Text Box 59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1564" name="Text Box 60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1565" name="Text Box 61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1566" name="Text Box 62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1567" name="Text Box 63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1568" name="Text Box 64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1569" name="Text Box 65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1570" name="Text Box 66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71" name="Text Box 67"/>
          <p:cNvSpPr txBox="1">
            <a:spLocks noChangeArrowheads="1"/>
          </p:cNvSpPr>
          <p:nvPr/>
        </p:nvSpPr>
        <p:spPr bwMode="auto">
          <a:xfrm>
            <a:off x="2514600" y="6108700"/>
            <a:ext cx="371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[9,10,11,12,13,14,15]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[16,17]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3742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9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51" name="Oval 23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2" name="Oval 24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3" name="Oval 25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4" name="Oval 26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5" name="Oval 27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6" name="Oval 28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7" name="Oval 29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8" name="Oval 30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9" name="Oval 31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0" name="Oval 32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1" name="Oval 33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2" name="Oval 34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3" name="Oval 35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4" name="Oval 36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5" name="Oval 37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6" name="Oval 38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7" name="Oval 39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8" name="Oval 40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9" name="Oval 41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70" name="Text Box 42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2571" name="Oval 43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72" name="Text Box 44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2573" name="Oval 45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2574" name="Text Box 46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2575" name="Oval 47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76" name="Text Box 48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2577" name="Oval 49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78" name="Text Box 50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2579" name="Oval 51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80" name="Text Box 52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2581" name="Text Box 53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2582" name="Text Box 54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2583" name="Text Box 55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2584" name="Text Box 56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2585" name="Text Box 57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2586" name="Text Box 58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2587" name="Text Box 59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2588" name="Text Box 60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2589" name="Text Box 61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2590" name="Text Box 62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2591" name="Text Box 63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2592" name="Text Box 64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2593" name="Text Box 65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2594" name="Text Box 66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2595" name="Text Box 67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2596" name="Text Box 68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2597" name="Text Box 69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2598" name="Text Box 70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2599" name="Text Box 71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2600" name="Text Box 72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01" name="Text Box 73"/>
          <p:cNvSpPr txBox="1">
            <a:spLocks noChangeArrowheads="1"/>
          </p:cNvSpPr>
          <p:nvPr/>
        </p:nvSpPr>
        <p:spPr bwMode="auto">
          <a:xfrm>
            <a:off x="77787" y="6022975"/>
            <a:ext cx="4111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[10,11,12,13,14,15,16,17]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[18,19]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477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10</a:t>
            </a: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7" name="Oval 25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78" name="Oval 26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79" name="Oval 27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0" name="Oval 28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1" name="Oval 29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2" name="Oval 3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3" name="Oval 3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4" name="Oval 3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5" name="Oval 3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6" name="Oval 3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7" name="Oval 3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8" name="Oval 3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9" name="Oval 3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0" name="Oval 3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1" name="Oval 3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2" name="Oval 4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3" name="Oval 4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4" name="Oval 4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5" name="Oval 4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6" name="Oval 4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7" name="Oval 4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3599" name="Oval 4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0" name="Text Box 4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3601" name="Oval 4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602" name="Text Box 5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3603" name="Oval 5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4" name="Text Box 5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3605" name="Oval 5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6" name="Text Box 5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3607" name="Oval 5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8" name="Text Box 5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3609" name="Text Box 57"/>
          <p:cNvSpPr txBox="1">
            <a:spLocks noChangeArrowheads="1"/>
          </p:cNvSpPr>
          <p:nvPr/>
        </p:nvSpPr>
        <p:spPr bwMode="auto">
          <a:xfrm>
            <a:off x="3429000" y="15763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610" name="Text Box 58"/>
          <p:cNvSpPr txBox="1">
            <a:spLocks noChangeArrowheads="1"/>
          </p:cNvSpPr>
          <p:nvPr/>
        </p:nvSpPr>
        <p:spPr bwMode="auto">
          <a:xfrm>
            <a:off x="2514600" y="2519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611" name="Text Box 59"/>
          <p:cNvSpPr txBox="1">
            <a:spLocks noChangeArrowheads="1"/>
          </p:cNvSpPr>
          <p:nvPr/>
        </p:nvSpPr>
        <p:spPr bwMode="auto">
          <a:xfrm>
            <a:off x="4343400" y="2519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3612" name="Text Box 60"/>
          <p:cNvSpPr txBox="1">
            <a:spLocks noChangeArrowheads="1"/>
          </p:cNvSpPr>
          <p:nvPr/>
        </p:nvSpPr>
        <p:spPr bwMode="auto">
          <a:xfrm>
            <a:off x="1752600" y="35258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613" name="Text Box 61"/>
          <p:cNvSpPr txBox="1">
            <a:spLocks noChangeArrowheads="1"/>
          </p:cNvSpPr>
          <p:nvPr/>
        </p:nvSpPr>
        <p:spPr bwMode="auto">
          <a:xfrm>
            <a:off x="2895600" y="35258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3614" name="Text Box 62"/>
          <p:cNvSpPr txBox="1">
            <a:spLocks noChangeArrowheads="1"/>
          </p:cNvSpPr>
          <p:nvPr/>
        </p:nvSpPr>
        <p:spPr bwMode="auto">
          <a:xfrm>
            <a:off x="4038600" y="35258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3615" name="Text Box 63"/>
          <p:cNvSpPr txBox="1">
            <a:spLocks noChangeArrowheads="1"/>
          </p:cNvSpPr>
          <p:nvPr/>
        </p:nvSpPr>
        <p:spPr bwMode="auto">
          <a:xfrm>
            <a:off x="5105400" y="35274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3616" name="Text Box 64"/>
          <p:cNvSpPr txBox="1">
            <a:spLocks noChangeArrowheads="1"/>
          </p:cNvSpPr>
          <p:nvPr/>
        </p:nvSpPr>
        <p:spPr bwMode="auto">
          <a:xfrm>
            <a:off x="990600" y="45005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3617" name="Text Box 65"/>
          <p:cNvSpPr txBox="1">
            <a:spLocks noChangeArrowheads="1"/>
          </p:cNvSpPr>
          <p:nvPr/>
        </p:nvSpPr>
        <p:spPr bwMode="auto">
          <a:xfrm>
            <a:off x="1676400" y="45005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3618" name="Text Box 66"/>
          <p:cNvSpPr txBox="1">
            <a:spLocks noChangeArrowheads="1"/>
          </p:cNvSpPr>
          <p:nvPr/>
        </p:nvSpPr>
        <p:spPr bwMode="auto">
          <a:xfrm>
            <a:off x="23622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3619" name="Text Box 67"/>
          <p:cNvSpPr txBox="1">
            <a:spLocks noChangeArrowheads="1"/>
          </p:cNvSpPr>
          <p:nvPr/>
        </p:nvSpPr>
        <p:spPr bwMode="auto">
          <a:xfrm>
            <a:off x="30480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3620" name="Text Box 68"/>
          <p:cNvSpPr txBox="1">
            <a:spLocks noChangeArrowheads="1"/>
          </p:cNvSpPr>
          <p:nvPr/>
        </p:nvSpPr>
        <p:spPr bwMode="auto">
          <a:xfrm>
            <a:off x="37338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3621" name="Text Box 69"/>
          <p:cNvSpPr txBox="1">
            <a:spLocks noChangeArrowheads="1"/>
          </p:cNvSpPr>
          <p:nvPr/>
        </p:nvSpPr>
        <p:spPr bwMode="auto">
          <a:xfrm>
            <a:off x="44196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3622" name="Text Box 70"/>
          <p:cNvSpPr txBox="1">
            <a:spLocks noChangeArrowheads="1"/>
          </p:cNvSpPr>
          <p:nvPr/>
        </p:nvSpPr>
        <p:spPr bwMode="auto">
          <a:xfrm>
            <a:off x="51054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3623" name="Text Box 71"/>
          <p:cNvSpPr txBox="1">
            <a:spLocks noChangeArrowheads="1"/>
          </p:cNvSpPr>
          <p:nvPr/>
        </p:nvSpPr>
        <p:spPr bwMode="auto">
          <a:xfrm>
            <a:off x="58674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3624" name="Text Box 72"/>
          <p:cNvSpPr txBox="1">
            <a:spLocks noChangeArrowheads="1"/>
          </p:cNvSpPr>
          <p:nvPr/>
        </p:nvSpPr>
        <p:spPr bwMode="auto">
          <a:xfrm>
            <a:off x="4572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3625" name="Text Box 73"/>
          <p:cNvSpPr txBox="1">
            <a:spLocks noChangeArrowheads="1"/>
          </p:cNvSpPr>
          <p:nvPr/>
        </p:nvSpPr>
        <p:spPr bwMode="auto">
          <a:xfrm>
            <a:off x="8382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3626" name="Text Box 74"/>
          <p:cNvSpPr txBox="1">
            <a:spLocks noChangeArrowheads="1"/>
          </p:cNvSpPr>
          <p:nvPr/>
        </p:nvSpPr>
        <p:spPr bwMode="auto">
          <a:xfrm>
            <a:off x="12954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3627" name="Text Box 75"/>
          <p:cNvSpPr txBox="1">
            <a:spLocks noChangeArrowheads="1"/>
          </p:cNvSpPr>
          <p:nvPr/>
        </p:nvSpPr>
        <p:spPr bwMode="auto">
          <a:xfrm>
            <a:off x="16764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3628" name="Text Box 76"/>
          <p:cNvSpPr txBox="1">
            <a:spLocks noChangeArrowheads="1"/>
          </p:cNvSpPr>
          <p:nvPr/>
        </p:nvSpPr>
        <p:spPr bwMode="auto">
          <a:xfrm>
            <a:off x="21336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3629" name="Text Box 77"/>
          <p:cNvSpPr txBox="1">
            <a:spLocks noChangeArrowheads="1"/>
          </p:cNvSpPr>
          <p:nvPr/>
        </p:nvSpPr>
        <p:spPr bwMode="auto">
          <a:xfrm>
            <a:off x="25908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3630" name="Text Box 7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31" name="Text Box 79"/>
          <p:cNvSpPr txBox="1">
            <a:spLocks noChangeArrowheads="1"/>
          </p:cNvSpPr>
          <p:nvPr/>
        </p:nvSpPr>
        <p:spPr bwMode="auto">
          <a:xfrm>
            <a:off x="351631" y="6029325"/>
            <a:ext cx="4325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[11,12,13,14,15,16,17,18,19]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[20,21]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2398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11</a:t>
            </a: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1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3" name="Oval 27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4" name="Oval 28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5" name="Oval 29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6" name="Oval 30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7" name="Oval 31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8" name="Oval 32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9" name="Oval 33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0" name="Oval 34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1" name="Oval 35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2" name="Oval 36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3" name="Oval 37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4" name="Oval 38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8" name="Oval 42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9" name="Oval 43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0" name="Oval 44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1" name="Oval 45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2" name="Oval 46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3" name="Oval 47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4" name="Oval 48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28" name="Text Box 52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4629" name="Oval 53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4631" name="Oval 55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4633" name="Oval 57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34" name="Text Box 58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4635" name="Oval 59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36" name="Text Box 60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638" name="Text Box 62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4639" name="Text Box 63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4641" name="Text Box 65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4642" name="Text Box 66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4643" name="Text Box 67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4644" name="Text Box 68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4645" name="Text Box 69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4646" name="Text Box 70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4647" name="Text Box 71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4648" name="Text Box 72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4649" name="Text Box 73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4650" name="Text Box 74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4651" name="Text Box 75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4652" name="Text Box 76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4653" name="Text Box 77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4654" name="Text Box 78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4655" name="Text Box 79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4656" name="Text Box 80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4657" name="Text Box 81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4658" name="Text Box 82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4659" name="Text Box 83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4660" name="Text Box 84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61" name="Text Box 85"/>
          <p:cNvSpPr txBox="1">
            <a:spLocks noChangeArrowheads="1"/>
          </p:cNvSpPr>
          <p:nvPr/>
        </p:nvSpPr>
        <p:spPr bwMode="auto">
          <a:xfrm>
            <a:off x="-37307" y="6038850"/>
            <a:ext cx="5180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[12, 13, 14, 15, 16, 17, 18, 19, 20, 21]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[22,23]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045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12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2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9" name="Oval 29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0" name="Oval 30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1" name="Oval 31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2" name="Oval 32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3" name="Oval 33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4" name="Oval 34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5" name="Oval 35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6" name="Oval 36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folHlink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7" name="Oval 37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8" name="Oval 38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9" name="Oval 39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0" name="Oval 40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1" name="Oval 41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2" name="Oval 42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3" name="Oval 43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4" name="Oval 44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5" name="Oval 45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6" name="Oval 46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7" name="Oval 47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8" name="Oval 48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9" name="Oval 49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0" name="Oval 50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1" name="Oval 51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2" name="Oval 52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3" name="Oval 53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4" name="Text Box 54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5655" name="Oval 55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56" name="Text Box 56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5657" name="Oval 57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658" name="Text Box 58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5659" name="Oval 59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60" name="Text Box 60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5661" name="Oval 61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62" name="Text Box 62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5663" name="Oval 63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64" name="Text Box 64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5665" name="Text Box 65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66" name="Text Box 66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667" name="Text Box 67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668" name="Text Box 68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5669" name="Text Box 69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670" name="Text Box 70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5671" name="Text Box 71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5672" name="Text Box 72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5673" name="Text Box 73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5674" name="Text Box 74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5675" name="Text Box 75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5676" name="Text Box 76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5677" name="Text Box 77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5678" name="Text Box 78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5679" name="Text Box 79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5680" name="Text Box 80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5681" name="Text Box 81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5682" name="Text Box 82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5683" name="Text Box 83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5684" name="Text Box 84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5685" name="Text Box 85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5686" name="Text Box 86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5687" name="Text Box 87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5688" name="Text Box 88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5689" name="Text Box 89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5690" name="Text Box 9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91" name="Text Box 91"/>
          <p:cNvSpPr txBox="1">
            <a:spLocks noChangeArrowheads="1"/>
          </p:cNvSpPr>
          <p:nvPr/>
        </p:nvSpPr>
        <p:spPr bwMode="auto">
          <a:xfrm>
            <a:off x="342105" y="6010274"/>
            <a:ext cx="4392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[13,14,15,16,17,18,19,20,21]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[22,23]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5692" name="Text Box 92"/>
          <p:cNvSpPr txBox="1">
            <a:spLocks noChangeArrowheads="1"/>
          </p:cNvSpPr>
          <p:nvPr/>
        </p:nvSpPr>
        <p:spPr bwMode="auto">
          <a:xfrm>
            <a:off x="7620000" y="4035425"/>
            <a:ext cx="1524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Note: </a:t>
            </a:r>
          </a:p>
          <a:p>
            <a:r>
              <a:rPr lang="en-US" altLang="en-US" sz="1600">
                <a:latin typeface="Times New Roman" panose="02020603050405020304" pitchFamily="18" charset="0"/>
              </a:rPr>
              <a:t>The goal node is “visible” here, but we can not perform the goal test yet.</a:t>
            </a:r>
          </a:p>
        </p:txBody>
      </p:sp>
    </p:spTree>
    <p:extLst>
      <p:ext uri="{BB962C8B-B14F-4D97-AF65-F5344CB8AC3E}">
        <p14:creationId xmlns:p14="http://schemas.microsoft.com/office/powerpoint/2010/main" val="224228391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13</a:t>
            </a: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6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9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0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5" name="Oval 31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6" name="Oval 32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7" name="Oval 33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8" name="Oval 34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9" name="Oval 35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0" name="Oval 36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1" name="Oval 37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2" name="Oval 38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3" name="Oval 39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4" name="Oval 40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5" name="Oval 41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6" name="Oval 42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7" name="Oval 43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8" name="Oval 44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9" name="Oval 45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0" name="Oval 46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1" name="Oval 47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2" name="Oval 48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3" name="Oval 49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4" name="Oval 50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5" name="Oval 5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6" name="Oval 5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7" name="Oval 5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8" name="Oval 5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9" name="Oval 5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82" name="Text Box 58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6683" name="Oval 59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84" name="Text Box 60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6685" name="Oval 61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6686" name="Text Box 62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6687" name="Oval 63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88" name="Text Box 64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6689" name="Oval 65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90" name="Text Box 66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6691" name="Oval 67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92" name="Text Box 68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6693" name="Text Box 69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694" name="Text Box 70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695" name="Text Box 71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6696" name="Text Box 72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6697" name="Text Box 73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6698" name="Text Box 74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6699" name="Text Box 75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6700" name="Text Box 76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6701" name="Text Box 77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6702" name="Text Box 78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6703" name="Text Box 79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6704" name="Text Box 80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6705" name="Text Box 81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6706" name="Text Box 82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6707" name="Text Box 83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6708" name="Text Box 84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6709" name="Text Box 85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6710" name="Text Box 86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6711" name="Text Box 87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6712" name="Text Box 88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6713" name="Text Box 89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6714" name="Text Box 90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6715" name="Text Box 91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6716" name="Text Box 92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6717" name="Text Box 93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6718" name="Text Box 94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6719" name="Text Box 95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6720" name="Text Box 96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21" name="Text Box 97"/>
          <p:cNvSpPr txBox="1">
            <a:spLocks noChangeArrowheads="1"/>
          </p:cNvSpPr>
          <p:nvPr/>
        </p:nvSpPr>
        <p:spPr bwMode="auto">
          <a:xfrm>
            <a:off x="391318" y="5986462"/>
            <a:ext cx="5237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[14,15,16,17,18,19,20,21,22,23,24,25]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[26,27]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68650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14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2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4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5" name="Line 27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6" name="Line 28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8" name="Line 30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80" name="Line 32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2" name="Oval 34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3" name="Oval 35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4" name="Oval 36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5" name="Oval 37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6" name="Oval 38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7" name="Oval 39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8" name="Oval 40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9" name="Oval 41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0" name="Oval 42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1" name="Oval 43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2" name="Oval 44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3" name="Oval 45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4" name="Oval 46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5" name="Oval 47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6" name="Oval 48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7" name="Oval 49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8" name="Oval 50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9" name="Oval 51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0" name="Oval 52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1" name="Oval 53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2" name="Oval 54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3" name="Oval 55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4" name="Oval 56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5" name="Oval 57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6" name="Oval 58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7" name="Oval 59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8" name="Oval 60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9" name="Oval 61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10" name="Text Box 62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7711" name="Oval 63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12" name="Text Box 64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7713" name="Oval 65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714" name="Text Box 66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7715" name="Oval 67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16" name="Text Box 68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7717" name="Oval 69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18" name="Text Box 70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7719" name="Oval 71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20" name="Text Box 72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7721" name="Text Box 73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722" name="Text Box 74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7723" name="Text Box 75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7724" name="Text Box 76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7725" name="Text Box 77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7726" name="Text Box 78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7727" name="Text Box 79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7728" name="Text Box 80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7729" name="Text Box 81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7730" name="Text Box 82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7731" name="Text Box 83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7732" name="Text Box 84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7733" name="Text Box 85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7734" name="Text Box 86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7735" name="Text Box 87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7736" name="Text Box 88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7737" name="Text Box 89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7738" name="Text Box 90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7739" name="Text Box 91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7740" name="Text Box 92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7741" name="Text Box 93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7742" name="Text Box 94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7743" name="Text Box 95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7744" name="Text Box 96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7745" name="Text Box 97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7746" name="Text Box 98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7747" name="Text Box 99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7748" name="Text Box 100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7749" name="Text Box 101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27750" name="Text Box 102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751" name="Text Box 103"/>
          <p:cNvSpPr txBox="1">
            <a:spLocks noChangeArrowheads="1"/>
          </p:cNvSpPr>
          <p:nvPr/>
        </p:nvSpPr>
        <p:spPr bwMode="auto">
          <a:xfrm>
            <a:off x="1014412" y="6048376"/>
            <a:ext cx="551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[15,16,17,18,19,20,21,22,23,24,25,26,27]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[28,29]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8198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15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4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8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9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0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1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2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3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4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6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7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08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09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0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1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2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3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4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5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6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7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8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9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0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1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2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3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4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5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6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7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8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9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0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1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2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3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4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5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6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7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8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8739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0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8741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742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8743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4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8745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6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8747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8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8749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8750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8751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8752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8753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8754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8755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8756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8757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8758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8759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8760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8761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762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8763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8764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8765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8766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8767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8768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8769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8770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8771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8772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8773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8774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8775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8776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8777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28778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28779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28780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81" name="Text Box 109"/>
          <p:cNvSpPr txBox="1">
            <a:spLocks noChangeArrowheads="1"/>
          </p:cNvSpPr>
          <p:nvPr/>
        </p:nvSpPr>
        <p:spPr bwMode="auto">
          <a:xfrm>
            <a:off x="1219200" y="6048375"/>
            <a:ext cx="6080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[15,16,17,18,19,20,21,22,23,24,25,26,27,28,29]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[30,31]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57652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17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5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8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9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2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4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5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31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2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3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4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5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6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7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8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9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0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1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2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3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4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5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6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7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8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9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0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1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2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3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4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5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6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7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8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9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60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61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62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9763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64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9765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66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9767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68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9769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70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9771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72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9773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774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9775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9776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9777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9778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9779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9780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9781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9782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9783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9784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9785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9786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9787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9788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9789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790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9791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9792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9793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9794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9795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9796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9797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9798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9799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9800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9801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29802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29803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29804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805" name="Text Box 109"/>
          <p:cNvSpPr txBox="1">
            <a:spLocks noChangeArrowheads="1"/>
          </p:cNvSpPr>
          <p:nvPr/>
        </p:nvSpPr>
        <p:spPr bwMode="auto">
          <a:xfrm>
            <a:off x="1401762" y="6063455"/>
            <a:ext cx="4970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[18,19,20,21,22,23,24,25,26,27,28,29,30,31]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152639234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18</a:t>
            </a: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0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1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2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3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4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5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6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7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8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9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0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1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2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3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4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5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6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7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8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9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0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1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2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3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4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5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6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7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8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9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0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1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2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3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4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5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6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7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8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9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0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1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2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3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4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5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6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0787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88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0789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90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0791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92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0793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94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0795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96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0797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0798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0799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800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0801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0802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0803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0804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0805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0806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0807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0808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0809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0810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0811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0812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0813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0814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0815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0816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0817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0818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0819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0820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0821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0822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0823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0824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0825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0826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0827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0828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829" name="Text Box 109"/>
          <p:cNvSpPr txBox="1">
            <a:spLocks noChangeArrowheads="1"/>
          </p:cNvSpPr>
          <p:nvPr/>
        </p:nvSpPr>
        <p:spPr bwMode="auto">
          <a:xfrm>
            <a:off x="1701800" y="6063455"/>
            <a:ext cx="4689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[19,20,21,22,23,24,25,26,27,28,29,30,31]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144865863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19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8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3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4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6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7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8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9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0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1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2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3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4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5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6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7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8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9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0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1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2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3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4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5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6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7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8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9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0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1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2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3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4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5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6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7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8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9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10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1811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12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1813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814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1815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16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1817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18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1819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20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1821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1822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1823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1824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1825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1826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1827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1828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1829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1830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1831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1832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1833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1834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1835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1836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1837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1838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1839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1840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1841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1842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1843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1844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845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1846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1847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1848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1849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1850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1851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1852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853" name="Text Box 109"/>
          <p:cNvSpPr txBox="1">
            <a:spLocks noChangeArrowheads="1"/>
          </p:cNvSpPr>
          <p:nvPr/>
        </p:nvSpPr>
        <p:spPr bwMode="auto">
          <a:xfrm>
            <a:off x="1622425" y="6024562"/>
            <a:ext cx="44084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[20,21,22,23,24,25,26,27,28,29,30,31]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210245139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20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3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4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5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6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7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9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0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1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2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3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4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5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6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7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8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9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0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1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2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3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4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5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6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7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8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9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0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1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2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3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4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5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6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7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8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9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0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1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2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3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4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2835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36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2837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2838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2839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40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2841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42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2843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44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2845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2846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2847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2848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2849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2850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2851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2852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2853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2854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2855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2856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2857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2858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2859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2860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2861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2862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2863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2864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2865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2866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2867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2868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2869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2870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2871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2872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2873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2874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2875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2876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77" name="Text Box 109"/>
          <p:cNvSpPr txBox="1">
            <a:spLocks noChangeArrowheads="1"/>
          </p:cNvSpPr>
          <p:nvPr/>
        </p:nvSpPr>
        <p:spPr bwMode="auto">
          <a:xfrm>
            <a:off x="1912144" y="6038850"/>
            <a:ext cx="4125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3428660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21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1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5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6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8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9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0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1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2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3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4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5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6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7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28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29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0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1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2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3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4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5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6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7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8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9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0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1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2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3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4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5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6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7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8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9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0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1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2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3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4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5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6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7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8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3859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0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3861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862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3863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4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3865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6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3867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8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3869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70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3871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3872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3873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3874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3875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3876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3877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3878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3879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3880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3881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3882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3883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3884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3885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3886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3887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3888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3889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3890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3891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3892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3893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3894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3895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3896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3897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3898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3899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3900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901" name="Text Box 109"/>
          <p:cNvSpPr txBox="1">
            <a:spLocks noChangeArrowheads="1"/>
          </p:cNvSpPr>
          <p:nvPr/>
        </p:nvSpPr>
        <p:spPr bwMode="auto">
          <a:xfrm>
            <a:off x="2214563" y="6048375"/>
            <a:ext cx="3844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405176034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22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51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2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3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4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5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6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7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8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9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0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1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2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3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4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5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6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7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8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9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0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1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2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3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4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5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6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7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8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9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80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81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82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4883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84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4885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4886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4887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88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4889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90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4891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92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4893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4894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4895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4896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4897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4898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4899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4900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4901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4902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4903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4904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4905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4906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4907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4908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4909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4910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4911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4912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4913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4914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4915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4916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4917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4918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4919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4920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4921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4922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4923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4924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25" name="Text Box 109"/>
          <p:cNvSpPr txBox="1">
            <a:spLocks noChangeArrowheads="1"/>
          </p:cNvSpPr>
          <p:nvPr/>
        </p:nvSpPr>
        <p:spPr bwMode="auto">
          <a:xfrm>
            <a:off x="2256631" y="6063455"/>
            <a:ext cx="3563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311421736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23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7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8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9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3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4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5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6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7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8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9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0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2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3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4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5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6" name="Oval 36"/>
          <p:cNvSpPr>
            <a:spLocks noChangeArrowheads="1"/>
          </p:cNvSpPr>
          <p:nvPr/>
        </p:nvSpPr>
        <p:spPr bwMode="auto">
          <a:xfrm>
            <a:off x="887413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7" name="Oval 37"/>
          <p:cNvSpPr>
            <a:spLocks noChangeArrowheads="1"/>
          </p:cNvSpPr>
          <p:nvPr/>
        </p:nvSpPr>
        <p:spPr bwMode="auto">
          <a:xfrm>
            <a:off x="1317625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8" name="Oval 38"/>
          <p:cNvSpPr>
            <a:spLocks noChangeArrowheads="1"/>
          </p:cNvSpPr>
          <p:nvPr/>
        </p:nvSpPr>
        <p:spPr bwMode="auto">
          <a:xfrm>
            <a:off x="1747838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9" name="Oval 39"/>
          <p:cNvSpPr>
            <a:spLocks noChangeArrowheads="1"/>
          </p:cNvSpPr>
          <p:nvPr/>
        </p:nvSpPr>
        <p:spPr bwMode="auto">
          <a:xfrm>
            <a:off x="2178050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0" name="Oval 40"/>
          <p:cNvSpPr>
            <a:spLocks noChangeArrowheads="1"/>
          </p:cNvSpPr>
          <p:nvPr/>
        </p:nvSpPr>
        <p:spPr bwMode="auto">
          <a:xfrm>
            <a:off x="2609850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1" name="Oval 41"/>
          <p:cNvSpPr>
            <a:spLocks noChangeArrowheads="1"/>
          </p:cNvSpPr>
          <p:nvPr/>
        </p:nvSpPr>
        <p:spPr bwMode="auto">
          <a:xfrm>
            <a:off x="3040063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2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3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4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5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6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7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8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9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0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1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2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3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4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5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6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7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8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9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0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1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2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3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4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5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6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5907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08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5909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5910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5911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12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5913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14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5915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16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5917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918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5919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5920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5921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5922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5923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5924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5925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5926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5927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5928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5929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5930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5931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5932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5933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5934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5935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5936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5937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5938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5939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5940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5941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5942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5943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5944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5945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5946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5947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5948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49" name="Text Box 109"/>
          <p:cNvSpPr txBox="1">
            <a:spLocks noChangeArrowheads="1"/>
          </p:cNvSpPr>
          <p:nvPr/>
        </p:nvSpPr>
        <p:spPr bwMode="auto">
          <a:xfrm>
            <a:off x="2492375" y="6115050"/>
            <a:ext cx="328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281730828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1371600"/>
            <a:ext cx="7620000" cy="5029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24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7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8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9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0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1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2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3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4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5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6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7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rgbClr val="FF8000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8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9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0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1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2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3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4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5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6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7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8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9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0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1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2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3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4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5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6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7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8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9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30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6931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32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6933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6934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6935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36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6937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38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6939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40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6941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6942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6943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6944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6945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946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6947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6948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6949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6950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6951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6952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953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6954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6955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6956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6957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6958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6959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6960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6961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6962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6963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6964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6965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6966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6967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6968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6969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6970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6971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6972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73" name="Text Box 109"/>
          <p:cNvSpPr txBox="1">
            <a:spLocks noChangeArrowheads="1"/>
          </p:cNvSpPr>
          <p:nvPr/>
        </p:nvSpPr>
        <p:spPr bwMode="auto">
          <a:xfrm>
            <a:off x="3900488" y="6073775"/>
            <a:ext cx="30019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[25,26,27,28,29,30,31] </a:t>
            </a:r>
          </a:p>
        </p:txBody>
      </p:sp>
      <p:sp>
        <p:nvSpPr>
          <p:cNvPr id="36974" name="Text Box 110"/>
          <p:cNvSpPr txBox="1">
            <a:spLocks noChangeArrowheads="1"/>
          </p:cNvSpPr>
          <p:nvPr/>
        </p:nvSpPr>
        <p:spPr bwMode="auto">
          <a:xfrm>
            <a:off x="7620000" y="4035425"/>
            <a:ext cx="1524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Note: </a:t>
            </a:r>
          </a:p>
          <a:p>
            <a:r>
              <a:rPr lang="en-US" altLang="en-US" sz="1600">
                <a:latin typeface="Times New Roman" panose="02020603050405020304" pitchFamily="18" charset="0"/>
              </a:rPr>
              <a:t>The goal test is positive for this node, and a solution is found in 24 steps.</a:t>
            </a:r>
          </a:p>
        </p:txBody>
      </p:sp>
    </p:spTree>
    <p:extLst>
      <p:ext uri="{BB962C8B-B14F-4D97-AF65-F5344CB8AC3E}">
        <p14:creationId xmlns:p14="http://schemas.microsoft.com/office/powerpoint/2010/main" val="6481335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228600" y="338138"/>
            <a:ext cx="8610600" cy="804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7" tIns="44450" rIns="90487" bIns="44450" anchor="ctr"/>
          <a:lstStyle/>
          <a:p>
            <a:pPr algn="ctr">
              <a:defRPr/>
            </a:pP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 Snapshot</a:t>
            </a:r>
          </a:p>
        </p:txBody>
      </p:sp>
      <p:sp>
        <p:nvSpPr>
          <p:cNvPr id="37892" name="Oval 6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893" name="Line 7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4" name="Line 8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5" name="Line 9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6" name="Line 10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7" name="Line 11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8" name="Line 12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9" name="Line 13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0" name="Line 14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1" name="Line 15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2" name="Line 16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3" name="Line 17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4" name="Line 18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5" name="Line 19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6" name="Line 20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7" name="Line 21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8" name="Line 22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9" name="Line 23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0" name="Line 24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1" name="Line 25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2" name="Line 26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3" name="Line 27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4" name="Line 28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5" name="Line 29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6" name="Line 30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7" name="Line 31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8" name="Line 32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9" name="Line 33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0" name="Line 34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1" name="Line 35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2" name="Line 36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3" name="Oval 37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4" name="Oval 38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5" name="Oval 39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6" name="Oval 40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7" name="Oval 41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8" name="Oval 42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9" name="Oval 43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0" name="Oval 44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1" name="Oval 45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2" name="Oval 46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3" name="Oval 47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4" name="Oval 48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5" name="Oval 49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6" name="Oval 50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7" name="Oval 51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8" name="Oval 52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9" name="Oval 53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0" name="Oval 54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1" name="Oval 55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2" name="Oval 56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3" name="Oval 57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4" name="Oval 58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5" name="Oval 59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6" name="Oval 60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7" name="Oval 6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8" name="Oval 6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9" name="Oval 6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0" name="Oval 6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1" name="Oval 6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2" name="Oval 6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3" name="Oval 67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4" name="Text Box 68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7955" name="Oval 69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56" name="Text Box 70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7957" name="Oval 71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7958" name="Text Box 72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7959" name="Oval 73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60" name="Text Box 74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7961" name="Oval 75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62" name="Text Box 76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7963" name="Oval 77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64" name="Text Box 78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7965" name="Text Box 79"/>
          <p:cNvSpPr txBox="1">
            <a:spLocks noChangeArrowheads="1"/>
          </p:cNvSpPr>
          <p:nvPr/>
        </p:nvSpPr>
        <p:spPr bwMode="auto">
          <a:xfrm>
            <a:off x="3429000" y="158591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66" name="Text Box 80"/>
          <p:cNvSpPr txBox="1">
            <a:spLocks noChangeArrowheads="1"/>
          </p:cNvSpPr>
          <p:nvPr/>
        </p:nvSpPr>
        <p:spPr bwMode="auto">
          <a:xfrm>
            <a:off x="2514600" y="25288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7967" name="Text Box 81"/>
          <p:cNvSpPr txBox="1">
            <a:spLocks noChangeArrowheads="1"/>
          </p:cNvSpPr>
          <p:nvPr/>
        </p:nvSpPr>
        <p:spPr bwMode="auto">
          <a:xfrm>
            <a:off x="4343400" y="25288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968" name="Text Box 82"/>
          <p:cNvSpPr txBox="1">
            <a:spLocks noChangeArrowheads="1"/>
          </p:cNvSpPr>
          <p:nvPr/>
        </p:nvSpPr>
        <p:spPr bwMode="auto">
          <a:xfrm>
            <a:off x="1752600" y="353536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7969" name="Text Box 83"/>
          <p:cNvSpPr txBox="1">
            <a:spLocks noChangeArrowheads="1"/>
          </p:cNvSpPr>
          <p:nvPr/>
        </p:nvSpPr>
        <p:spPr bwMode="auto">
          <a:xfrm>
            <a:off x="2895600" y="353536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7970" name="Text Box 84"/>
          <p:cNvSpPr txBox="1">
            <a:spLocks noChangeArrowheads="1"/>
          </p:cNvSpPr>
          <p:nvPr/>
        </p:nvSpPr>
        <p:spPr bwMode="auto">
          <a:xfrm>
            <a:off x="4038600" y="353536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7971" name="Text Box 85"/>
          <p:cNvSpPr txBox="1">
            <a:spLocks noChangeArrowheads="1"/>
          </p:cNvSpPr>
          <p:nvPr/>
        </p:nvSpPr>
        <p:spPr bwMode="auto">
          <a:xfrm>
            <a:off x="5105400" y="3536950"/>
            <a:ext cx="2730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7972" name="Text Box 86"/>
          <p:cNvSpPr txBox="1">
            <a:spLocks noChangeArrowheads="1"/>
          </p:cNvSpPr>
          <p:nvPr/>
        </p:nvSpPr>
        <p:spPr bwMode="auto">
          <a:xfrm>
            <a:off x="990600" y="45100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7973" name="Text Box 87"/>
          <p:cNvSpPr txBox="1">
            <a:spLocks noChangeArrowheads="1"/>
          </p:cNvSpPr>
          <p:nvPr/>
        </p:nvSpPr>
        <p:spPr bwMode="auto">
          <a:xfrm>
            <a:off x="1676400" y="45100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7974" name="Text Box 88"/>
          <p:cNvSpPr txBox="1">
            <a:spLocks noChangeArrowheads="1"/>
          </p:cNvSpPr>
          <p:nvPr/>
        </p:nvSpPr>
        <p:spPr bwMode="auto">
          <a:xfrm>
            <a:off x="23622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7975" name="Text Box 89"/>
          <p:cNvSpPr txBox="1">
            <a:spLocks noChangeArrowheads="1"/>
          </p:cNvSpPr>
          <p:nvPr/>
        </p:nvSpPr>
        <p:spPr bwMode="auto">
          <a:xfrm>
            <a:off x="30480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7976" name="Text Box 90"/>
          <p:cNvSpPr txBox="1">
            <a:spLocks noChangeArrowheads="1"/>
          </p:cNvSpPr>
          <p:nvPr/>
        </p:nvSpPr>
        <p:spPr bwMode="auto">
          <a:xfrm>
            <a:off x="37338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7977" name="Text Box 91"/>
          <p:cNvSpPr txBox="1">
            <a:spLocks noChangeArrowheads="1"/>
          </p:cNvSpPr>
          <p:nvPr/>
        </p:nvSpPr>
        <p:spPr bwMode="auto">
          <a:xfrm>
            <a:off x="44196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7978" name="Text Box 92"/>
          <p:cNvSpPr txBox="1">
            <a:spLocks noChangeArrowheads="1"/>
          </p:cNvSpPr>
          <p:nvPr/>
        </p:nvSpPr>
        <p:spPr bwMode="auto">
          <a:xfrm>
            <a:off x="51054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7979" name="Text Box 93"/>
          <p:cNvSpPr txBox="1">
            <a:spLocks noChangeArrowheads="1"/>
          </p:cNvSpPr>
          <p:nvPr/>
        </p:nvSpPr>
        <p:spPr bwMode="auto">
          <a:xfrm>
            <a:off x="58674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7980" name="Text Box 94"/>
          <p:cNvSpPr txBox="1">
            <a:spLocks noChangeArrowheads="1"/>
          </p:cNvSpPr>
          <p:nvPr/>
        </p:nvSpPr>
        <p:spPr bwMode="auto">
          <a:xfrm>
            <a:off x="452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7981" name="Text Box 95"/>
          <p:cNvSpPr txBox="1">
            <a:spLocks noChangeArrowheads="1"/>
          </p:cNvSpPr>
          <p:nvPr/>
        </p:nvSpPr>
        <p:spPr bwMode="auto">
          <a:xfrm>
            <a:off x="833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7982" name="Text Box 96"/>
          <p:cNvSpPr txBox="1">
            <a:spLocks noChangeArrowheads="1"/>
          </p:cNvSpPr>
          <p:nvPr/>
        </p:nvSpPr>
        <p:spPr bwMode="auto">
          <a:xfrm>
            <a:off x="1290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7983" name="Text Box 97"/>
          <p:cNvSpPr txBox="1">
            <a:spLocks noChangeArrowheads="1"/>
          </p:cNvSpPr>
          <p:nvPr/>
        </p:nvSpPr>
        <p:spPr bwMode="auto">
          <a:xfrm>
            <a:off x="1671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7984" name="Text Box 98"/>
          <p:cNvSpPr txBox="1">
            <a:spLocks noChangeArrowheads="1"/>
          </p:cNvSpPr>
          <p:nvPr/>
        </p:nvSpPr>
        <p:spPr bwMode="auto">
          <a:xfrm>
            <a:off x="21288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7985" name="Text Box 99"/>
          <p:cNvSpPr txBox="1">
            <a:spLocks noChangeArrowheads="1"/>
          </p:cNvSpPr>
          <p:nvPr/>
        </p:nvSpPr>
        <p:spPr bwMode="auto">
          <a:xfrm>
            <a:off x="2586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7986" name="Text Box 100"/>
          <p:cNvSpPr txBox="1">
            <a:spLocks noChangeArrowheads="1"/>
          </p:cNvSpPr>
          <p:nvPr/>
        </p:nvSpPr>
        <p:spPr bwMode="auto">
          <a:xfrm>
            <a:off x="2967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7987" name="Text Box 101"/>
          <p:cNvSpPr txBox="1">
            <a:spLocks noChangeArrowheads="1"/>
          </p:cNvSpPr>
          <p:nvPr/>
        </p:nvSpPr>
        <p:spPr bwMode="auto">
          <a:xfrm>
            <a:off x="34242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7988" name="Text Box 102"/>
          <p:cNvSpPr txBox="1">
            <a:spLocks noChangeArrowheads="1"/>
          </p:cNvSpPr>
          <p:nvPr/>
        </p:nvSpPr>
        <p:spPr bwMode="auto">
          <a:xfrm>
            <a:off x="3881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7989" name="Text Box 103"/>
          <p:cNvSpPr txBox="1">
            <a:spLocks noChangeArrowheads="1"/>
          </p:cNvSpPr>
          <p:nvPr/>
        </p:nvSpPr>
        <p:spPr bwMode="auto">
          <a:xfrm>
            <a:off x="4338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7990" name="Text Box 104"/>
          <p:cNvSpPr txBox="1">
            <a:spLocks noChangeArrowheads="1"/>
          </p:cNvSpPr>
          <p:nvPr/>
        </p:nvSpPr>
        <p:spPr bwMode="auto">
          <a:xfrm>
            <a:off x="4719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7991" name="Text Box 105"/>
          <p:cNvSpPr txBox="1">
            <a:spLocks noChangeArrowheads="1"/>
          </p:cNvSpPr>
          <p:nvPr/>
        </p:nvSpPr>
        <p:spPr bwMode="auto">
          <a:xfrm>
            <a:off x="51768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7992" name="Text Box 106"/>
          <p:cNvSpPr txBox="1">
            <a:spLocks noChangeArrowheads="1"/>
          </p:cNvSpPr>
          <p:nvPr/>
        </p:nvSpPr>
        <p:spPr bwMode="auto">
          <a:xfrm>
            <a:off x="5634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7993" name="Text Box 107"/>
          <p:cNvSpPr txBox="1">
            <a:spLocks noChangeArrowheads="1"/>
          </p:cNvSpPr>
          <p:nvPr/>
        </p:nvSpPr>
        <p:spPr bwMode="auto">
          <a:xfrm>
            <a:off x="6015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7994" name="Text Box 108"/>
          <p:cNvSpPr txBox="1">
            <a:spLocks noChangeArrowheads="1"/>
          </p:cNvSpPr>
          <p:nvPr/>
        </p:nvSpPr>
        <p:spPr bwMode="auto">
          <a:xfrm>
            <a:off x="64722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7995" name="Text Box 109"/>
          <p:cNvSpPr txBox="1">
            <a:spLocks noChangeArrowheads="1"/>
          </p:cNvSpPr>
          <p:nvPr/>
        </p:nvSpPr>
        <p:spPr bwMode="auto">
          <a:xfrm>
            <a:off x="6929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7996" name="Text Box 11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97" name="Text Box 111"/>
          <p:cNvSpPr txBox="1">
            <a:spLocks noChangeArrowheads="1"/>
          </p:cNvSpPr>
          <p:nvPr/>
        </p:nvSpPr>
        <p:spPr bwMode="auto">
          <a:xfrm>
            <a:off x="1819276" y="6025356"/>
            <a:ext cx="1952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[3]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[22,23]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417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28600" y="338138"/>
            <a:ext cx="8610600" cy="804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7" tIns="44450" rIns="90487" bIns="44450" anchor="ctr"/>
          <a:lstStyle/>
          <a:p>
            <a:pPr algn="ctr">
              <a:defRPr/>
            </a:pPr>
            <a:r>
              <a:rPr lang="en-US" sz="4000" b="1" dirty="0">
                <a:solidFill>
                  <a:srgbClr val="0070C0"/>
                </a:solidFill>
                <a:ea typeface="Roboto" pitchFamily="2" charset="0"/>
              </a:rPr>
              <a:t>Activity 1: Depth-First </a:t>
            </a:r>
            <a:r>
              <a:rPr lang="en-US" sz="4000" b="1" dirty="0">
                <a:solidFill>
                  <a:srgbClr val="008000"/>
                </a:solidFill>
                <a:ea typeface="Roboto" pitchFamily="2" charset="0"/>
              </a:rPr>
              <a:t>vs. Breadth-First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228600" y="1447800"/>
            <a:ext cx="88392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Depth-first goes off into one branch until it reaches a leaf node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Not good if the goal is on another branch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Neither complete nor optimal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Uses much less space than breadth-first</a:t>
            </a:r>
            <a:endParaRPr lang="en-US" sz="2000" b="1" dirty="0">
              <a:cs typeface="Arial" charset="0"/>
            </a:endParaRPr>
          </a:p>
          <a:p>
            <a:pPr indent="-57150">
              <a:spcBef>
                <a:spcPct val="20000"/>
              </a:spcBef>
              <a:buClr>
                <a:schemeClr val="folHlink"/>
              </a:buClr>
              <a:buSzPct val="65000"/>
              <a:defRPr/>
            </a:pPr>
            <a:r>
              <a:rPr lang="en-US" sz="2000" b="1" dirty="0">
                <a:cs typeface="Arial" charset="0"/>
              </a:rPr>
              <a:t>Question 1</a:t>
            </a:r>
            <a:r>
              <a:rPr lang="en-US" sz="2000" dirty="0">
                <a:cs typeface="Arial" charset="0"/>
              </a:rPr>
              <a:t>: </a:t>
            </a:r>
            <a:r>
              <a:rPr lang="en-US" sz="2000" u="sng" dirty="0">
                <a:cs typeface="Arial" charset="0"/>
              </a:rPr>
              <a:t>Give reasons why Depth First search uses less space that breadth first?</a:t>
            </a: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endParaRPr lang="en-US" sz="2000" dirty="0">
              <a:cs typeface="Arial" charset="0"/>
            </a:endParaRP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Breadth-first is more careful by checking all alternatives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Complete and optimal </a:t>
            </a:r>
          </a:p>
          <a:p>
            <a:pPr marL="1028700" lvl="2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Under most circumstances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But ..Very memory-intensive !!</a:t>
            </a:r>
          </a:p>
          <a:p>
            <a:pPr indent="-57150">
              <a:spcBef>
                <a:spcPct val="20000"/>
              </a:spcBef>
              <a:buClr>
                <a:schemeClr val="folHlink"/>
              </a:buClr>
              <a:buSzPct val="65000"/>
              <a:defRPr/>
            </a:pPr>
            <a:r>
              <a:rPr lang="en-US" sz="2000" b="1" dirty="0">
                <a:cs typeface="Arial" charset="0"/>
              </a:rPr>
              <a:t>Question 2</a:t>
            </a:r>
            <a:r>
              <a:rPr lang="en-US" sz="2000" dirty="0">
                <a:cs typeface="Arial" charset="0"/>
              </a:rPr>
              <a:t>: </a:t>
            </a:r>
            <a:r>
              <a:rPr lang="en-US" sz="2000" u="sng" dirty="0">
                <a:cs typeface="Arial" charset="0"/>
              </a:rPr>
              <a:t>Give a reason why Breadth First search uses very memory-intensive?</a:t>
            </a:r>
          </a:p>
        </p:txBody>
      </p:sp>
    </p:spTree>
    <p:extLst>
      <p:ext uri="{BB962C8B-B14F-4D97-AF65-F5344CB8AC3E}">
        <p14:creationId xmlns:p14="http://schemas.microsoft.com/office/powerpoint/2010/main" val="3083625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28600" y="338138"/>
            <a:ext cx="8610600" cy="804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7" tIns="44450" rIns="90487" bIns="44450" anchor="ctr"/>
          <a:lstStyle/>
          <a:p>
            <a:pPr algn="ctr">
              <a:defRPr/>
            </a:pPr>
            <a:r>
              <a:rPr lang="en-US" sz="4000" b="1" dirty="0">
                <a:solidFill>
                  <a:srgbClr val="0070C0"/>
                </a:solidFill>
                <a:ea typeface="Roboto" pitchFamily="2" charset="0"/>
              </a:rPr>
              <a:t>Activity 1: Depth-First </a:t>
            </a:r>
            <a:r>
              <a:rPr lang="en-US" sz="4000" b="1" dirty="0">
                <a:solidFill>
                  <a:srgbClr val="008000"/>
                </a:solidFill>
                <a:ea typeface="Roboto" pitchFamily="2" charset="0"/>
              </a:rPr>
              <a:t>vs. Breadth-First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228600" y="1447800"/>
            <a:ext cx="8839200" cy="48767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Depth-first goes off into one branch until it reaches a leaf node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Not good if the goal is on another branch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Neither complete nor optimal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Uses much less space than breadth-first</a:t>
            </a:r>
          </a:p>
          <a:p>
            <a:pPr marL="1028700" lvl="2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b="1" dirty="0">
                <a:cs typeface="Arial" charset="0"/>
              </a:rPr>
              <a:t>Answer #1</a:t>
            </a:r>
            <a:r>
              <a:rPr lang="en-US" dirty="0">
                <a:cs typeface="Arial" charset="0"/>
              </a:rPr>
              <a:t>: </a:t>
            </a:r>
          </a:p>
          <a:p>
            <a:pPr marL="1485900" lvl="3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u="sng" dirty="0">
                <a:cs typeface="Arial" charset="0"/>
              </a:rPr>
              <a:t>Much fewer visited nodes to keep track of</a:t>
            </a:r>
          </a:p>
          <a:p>
            <a:pPr marL="1485900" lvl="3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u="sng" dirty="0">
                <a:cs typeface="Arial" charset="0"/>
              </a:rPr>
              <a:t>Smaller fringe</a:t>
            </a: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Breadth-first is more careful by checking all alternatives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Complete and optimal </a:t>
            </a:r>
          </a:p>
          <a:p>
            <a:pPr marL="1028700" lvl="2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Under most circumstances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cs typeface="Arial" charset="0"/>
              </a:rPr>
              <a:t>But ..Very memory-intensive !!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b="1" dirty="0">
                <a:cs typeface="Arial" charset="0"/>
              </a:rPr>
              <a:t>Answer #2:</a:t>
            </a:r>
          </a:p>
          <a:p>
            <a:pPr marL="1143000" lvl="2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en-US" u="sng" dirty="0">
                <a:solidFill>
                  <a:srgbClr val="2427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specifically, BFS uses </a:t>
            </a:r>
            <a:r>
              <a:rPr lang="en-US" altLang="en-US" u="sng" dirty="0">
                <a:solidFill>
                  <a:srgbClr val="242729"/>
                </a:solidFill>
                <a:latin typeface="Consolas" panose="020B0609020204030204" pitchFamily="49" charset="0"/>
              </a:rPr>
              <a:t>O(</a:t>
            </a:r>
            <a:r>
              <a:rPr lang="en-US" altLang="en-US" u="sng" dirty="0" err="1">
                <a:solidFill>
                  <a:srgbClr val="242729"/>
                </a:solidFill>
                <a:latin typeface="Consolas" panose="020B0609020204030204" pitchFamily="49" charset="0"/>
              </a:rPr>
              <a:t>branchingFactor^maxDepth</a:t>
            </a:r>
            <a:r>
              <a:rPr lang="en-US" altLang="en-US" u="sng" dirty="0">
                <a:solidFill>
                  <a:srgbClr val="242729"/>
                </a:solidFill>
                <a:latin typeface="Consolas" panose="020B0609020204030204" pitchFamily="49" charset="0"/>
              </a:rPr>
              <a:t>)</a:t>
            </a:r>
            <a:r>
              <a:rPr lang="en-US" altLang="en-US" u="sng" dirty="0">
                <a:solidFill>
                  <a:srgbClr val="2427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or </a:t>
            </a:r>
            <a:r>
              <a:rPr lang="en-US" altLang="en-US" u="sng" dirty="0">
                <a:solidFill>
                  <a:srgbClr val="242729"/>
                </a:solidFill>
                <a:latin typeface="Consolas" panose="020B0609020204030204" pitchFamily="49" charset="0"/>
              </a:rPr>
              <a:t>O(</a:t>
            </a:r>
            <a:r>
              <a:rPr lang="en-US" altLang="en-US" u="sng" dirty="0" err="1">
                <a:solidFill>
                  <a:srgbClr val="242729"/>
                </a:solidFill>
                <a:latin typeface="Consolas" panose="020B0609020204030204" pitchFamily="49" charset="0"/>
              </a:rPr>
              <a:t>maxWidth</a:t>
            </a:r>
            <a:r>
              <a:rPr lang="en-US" altLang="en-US" u="sng" dirty="0">
                <a:solidFill>
                  <a:srgbClr val="242729"/>
                </a:solidFill>
                <a:latin typeface="Consolas" panose="020B0609020204030204" pitchFamily="49" charset="0"/>
              </a:rPr>
              <a:t>)</a:t>
            </a:r>
            <a:r>
              <a:rPr lang="en-US" altLang="en-US" u="sng" dirty="0">
                <a:solidFill>
                  <a:srgbClr val="2427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memory, where-as DFS only uses </a:t>
            </a:r>
            <a:r>
              <a:rPr lang="en-US" altLang="en-US" u="sng" dirty="0">
                <a:solidFill>
                  <a:srgbClr val="242729"/>
                </a:solidFill>
                <a:latin typeface="Consolas" panose="020B0609020204030204" pitchFamily="49" charset="0"/>
              </a:rPr>
              <a:t>O(</a:t>
            </a:r>
            <a:r>
              <a:rPr lang="en-US" altLang="en-US" u="sng" dirty="0" err="1">
                <a:solidFill>
                  <a:srgbClr val="242729"/>
                </a:solidFill>
                <a:latin typeface="Consolas" panose="020B0609020204030204" pitchFamily="49" charset="0"/>
              </a:rPr>
              <a:t>maxDepth</a:t>
            </a:r>
            <a:r>
              <a:rPr lang="en-US" altLang="en-US" u="sng" dirty="0">
                <a:solidFill>
                  <a:srgbClr val="242729"/>
                </a:solidFill>
                <a:latin typeface="Consolas" panose="020B0609020204030204" pitchFamily="49" charset="0"/>
              </a:rPr>
              <a:t>)</a:t>
            </a:r>
            <a:r>
              <a:rPr lang="en-US" altLang="en-US" u="sng" dirty="0">
                <a:solidFill>
                  <a:srgbClr val="2427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u="sng" dirty="0"/>
              <a:t> </a:t>
            </a:r>
            <a:endParaRPr lang="en-US" altLang="en-US" u="sng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491FD3D-0B6D-4669-9738-12A3D9579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EFF0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205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6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64826" y="2259238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413000" y="2246538"/>
            <a:ext cx="6705600" cy="133082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Using State Space to </a:t>
            </a:r>
            <a:r>
              <a:rPr lang="en-US" sz="4000" b="1" dirty="0">
                <a:latin typeface="Roboto" pitchFamily="2" charset="0"/>
                <a:ea typeface="Roboto" pitchFamily="2" charset="0"/>
              </a:rPr>
              <a:t>Represent Reasoning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0800" y="3548088"/>
            <a:ext cx="621702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3200" dirty="0"/>
              <a:t>And/or graph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3200" dirty="0"/>
              <a:t>Hypergraph</a:t>
            </a:r>
            <a:endParaRPr lang="en-US" alt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670362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7543800" cy="990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Using State Space to Represent Reasoning : </a:t>
            </a:r>
            <a:r>
              <a:rPr lang="en-US" sz="4000" b="1" dirty="0">
                <a:solidFill>
                  <a:srgbClr val="C00000"/>
                </a:solidFill>
                <a:latin typeface="+mn-lt"/>
                <a:ea typeface="Roboto" pitchFamily="2" charset="0"/>
                <a:cs typeface="+mn-cs"/>
              </a:rPr>
              <a:t>Predicate calculus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64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Predicate calculus – map nodes/some states of a graph onto state space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Inference rules – describe the arc between states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err="1"/>
              <a:t>Eg</a:t>
            </a:r>
            <a:r>
              <a:rPr lang="en-US" sz="2400" dirty="0"/>
              <a:t>. Is expression a logical consequence of given assertion? Use search to solve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Guarantee correctness of conclusion derived- </a:t>
            </a:r>
            <a:r>
              <a:rPr lang="en-US" sz="2400" dirty="0">
                <a:solidFill>
                  <a:srgbClr val="C00000"/>
                </a:solidFill>
              </a:rPr>
              <a:t>a formal proof </a:t>
            </a:r>
            <a:r>
              <a:rPr lang="en-US" sz="2400" dirty="0"/>
              <a:t>of integrity of solution</a:t>
            </a:r>
          </a:p>
        </p:txBody>
      </p:sp>
    </p:spTree>
    <p:extLst>
      <p:ext uri="{BB962C8B-B14F-4D97-AF65-F5344CB8AC3E}">
        <p14:creationId xmlns:p14="http://schemas.microsoft.com/office/powerpoint/2010/main" val="3343877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76200" y="1445512"/>
            <a:ext cx="9067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Example: Define a graph from propositional calculus to view the logical relationships. </a:t>
            </a:r>
            <a:endParaRPr lang="en-US" altLang="en-US" sz="18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809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027982"/>
            <a:ext cx="3929062" cy="325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48981"/>
            <a:ext cx="1025086" cy="306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7"/>
          <p:cNvSpPr>
            <a:spLocks noChangeArrowheads="1"/>
          </p:cNvSpPr>
          <p:nvPr/>
        </p:nvSpPr>
        <p:spPr bwMode="auto">
          <a:xfrm>
            <a:off x="139700" y="5187949"/>
            <a:ext cx="487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800" dirty="0"/>
              <a:t>State space graph of a set of implications in the propositional calculus.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800" dirty="0"/>
              <a:t>Reasoning:- How to infer </a:t>
            </a:r>
            <a:r>
              <a:rPr lang="en-US" altLang="en-US" sz="1800" i="1" dirty="0"/>
              <a:t>p</a:t>
            </a:r>
            <a:r>
              <a:rPr lang="en-US" altLang="en-US" sz="1800" dirty="0"/>
              <a:t> using </a:t>
            </a:r>
            <a:r>
              <a:rPr lang="en-US" altLang="en-US" sz="1800" dirty="0" err="1"/>
              <a:t>moden</a:t>
            </a:r>
            <a:r>
              <a:rPr lang="en-US" altLang="en-US" sz="1800" dirty="0"/>
              <a:t> ponens?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105400" y="5393620"/>
            <a:ext cx="2362200" cy="7889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s , s --&gt;r yields 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r ,  r --&gt;p yields p</a:t>
            </a:r>
          </a:p>
        </p:txBody>
      </p:sp>
      <p:sp>
        <p:nvSpPr>
          <p:cNvPr id="40967" name="Text Box 11"/>
          <p:cNvSpPr txBox="1">
            <a:spLocks noChangeArrowheads="1"/>
          </p:cNvSpPr>
          <p:nvPr/>
        </p:nvSpPr>
        <p:spPr bwMode="auto">
          <a:xfrm>
            <a:off x="2276549" y="2027982"/>
            <a:ext cx="2755900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</a:rPr>
              <a:t>Translate into graph?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00200" y="69854"/>
            <a:ext cx="7543800" cy="126906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Draw a graph: </a:t>
            </a:r>
            <a:r>
              <a:rPr lang="en-US" sz="4000" b="1" dirty="0">
                <a:solidFill>
                  <a:srgbClr val="C00000"/>
                </a:solidFill>
                <a:latin typeface="+mn-lt"/>
                <a:ea typeface="Roboto" pitchFamily="2" charset="0"/>
                <a:cs typeface="+mn-cs"/>
              </a:rPr>
              <a:t>Propositional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39844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00200" y="69854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Activity 2: From propositional calculus to a 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EF722699-81E4-4C67-821D-94F3F445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13" y="1510506"/>
            <a:ext cx="78216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/>
            <a:r>
              <a:rPr lang="en-US" altLang="en-US" dirty="0">
                <a:solidFill>
                  <a:srgbClr val="C00000"/>
                </a:solidFill>
                <a:latin typeface="+mn-lt"/>
              </a:rPr>
              <a:t>	Give a set of propositional calculus expressions, you are required to draw a graph.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xmlns="" id="{569D6EAE-6155-414B-9A65-210AA41D9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3581400"/>
            <a:ext cx="25019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xmlns="" id="{3E593F7D-C1D4-47FD-9970-8F9572C2A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3840440"/>
            <a:ext cx="2501900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chemeClr val="bg1"/>
                </a:solidFill>
              </a:rPr>
              <a:t>Draw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E1BFCA1-3EEA-4EEF-9C19-5CE3C89836C1}"/>
              </a:ext>
            </a:extLst>
          </p:cNvPr>
          <p:cNvSpPr txBox="1"/>
          <p:nvPr/>
        </p:nvSpPr>
        <p:spPr>
          <a:xfrm>
            <a:off x="433995" y="2440057"/>
            <a:ext cx="118173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  <a:p>
            <a:r>
              <a:rPr lang="en-US" sz="3200" b="1" dirty="0"/>
              <a:t>b</a:t>
            </a:r>
          </a:p>
          <a:p>
            <a:r>
              <a:rPr lang="en-US" sz="3200" b="1" dirty="0"/>
              <a:t>c</a:t>
            </a:r>
          </a:p>
          <a:p>
            <a:r>
              <a:rPr lang="en-US" sz="3200" b="1" dirty="0"/>
              <a:t>a </a:t>
            </a:r>
            <a:r>
              <a:rPr lang="en-US" sz="3200" b="1" dirty="0">
                <a:sym typeface="Wingdings" panose="05000000000000000000" pitchFamily="2" charset="2"/>
              </a:rPr>
              <a:t> e</a:t>
            </a:r>
          </a:p>
          <a:p>
            <a:r>
              <a:rPr lang="en-US" sz="3200" b="1" dirty="0"/>
              <a:t>c </a:t>
            </a:r>
            <a:r>
              <a:rPr lang="en-US" sz="3200" b="1" dirty="0">
                <a:sym typeface="Wingdings" panose="05000000000000000000" pitchFamily="2" charset="2"/>
              </a:rPr>
              <a:t> e</a:t>
            </a:r>
          </a:p>
          <a:p>
            <a:r>
              <a:rPr lang="en-US" sz="3200" b="1" dirty="0"/>
              <a:t>b </a:t>
            </a:r>
            <a:r>
              <a:rPr lang="en-US" sz="3200" b="1" dirty="0">
                <a:sym typeface="Wingdings" panose="05000000000000000000" pitchFamily="2" charset="2"/>
              </a:rPr>
              <a:t> f</a:t>
            </a:r>
          </a:p>
          <a:p>
            <a:r>
              <a:rPr lang="en-US" sz="3200" b="1" dirty="0"/>
              <a:t>c </a:t>
            </a:r>
            <a:r>
              <a:rPr lang="en-US" sz="3200" b="1" dirty="0">
                <a:sym typeface="Wingdings" panose="05000000000000000000" pitchFamily="2" charset="2"/>
              </a:rPr>
              <a:t> f</a:t>
            </a:r>
          </a:p>
          <a:p>
            <a:r>
              <a:rPr lang="en-US" sz="3200" b="1" dirty="0"/>
              <a:t>f </a:t>
            </a:r>
            <a:r>
              <a:rPr lang="en-US" sz="3200" b="1" dirty="0">
                <a:sym typeface="Wingdings" panose="05000000000000000000" pitchFamily="2" charset="2"/>
              </a:rPr>
              <a:t> 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BB8C5E6-33D0-486C-BC2A-D44E8A6F18F7}"/>
              </a:ext>
            </a:extLst>
          </p:cNvPr>
          <p:cNvSpPr/>
          <p:nvPr/>
        </p:nvSpPr>
        <p:spPr>
          <a:xfrm>
            <a:off x="5031686" y="2440057"/>
            <a:ext cx="3121713" cy="38082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95856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00200" y="69854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Activity 2: From propositional calculus to a 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EF722699-81E4-4C67-821D-94F3F445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13" y="1510506"/>
            <a:ext cx="78216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/>
            <a:r>
              <a:rPr lang="en-US" altLang="en-US" dirty="0">
                <a:solidFill>
                  <a:srgbClr val="C00000"/>
                </a:solidFill>
                <a:latin typeface="+mn-lt"/>
              </a:rPr>
              <a:t>	Give a set of propositional calculus expressions, you are required to draw a graph.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xmlns="" id="{569D6EAE-6155-414B-9A65-210AA41D9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581400"/>
            <a:ext cx="25019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xmlns="" id="{3E593F7D-C1D4-47FD-9970-8F9572C2A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40440"/>
            <a:ext cx="2501900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chemeClr val="bg1"/>
                </a:solidFill>
              </a:rPr>
              <a:t>Draw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E1BFCA1-3EEA-4EEF-9C19-5CE3C89836C1}"/>
              </a:ext>
            </a:extLst>
          </p:cNvPr>
          <p:cNvSpPr txBox="1"/>
          <p:nvPr/>
        </p:nvSpPr>
        <p:spPr>
          <a:xfrm>
            <a:off x="433995" y="2440057"/>
            <a:ext cx="118173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  <a:p>
            <a:r>
              <a:rPr lang="en-US" sz="3200" b="1" dirty="0"/>
              <a:t>b</a:t>
            </a:r>
          </a:p>
          <a:p>
            <a:r>
              <a:rPr lang="en-US" sz="3200" b="1" dirty="0"/>
              <a:t>c</a:t>
            </a:r>
          </a:p>
          <a:p>
            <a:r>
              <a:rPr lang="en-US" sz="3200" b="1" dirty="0"/>
              <a:t>a </a:t>
            </a:r>
            <a:r>
              <a:rPr lang="en-US" sz="3200" b="1" dirty="0">
                <a:sym typeface="Wingdings" panose="05000000000000000000" pitchFamily="2" charset="2"/>
              </a:rPr>
              <a:t> e</a:t>
            </a:r>
          </a:p>
          <a:p>
            <a:r>
              <a:rPr lang="en-US" sz="3200" b="1" dirty="0"/>
              <a:t>c </a:t>
            </a:r>
            <a:r>
              <a:rPr lang="en-US" sz="3200" b="1" dirty="0">
                <a:sym typeface="Wingdings" panose="05000000000000000000" pitchFamily="2" charset="2"/>
              </a:rPr>
              <a:t> e</a:t>
            </a:r>
          </a:p>
          <a:p>
            <a:r>
              <a:rPr lang="en-US" sz="3200" b="1" dirty="0"/>
              <a:t>b </a:t>
            </a:r>
            <a:r>
              <a:rPr lang="en-US" sz="3200" b="1" dirty="0">
                <a:sym typeface="Wingdings" panose="05000000000000000000" pitchFamily="2" charset="2"/>
              </a:rPr>
              <a:t> f</a:t>
            </a:r>
          </a:p>
          <a:p>
            <a:r>
              <a:rPr lang="en-US" sz="3200" b="1" dirty="0"/>
              <a:t>c </a:t>
            </a:r>
            <a:r>
              <a:rPr lang="en-US" sz="3200" b="1" dirty="0">
                <a:sym typeface="Wingdings" panose="05000000000000000000" pitchFamily="2" charset="2"/>
              </a:rPr>
              <a:t> f</a:t>
            </a:r>
          </a:p>
          <a:p>
            <a:r>
              <a:rPr lang="en-US" sz="3200" b="1" dirty="0"/>
              <a:t>f </a:t>
            </a:r>
            <a:r>
              <a:rPr lang="en-US" sz="3200" b="1" dirty="0">
                <a:sym typeface="Wingdings" panose="05000000000000000000" pitchFamily="2" charset="2"/>
              </a:rPr>
              <a:t> 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0B07DF2-549F-42B7-A0D5-C39787F2B709}"/>
              </a:ext>
            </a:extLst>
          </p:cNvPr>
          <p:cNvSpPr/>
          <p:nvPr/>
        </p:nvSpPr>
        <p:spPr>
          <a:xfrm>
            <a:off x="5257800" y="5297560"/>
            <a:ext cx="637953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</a:t>
            </a:r>
            <a:endParaRPr lang="en-MY" sz="3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EE4C826A-7EA5-402E-BBF6-81CE41BFA815}"/>
              </a:ext>
            </a:extLst>
          </p:cNvPr>
          <p:cNvSpPr/>
          <p:nvPr/>
        </p:nvSpPr>
        <p:spPr>
          <a:xfrm>
            <a:off x="7655295" y="5297560"/>
            <a:ext cx="637953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b</a:t>
            </a:r>
            <a:endParaRPr lang="en-MY" sz="3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B6609D7-2F93-4047-A2ED-BDF50D7AB4FC}"/>
              </a:ext>
            </a:extLst>
          </p:cNvPr>
          <p:cNvSpPr/>
          <p:nvPr/>
        </p:nvSpPr>
        <p:spPr>
          <a:xfrm>
            <a:off x="6321057" y="5298243"/>
            <a:ext cx="637953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</a:t>
            </a:r>
            <a:endParaRPr lang="en-MY" sz="3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831D405-5B56-44C3-9760-D2A68C481EAF}"/>
              </a:ext>
            </a:extLst>
          </p:cNvPr>
          <p:cNvSpPr/>
          <p:nvPr/>
        </p:nvSpPr>
        <p:spPr>
          <a:xfrm>
            <a:off x="5895753" y="4209772"/>
            <a:ext cx="4427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ym typeface="Wingdings" panose="05000000000000000000" pitchFamily="2" charset="2"/>
              </a:rPr>
              <a:t>e</a:t>
            </a:r>
            <a:endParaRPr lang="en-MY" sz="4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C735697-4099-4F6F-A6F3-00A484E275A7}"/>
              </a:ext>
            </a:extLst>
          </p:cNvPr>
          <p:cNvSpPr/>
          <p:nvPr/>
        </p:nvSpPr>
        <p:spPr>
          <a:xfrm>
            <a:off x="7752633" y="4162555"/>
            <a:ext cx="3465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ym typeface="Wingdings" panose="05000000000000000000" pitchFamily="2" charset="2"/>
              </a:rPr>
              <a:t>f</a:t>
            </a:r>
            <a:endParaRPr lang="en-MY" sz="4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CB4DDA1-3B87-477F-80EB-67733653B792}"/>
              </a:ext>
            </a:extLst>
          </p:cNvPr>
          <p:cNvSpPr/>
          <p:nvPr/>
        </p:nvSpPr>
        <p:spPr>
          <a:xfrm>
            <a:off x="7704543" y="3006898"/>
            <a:ext cx="442750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4000" b="1" dirty="0">
                <a:sym typeface="Wingdings" panose="05000000000000000000" pitchFamily="2" charset="2"/>
              </a:rPr>
              <a:t>g</a:t>
            </a:r>
            <a:endParaRPr lang="en-MY" sz="4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4B3B42A2-DF9A-47E9-9D78-2D132DED469D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576777" y="4740345"/>
            <a:ext cx="387097" cy="557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49C2E8CA-80B9-4D61-82D5-E403CBA77846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252936" y="4740345"/>
            <a:ext cx="387098" cy="557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EAD15118-E287-4A61-9DE6-EC3879D7F6E2}"/>
              </a:ext>
            </a:extLst>
          </p:cNvPr>
          <p:cNvCxnSpPr>
            <a:cxnSpLocks/>
          </p:cNvCxnSpPr>
          <p:nvPr/>
        </p:nvCxnSpPr>
        <p:spPr>
          <a:xfrm flipH="1" flipV="1">
            <a:off x="7922499" y="4693231"/>
            <a:ext cx="3419" cy="6043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C912FDE8-5A56-42D1-8309-6D657705DB26}"/>
              </a:ext>
            </a:extLst>
          </p:cNvPr>
          <p:cNvCxnSpPr>
            <a:stCxn id="20" idx="0"/>
            <a:endCxn id="21" idx="2"/>
          </p:cNvCxnSpPr>
          <p:nvPr/>
        </p:nvCxnSpPr>
        <p:spPr>
          <a:xfrm flipV="1">
            <a:off x="7925918" y="3714784"/>
            <a:ext cx="0" cy="447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B8CFE4FF-3C26-4538-819F-8CDBF25429FC}"/>
              </a:ext>
            </a:extLst>
          </p:cNvPr>
          <p:cNvCxnSpPr>
            <a:stCxn id="18" idx="0"/>
          </p:cNvCxnSpPr>
          <p:nvPr/>
        </p:nvCxnSpPr>
        <p:spPr>
          <a:xfrm flipV="1">
            <a:off x="6640034" y="4693231"/>
            <a:ext cx="1132366" cy="605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573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/>
          <p:cNvSpPr txBox="1">
            <a:spLocks noChangeArrowheads="1"/>
          </p:cNvSpPr>
          <p:nvPr/>
        </p:nvSpPr>
        <p:spPr bwMode="auto">
          <a:xfrm>
            <a:off x="1377950" y="263085"/>
            <a:ext cx="751840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latin typeface="+mn-lt"/>
                <a:ea typeface="Roboto" pitchFamily="2" charset="0"/>
                <a:cs typeface="+mn-cs"/>
              </a:rPr>
              <a:t>And/or graph</a:t>
            </a:r>
          </a:p>
          <a:p>
            <a:pPr algn="ctr"/>
            <a:endParaRPr lang="en-US" altLang="en-US" sz="2800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953434"/>
            <a:ext cx="2495550" cy="1761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96000"/>
            <a:ext cx="3873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096000"/>
            <a:ext cx="41910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Text Box 8"/>
          <p:cNvSpPr txBox="1">
            <a:spLocks noChangeArrowheads="1"/>
          </p:cNvSpPr>
          <p:nvPr/>
        </p:nvSpPr>
        <p:spPr bwMode="auto">
          <a:xfrm>
            <a:off x="304800" y="1490758"/>
            <a:ext cx="8458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n-lt"/>
              </a:rPr>
              <a:t>To represent logical operators AND </a:t>
            </a:r>
            <a:r>
              <a:rPr lang="en-US" altLang="en-US" dirty="0" err="1">
                <a:latin typeface="+mn-lt"/>
              </a:rPr>
              <a:t>and</a:t>
            </a:r>
            <a:r>
              <a:rPr lang="en-US" altLang="en-US" dirty="0">
                <a:latin typeface="+mn-lt"/>
              </a:rPr>
              <a:t> OR in predicate calculus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n-lt"/>
              </a:rPr>
              <a:t> extension of basic graph model known as </a:t>
            </a:r>
            <a:r>
              <a:rPr lang="en-US" altLang="en-US" dirty="0">
                <a:solidFill>
                  <a:srgbClr val="C00000"/>
                </a:solidFill>
                <a:latin typeface="+mn-lt"/>
              </a:rPr>
              <a:t>and/or graph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n-lt"/>
              </a:rPr>
              <a:t>To differ the relationships graphically, curve link indicates operator AND.</a:t>
            </a:r>
            <a:endParaRPr lang="en-US" altLang="en-US" dirty="0">
              <a:solidFill>
                <a:schemeClr val="folHlink"/>
              </a:solidFill>
              <a:latin typeface="+mn-lt"/>
            </a:endParaRPr>
          </a:p>
        </p:txBody>
      </p:sp>
      <p:pic>
        <p:nvPicPr>
          <p:cNvPr id="41991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3810000"/>
            <a:ext cx="2579334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2" name="Text Box 10"/>
          <p:cNvSpPr txBox="1">
            <a:spLocks noChangeArrowheads="1"/>
          </p:cNvSpPr>
          <p:nvPr/>
        </p:nvSpPr>
        <p:spPr bwMode="auto">
          <a:xfrm>
            <a:off x="457200" y="59436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q             r              p</a:t>
            </a:r>
          </a:p>
        </p:txBody>
      </p:sp>
      <p:sp>
        <p:nvSpPr>
          <p:cNvPr id="41993" name="Text Box 12"/>
          <p:cNvSpPr txBox="1">
            <a:spLocks noChangeArrowheads="1"/>
          </p:cNvSpPr>
          <p:nvPr/>
        </p:nvSpPr>
        <p:spPr bwMode="auto">
          <a:xfrm>
            <a:off x="3886200" y="5948362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q           r          p</a:t>
            </a:r>
          </a:p>
        </p:txBody>
      </p:sp>
      <p:pic>
        <p:nvPicPr>
          <p:cNvPr id="41994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6024562"/>
            <a:ext cx="35401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6100762"/>
            <a:ext cx="41910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7845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38400"/>
            <a:ext cx="8002587" cy="4024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Text Box 5"/>
          <p:cNvSpPr txBox="1">
            <a:spLocks noChangeArrowheads="1"/>
          </p:cNvSpPr>
          <p:nvPr/>
        </p:nvSpPr>
        <p:spPr bwMode="auto">
          <a:xfrm>
            <a:off x="381000" y="1524000"/>
            <a:ext cx="838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latin typeface="+mn-lt"/>
              </a:rPr>
              <a:t>AND/OR graph is a specialization of a type of graph known as </a:t>
            </a:r>
            <a:r>
              <a:rPr lang="en-US" altLang="en-US" sz="2000" i="1" dirty="0">
                <a:solidFill>
                  <a:srgbClr val="C00000"/>
                </a:solidFill>
                <a:latin typeface="+mn-lt"/>
              </a:rPr>
              <a:t>hypergraph</a:t>
            </a:r>
            <a:r>
              <a:rPr lang="en-US" altLang="en-US" sz="2000" i="1" dirty="0">
                <a:latin typeface="+mn-lt"/>
              </a:rPr>
              <a:t>, </a:t>
            </a:r>
            <a:r>
              <a:rPr lang="en-US" altLang="en-US" sz="2000" dirty="0">
                <a:latin typeface="+mn-lt"/>
              </a:rPr>
              <a:t>which connects nodes by sets of arcs rather than a single arcs</a:t>
            </a:r>
            <a:endParaRPr lang="en-US" altLang="en-US" sz="2000" i="1" dirty="0">
              <a:latin typeface="+mn-lt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910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573212"/>
            <a:ext cx="4090987" cy="490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-49213" y="1510506"/>
            <a:ext cx="78216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/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	</a:t>
            </a:r>
            <a:r>
              <a:rPr lang="en-US" altLang="en-US" sz="1800" dirty="0" err="1">
                <a:solidFill>
                  <a:srgbClr val="C00000"/>
                </a:solidFill>
                <a:latin typeface="+mn-lt"/>
              </a:rPr>
              <a:t>eg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. And/or graph of a set of propositional calculus expressions.</a:t>
            </a:r>
          </a:p>
        </p:txBody>
      </p:sp>
      <p:pic>
        <p:nvPicPr>
          <p:cNvPr id="440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17272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Line 7"/>
          <p:cNvSpPr>
            <a:spLocks noChangeShapeType="1"/>
          </p:cNvSpPr>
          <p:nvPr/>
        </p:nvSpPr>
        <p:spPr bwMode="auto">
          <a:xfrm>
            <a:off x="2895600" y="3581400"/>
            <a:ext cx="25019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38" name="Rectangle 8"/>
          <p:cNvSpPr>
            <a:spLocks noChangeArrowheads="1"/>
          </p:cNvSpPr>
          <p:nvPr/>
        </p:nvSpPr>
        <p:spPr bwMode="auto">
          <a:xfrm>
            <a:off x="2895600" y="3840440"/>
            <a:ext cx="2501900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chemeClr val="bg1"/>
                </a:solidFill>
              </a:rPr>
              <a:t>Draw the and/or graph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18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/>
          <p:cNvSpPr txBox="1">
            <a:spLocks noChangeArrowheads="1"/>
          </p:cNvSpPr>
          <p:nvPr/>
        </p:nvSpPr>
        <p:spPr bwMode="auto">
          <a:xfrm>
            <a:off x="5334000" y="1752600"/>
            <a:ext cx="36576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114300" indent="-114300"/>
            <a:r>
              <a:rPr lang="en-US" altLang="en-US" sz="2000" dirty="0">
                <a:latin typeface="+mn-lt"/>
              </a:rPr>
              <a:t>More example:</a:t>
            </a:r>
          </a:p>
          <a:p>
            <a:pPr marL="0" indent="0"/>
            <a:r>
              <a:rPr lang="en-US" altLang="en-US" sz="2000" dirty="0">
                <a:latin typeface="+mn-lt"/>
              </a:rPr>
              <a:t>And/or graph of part of the state space for integrating a function, from Nilsson (1971).</a:t>
            </a:r>
          </a:p>
        </p:txBody>
      </p:sp>
      <p:pic>
        <p:nvPicPr>
          <p:cNvPr id="4505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4840"/>
            <a:ext cx="5029200" cy="497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5715000" y="3965520"/>
            <a:ext cx="3276600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chemeClr val="bg1"/>
                </a:solidFill>
              </a:rPr>
              <a:t>Goal-directed search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2585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1524000"/>
            <a:ext cx="631604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Oval 6"/>
          <p:cNvSpPr>
            <a:spLocks noChangeArrowheads="1"/>
          </p:cNvSpPr>
          <p:nvPr/>
        </p:nvSpPr>
        <p:spPr bwMode="auto">
          <a:xfrm>
            <a:off x="4876800" y="3124200"/>
            <a:ext cx="2209800" cy="624741"/>
          </a:xfrm>
          <a:prstGeom prst="ellipse">
            <a:avLst/>
          </a:prstGeom>
          <a:solidFill>
            <a:srgbClr val="C00000">
              <a:alpha val="4705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46085" name="Line 7"/>
          <p:cNvSpPr>
            <a:spLocks noChangeShapeType="1"/>
          </p:cNvSpPr>
          <p:nvPr/>
        </p:nvSpPr>
        <p:spPr bwMode="auto">
          <a:xfrm flipH="1" flipV="1">
            <a:off x="1600200" y="1812924"/>
            <a:ext cx="3276600" cy="161607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4038600" y="1965325"/>
            <a:ext cx="4953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+mn-lt"/>
              </a:rPr>
              <a:t>More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Where is Fred??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The facts and rules of this example are given as English sentences followed by their predicate calculus equivalents:</a:t>
            </a:r>
            <a:endParaRPr lang="en-US" altLang="en-US" dirty="0">
              <a:latin typeface="+mn-lt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012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>
            <a:spLocks noChangeArrowheads="1"/>
          </p:cNvSpPr>
          <p:nvPr/>
        </p:nvSpPr>
        <p:spPr bwMode="auto">
          <a:xfrm>
            <a:off x="117474" y="1428819"/>
            <a:ext cx="9026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Where is Fred???..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The solution subgraph showing that </a:t>
            </a:r>
            <a:r>
              <a:rPr lang="en-US" altLang="en-US" sz="2000" dirty="0" err="1">
                <a:solidFill>
                  <a:srgbClr val="C00000"/>
                </a:solidFill>
                <a:latin typeface="+mn-lt"/>
              </a:rPr>
              <a:t>fred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 is ???</a:t>
            </a:r>
            <a:endParaRPr lang="en-US" alt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4710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12962"/>
            <a:ext cx="6955057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7394803" y="2667000"/>
            <a:ext cx="17491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 dirty="0">
                <a:solidFill>
                  <a:srgbClr val="C00000"/>
                </a:solidFill>
                <a:latin typeface="+mn-lt"/>
              </a:rPr>
              <a:t>at the museum</a:t>
            </a:r>
          </a:p>
        </p:txBody>
      </p:sp>
      <p:sp>
        <p:nvSpPr>
          <p:cNvPr id="47109" name="Text Box 7"/>
          <p:cNvSpPr txBox="1">
            <a:spLocks noChangeArrowheads="1"/>
          </p:cNvSpPr>
          <p:nvPr/>
        </p:nvSpPr>
        <p:spPr bwMode="auto">
          <a:xfrm>
            <a:off x="381000" y="6019800"/>
            <a:ext cx="6858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chemeClr val="bg1"/>
                </a:solidFill>
                <a:latin typeface="+mn-lt"/>
              </a:rPr>
              <a:t>Goal-driven search using predicate calculus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35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420191"/>
            <a:ext cx="5823266" cy="506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6"/>
          <p:cNvSpPr>
            <a:spLocks noChangeArrowheads="1"/>
          </p:cNvSpPr>
          <p:nvPr/>
        </p:nvSpPr>
        <p:spPr bwMode="auto">
          <a:xfrm>
            <a:off x="21771" y="1562099"/>
            <a:ext cx="287382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More example: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Financial advisor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And/or graph searched by the financial advisor.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37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2120</Words>
  <Application>Microsoft Office PowerPoint</Application>
  <PresentationFormat>On-screen Show (4:3)</PresentationFormat>
  <Paragraphs>993</Paragraphs>
  <Slides>53</Slides>
  <Notes>28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ＭＳ Ｐゴシック</vt:lpstr>
      <vt:lpstr>Arial</vt:lpstr>
      <vt:lpstr>Baskerville Old Face</vt:lpstr>
      <vt:lpstr>Calibri</vt:lpstr>
      <vt:lpstr>Consolas</vt:lpstr>
      <vt:lpstr>Courier</vt:lpstr>
      <vt:lpstr>Courier New</vt:lpstr>
      <vt:lpstr>Roboto</vt:lpstr>
      <vt:lpstr>Tahoma</vt:lpstr>
      <vt:lpstr>Times New Roman</vt:lpstr>
      <vt:lpstr>Wingdings</vt:lpstr>
      <vt:lpstr>Office Theme</vt:lpstr>
      <vt:lpstr>Custom Design</vt:lpstr>
      <vt:lpstr>Exhaustive Search Algorithm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Breadth-First Snapshot 1</vt:lpstr>
      <vt:lpstr>Breadth-First Snapshot 2</vt:lpstr>
      <vt:lpstr>Breadth-First Snapshot 3</vt:lpstr>
      <vt:lpstr>Breadth-First Snapshot 4</vt:lpstr>
      <vt:lpstr>Breadth-First Snapshot 5</vt:lpstr>
      <vt:lpstr>Breadth-First Snapshot 6</vt:lpstr>
      <vt:lpstr>Breadth-First Snapshot 7</vt:lpstr>
      <vt:lpstr>Breadth-First Snapshot 8</vt:lpstr>
      <vt:lpstr>Breadth-First Snapshot 9</vt:lpstr>
      <vt:lpstr>Breadth-First Snapshot 10</vt:lpstr>
      <vt:lpstr>Breadth-First Snapshot 11</vt:lpstr>
      <vt:lpstr>Breadth-First Snapshot 12</vt:lpstr>
      <vt:lpstr>Breadth-First Snapshot 13</vt:lpstr>
      <vt:lpstr>Breadth-First Snapshot 14</vt:lpstr>
      <vt:lpstr>Breadth-First Snapshot 15</vt:lpstr>
      <vt:lpstr>Breadth-First Snapshot 17</vt:lpstr>
      <vt:lpstr>Breadth-First Snapshot 18</vt:lpstr>
      <vt:lpstr>Breadth-First Snapshot 19</vt:lpstr>
      <vt:lpstr>Breadth-First Snapshot 20</vt:lpstr>
      <vt:lpstr>Breadth-First Snapshot 21</vt:lpstr>
      <vt:lpstr>Breadth-First Snapshot 22</vt:lpstr>
      <vt:lpstr>Breadth-First Snapshot 23</vt:lpstr>
      <vt:lpstr>Breadth-First Snapshot 24</vt:lpstr>
      <vt:lpstr>PowerPoint Presentation</vt:lpstr>
      <vt:lpstr>PowerPoint Presentation</vt:lpstr>
      <vt:lpstr>PowerPoint Presentation</vt:lpstr>
      <vt:lpstr>PowerPoint Presentation</vt:lpstr>
      <vt:lpstr>Using State Space to Represent Reasoning : Predicate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Referee</dc:creator>
  <cp:lastModifiedBy>RUHAIDA</cp:lastModifiedBy>
  <cp:revision>337</cp:revision>
  <dcterms:created xsi:type="dcterms:W3CDTF">2012-07-30T02:22:03Z</dcterms:created>
  <dcterms:modified xsi:type="dcterms:W3CDTF">2019-10-11T13:57:06Z</dcterms:modified>
</cp:coreProperties>
</file>