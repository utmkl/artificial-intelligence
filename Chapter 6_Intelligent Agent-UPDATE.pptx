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0" r:id="rId2"/>
  </p:sldMasterIdLst>
  <p:notesMasterIdLst>
    <p:notesMasterId r:id="rId36"/>
  </p:notesMasterIdLst>
  <p:sldIdLst>
    <p:sldId id="256" r:id="rId3"/>
    <p:sldId id="258" r:id="rId4"/>
    <p:sldId id="259" r:id="rId5"/>
    <p:sldId id="260" r:id="rId6"/>
    <p:sldId id="261" r:id="rId7"/>
    <p:sldId id="262" r:id="rId8"/>
    <p:sldId id="290" r:id="rId9"/>
    <p:sldId id="264" r:id="rId10"/>
    <p:sldId id="265" r:id="rId11"/>
    <p:sldId id="266" r:id="rId12"/>
    <p:sldId id="299" r:id="rId13"/>
    <p:sldId id="300" r:id="rId14"/>
    <p:sldId id="301" r:id="rId15"/>
    <p:sldId id="269" r:id="rId16"/>
    <p:sldId id="272" r:id="rId17"/>
    <p:sldId id="289" r:id="rId18"/>
    <p:sldId id="298" r:id="rId19"/>
    <p:sldId id="279" r:id="rId20"/>
    <p:sldId id="281" r:id="rId21"/>
    <p:sldId id="283" r:id="rId22"/>
    <p:sldId id="285" r:id="rId23"/>
    <p:sldId id="286" r:id="rId24"/>
    <p:sldId id="287" r:id="rId25"/>
    <p:sldId id="310" r:id="rId26"/>
    <p:sldId id="303" r:id="rId27"/>
    <p:sldId id="304" r:id="rId28"/>
    <p:sldId id="305" r:id="rId29"/>
    <p:sldId id="306" r:id="rId30"/>
    <p:sldId id="307" r:id="rId31"/>
    <p:sldId id="308" r:id="rId32"/>
    <p:sldId id="309" r:id="rId33"/>
    <p:sldId id="288" r:id="rId34"/>
    <p:sldId id="297"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F79646"/>
    <a:srgbClr val="008000"/>
    <a:srgbClr val="9D3B38"/>
    <a:srgbClr val="3898B2"/>
    <a:srgbClr val="358BA2"/>
    <a:srgbClr val="984807"/>
    <a:srgbClr val="FFE1A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643" autoAdjust="0"/>
    <p:restoredTop sz="86432" autoAdjust="0"/>
  </p:normalViewPr>
  <p:slideViewPr>
    <p:cSldViewPr>
      <p:cViewPr varScale="1">
        <p:scale>
          <a:sx n="63" d="100"/>
          <a:sy n="63" d="100"/>
        </p:scale>
        <p:origin x="1242"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ED72AD-98F2-48AA-9584-1CD8673FAED1}" type="datetimeFigureOut">
              <a:rPr lang="en-US" smtClean="0"/>
              <a:pPr/>
              <a:t>11/23/2019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818F6A6-5BDF-41D7-9B84-3DCB4D0C04F4}" type="slidenum">
              <a:rPr lang="en-US" smtClean="0"/>
              <a:pPr/>
              <a:t>‹#›</a:t>
            </a:fld>
            <a:endParaRPr lang="en-US"/>
          </a:p>
        </p:txBody>
      </p:sp>
    </p:spTree>
    <p:extLst>
      <p:ext uri="{BB962C8B-B14F-4D97-AF65-F5344CB8AC3E}">
        <p14:creationId xmlns:p14="http://schemas.microsoft.com/office/powerpoint/2010/main" val="3387300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spcBef>
                <a:spcPct val="0"/>
              </a:spcBef>
            </a:pPr>
            <a:r>
              <a:rPr lang="en-US" altLang="he-IL" smtClean="0"/>
              <a:t>The agent function can be described as a huge table mapping percept sequence to actions.</a:t>
            </a:r>
          </a:p>
          <a:p>
            <a:pPr algn="l" eaLnBrk="1" hangingPunct="1">
              <a:spcBef>
                <a:spcPct val="0"/>
              </a:spcBef>
            </a:pPr>
            <a:r>
              <a:rPr lang="en-US" altLang="he-IL" smtClean="0"/>
              <a:t>This is an external description.</a:t>
            </a:r>
          </a:p>
          <a:p>
            <a:pPr algn="l" eaLnBrk="1" hangingPunct="1">
              <a:spcBef>
                <a:spcPct val="0"/>
              </a:spcBef>
            </a:pPr>
            <a:r>
              <a:rPr lang="en-US" altLang="he-IL" smtClean="0"/>
              <a:t>Internally it will usually be implemented by a function or program.</a:t>
            </a:r>
            <a:endParaRPr lang="he-IL" altLang="he-IL" smtClean="0"/>
          </a:p>
          <a:p>
            <a:pPr algn="l" eaLnBrk="1" hangingPunct="1">
              <a:spcBef>
                <a:spcPct val="0"/>
              </a:spcBef>
            </a:pPr>
            <a:endParaRPr lang="he-IL" altLang="he-IL" smtClean="0"/>
          </a:p>
          <a:p>
            <a:pPr algn="l" eaLnBrk="1" hangingPunct="1">
              <a:spcBef>
                <a:spcPct val="0"/>
              </a:spcBef>
            </a:pPr>
            <a:r>
              <a:rPr lang="en-US" altLang="he-IL" smtClean="0"/>
              <a:t>A good exmaple is the vac cleaner world</a:t>
            </a:r>
            <a:endParaRPr lang="he-IL" altLang="he-IL" smtClean="0"/>
          </a:p>
        </p:txBody>
      </p:sp>
      <p:sp>
        <p:nvSpPr>
          <p:cNvPr id="92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Calibri" panose="020F0502020204030204" pitchFamily="34" charset="0"/>
              </a:defRPr>
            </a:lvl1pPr>
            <a:lvl2pPr marL="742950" indent="-285750" algn="r" rtl="1">
              <a:spcBef>
                <a:spcPct val="30000"/>
              </a:spcBef>
              <a:defRPr sz="1200">
                <a:solidFill>
                  <a:schemeClr val="tx1"/>
                </a:solidFill>
                <a:latin typeface="Calibri" panose="020F0502020204030204" pitchFamily="34" charset="0"/>
              </a:defRPr>
            </a:lvl2pPr>
            <a:lvl3pPr marL="1143000" indent="-228600" algn="r" rtl="1">
              <a:spcBef>
                <a:spcPct val="30000"/>
              </a:spcBef>
              <a:defRPr sz="1200">
                <a:solidFill>
                  <a:schemeClr val="tx1"/>
                </a:solidFill>
                <a:latin typeface="Calibri" panose="020F0502020204030204" pitchFamily="34" charset="0"/>
              </a:defRPr>
            </a:lvl3pPr>
            <a:lvl4pPr marL="1600200" indent="-228600" algn="r" rtl="1">
              <a:spcBef>
                <a:spcPct val="30000"/>
              </a:spcBef>
              <a:defRPr sz="1200">
                <a:solidFill>
                  <a:schemeClr val="tx1"/>
                </a:solidFill>
                <a:latin typeface="Calibri" panose="020F0502020204030204" pitchFamily="34" charset="0"/>
              </a:defRPr>
            </a:lvl4pPr>
            <a:lvl5pPr marL="2057400" indent="-228600" algn="r" rtl="1">
              <a:spcBef>
                <a:spcPct val="30000"/>
              </a:spcBef>
              <a:defRPr sz="1200">
                <a:solidFill>
                  <a:schemeClr val="tx1"/>
                </a:solidFill>
                <a:latin typeface="Calibri" panose="020F0502020204030204" pitchFamily="34" charset="0"/>
              </a:defRPr>
            </a:lvl5pPr>
            <a:lvl6pPr marL="2514600" indent="-228600" algn="r" rtl="1" eaLnBrk="0" fontAlgn="base" hangingPunct="0">
              <a:spcBef>
                <a:spcPct val="30000"/>
              </a:spcBef>
              <a:spcAft>
                <a:spcPct val="0"/>
              </a:spcAft>
              <a:defRPr sz="1200">
                <a:solidFill>
                  <a:schemeClr val="tx1"/>
                </a:solidFill>
                <a:latin typeface="Calibri" panose="020F0502020204030204" pitchFamily="34" charset="0"/>
              </a:defRPr>
            </a:lvl6pPr>
            <a:lvl7pPr marL="2971800" indent="-228600" algn="r" rtl="1" eaLnBrk="0" fontAlgn="base" hangingPunct="0">
              <a:spcBef>
                <a:spcPct val="30000"/>
              </a:spcBef>
              <a:spcAft>
                <a:spcPct val="0"/>
              </a:spcAft>
              <a:defRPr sz="1200">
                <a:solidFill>
                  <a:schemeClr val="tx1"/>
                </a:solidFill>
                <a:latin typeface="Calibri" panose="020F0502020204030204" pitchFamily="34" charset="0"/>
              </a:defRPr>
            </a:lvl7pPr>
            <a:lvl8pPr marL="3429000" indent="-228600" algn="r" rtl="1" eaLnBrk="0" fontAlgn="base" hangingPunct="0">
              <a:spcBef>
                <a:spcPct val="30000"/>
              </a:spcBef>
              <a:spcAft>
                <a:spcPct val="0"/>
              </a:spcAft>
              <a:defRPr sz="1200">
                <a:solidFill>
                  <a:schemeClr val="tx1"/>
                </a:solidFill>
                <a:latin typeface="Calibri" panose="020F0502020204030204" pitchFamily="34" charset="0"/>
              </a:defRPr>
            </a:lvl8pPr>
            <a:lvl9pPr marL="3886200" indent="-228600" algn="r" rtl="1" eaLnBrk="0" fontAlgn="base" hangingPunct="0">
              <a:spcBef>
                <a:spcPct val="30000"/>
              </a:spcBef>
              <a:spcAft>
                <a:spcPct val="0"/>
              </a:spcAft>
              <a:defRPr sz="1200">
                <a:solidFill>
                  <a:schemeClr val="tx1"/>
                </a:solidFill>
                <a:latin typeface="Calibri" panose="020F0502020204030204" pitchFamily="34" charset="0"/>
              </a:defRPr>
            </a:lvl9pPr>
          </a:lstStyle>
          <a:p>
            <a:pPr algn="l" rtl="0">
              <a:spcBef>
                <a:spcPct val="0"/>
              </a:spcBef>
            </a:pPr>
            <a:fld id="{39AC7E2F-8F6F-415C-BFF9-DD06D9BFEA5D}" type="slidenum">
              <a:rPr lang="he-IL" altLang="he-IL" smtClean="0">
                <a:latin typeface="Arial" panose="020B0604020202020204" pitchFamily="34" charset="0"/>
              </a:rPr>
              <a:pPr algn="l" rtl="0">
                <a:spcBef>
                  <a:spcPct val="0"/>
                </a:spcBef>
              </a:pPr>
              <a:t>5</a:t>
            </a:fld>
            <a:endParaRPr lang="he-IL" altLang="he-IL" smtClean="0">
              <a:latin typeface="Arial" panose="020B0604020202020204" pitchFamily="34" charset="0"/>
            </a:endParaRPr>
          </a:p>
        </p:txBody>
      </p:sp>
    </p:spTree>
    <p:extLst>
      <p:ext uri="{BB962C8B-B14F-4D97-AF65-F5344CB8AC3E}">
        <p14:creationId xmlns:p14="http://schemas.microsoft.com/office/powerpoint/2010/main" val="14446878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spcBef>
                <a:spcPct val="0"/>
              </a:spcBef>
            </a:pPr>
            <a:r>
              <a:rPr lang="en-US" altLang="he-IL" smtClean="0"/>
              <a:t>Two cells only</a:t>
            </a:r>
          </a:p>
          <a:p>
            <a:pPr algn="l" eaLnBrk="1" hangingPunct="1">
              <a:spcBef>
                <a:spcPct val="0"/>
              </a:spcBef>
            </a:pPr>
            <a:r>
              <a:rPr lang="en-US" altLang="he-IL" smtClean="0"/>
              <a:t>Agent perceives:  his location  (Left, Right)  + status of cell he is in (Dirty/ Not dirty)</a:t>
            </a:r>
            <a:endParaRPr lang="he-IL" altLang="he-IL" smtClean="0"/>
          </a:p>
        </p:txBody>
      </p:sp>
      <p:sp>
        <p:nvSpPr>
          <p:cNvPr id="112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Calibri" panose="020F0502020204030204" pitchFamily="34" charset="0"/>
              </a:defRPr>
            </a:lvl1pPr>
            <a:lvl2pPr marL="742950" indent="-285750" algn="r" rtl="1">
              <a:spcBef>
                <a:spcPct val="30000"/>
              </a:spcBef>
              <a:defRPr sz="1200">
                <a:solidFill>
                  <a:schemeClr val="tx1"/>
                </a:solidFill>
                <a:latin typeface="Calibri" panose="020F0502020204030204" pitchFamily="34" charset="0"/>
              </a:defRPr>
            </a:lvl2pPr>
            <a:lvl3pPr marL="1143000" indent="-228600" algn="r" rtl="1">
              <a:spcBef>
                <a:spcPct val="30000"/>
              </a:spcBef>
              <a:defRPr sz="1200">
                <a:solidFill>
                  <a:schemeClr val="tx1"/>
                </a:solidFill>
                <a:latin typeface="Calibri" panose="020F0502020204030204" pitchFamily="34" charset="0"/>
              </a:defRPr>
            </a:lvl3pPr>
            <a:lvl4pPr marL="1600200" indent="-228600" algn="r" rtl="1">
              <a:spcBef>
                <a:spcPct val="30000"/>
              </a:spcBef>
              <a:defRPr sz="1200">
                <a:solidFill>
                  <a:schemeClr val="tx1"/>
                </a:solidFill>
                <a:latin typeface="Calibri" panose="020F0502020204030204" pitchFamily="34" charset="0"/>
              </a:defRPr>
            </a:lvl4pPr>
            <a:lvl5pPr marL="2057400" indent="-228600" algn="r" rtl="1">
              <a:spcBef>
                <a:spcPct val="30000"/>
              </a:spcBef>
              <a:defRPr sz="1200">
                <a:solidFill>
                  <a:schemeClr val="tx1"/>
                </a:solidFill>
                <a:latin typeface="Calibri" panose="020F0502020204030204" pitchFamily="34" charset="0"/>
              </a:defRPr>
            </a:lvl5pPr>
            <a:lvl6pPr marL="2514600" indent="-228600" algn="r" rtl="1" eaLnBrk="0" fontAlgn="base" hangingPunct="0">
              <a:spcBef>
                <a:spcPct val="30000"/>
              </a:spcBef>
              <a:spcAft>
                <a:spcPct val="0"/>
              </a:spcAft>
              <a:defRPr sz="1200">
                <a:solidFill>
                  <a:schemeClr val="tx1"/>
                </a:solidFill>
                <a:latin typeface="Calibri" panose="020F0502020204030204" pitchFamily="34" charset="0"/>
              </a:defRPr>
            </a:lvl6pPr>
            <a:lvl7pPr marL="2971800" indent="-228600" algn="r" rtl="1" eaLnBrk="0" fontAlgn="base" hangingPunct="0">
              <a:spcBef>
                <a:spcPct val="30000"/>
              </a:spcBef>
              <a:spcAft>
                <a:spcPct val="0"/>
              </a:spcAft>
              <a:defRPr sz="1200">
                <a:solidFill>
                  <a:schemeClr val="tx1"/>
                </a:solidFill>
                <a:latin typeface="Calibri" panose="020F0502020204030204" pitchFamily="34" charset="0"/>
              </a:defRPr>
            </a:lvl7pPr>
            <a:lvl8pPr marL="3429000" indent="-228600" algn="r" rtl="1" eaLnBrk="0" fontAlgn="base" hangingPunct="0">
              <a:spcBef>
                <a:spcPct val="30000"/>
              </a:spcBef>
              <a:spcAft>
                <a:spcPct val="0"/>
              </a:spcAft>
              <a:defRPr sz="1200">
                <a:solidFill>
                  <a:schemeClr val="tx1"/>
                </a:solidFill>
                <a:latin typeface="Calibri" panose="020F0502020204030204" pitchFamily="34" charset="0"/>
              </a:defRPr>
            </a:lvl8pPr>
            <a:lvl9pPr marL="3886200" indent="-228600" algn="r" rtl="1" eaLnBrk="0" fontAlgn="base" hangingPunct="0">
              <a:spcBef>
                <a:spcPct val="30000"/>
              </a:spcBef>
              <a:spcAft>
                <a:spcPct val="0"/>
              </a:spcAft>
              <a:defRPr sz="1200">
                <a:solidFill>
                  <a:schemeClr val="tx1"/>
                </a:solidFill>
                <a:latin typeface="Calibri" panose="020F0502020204030204" pitchFamily="34" charset="0"/>
              </a:defRPr>
            </a:lvl9pPr>
          </a:lstStyle>
          <a:p>
            <a:pPr algn="l" rtl="0">
              <a:spcBef>
                <a:spcPct val="0"/>
              </a:spcBef>
            </a:pPr>
            <a:fld id="{BD6B831C-4B6D-4CB4-9B96-BCE20CCDD222}" type="slidenum">
              <a:rPr lang="he-IL" altLang="he-IL" smtClean="0">
                <a:latin typeface="Arial" panose="020B0604020202020204" pitchFamily="34" charset="0"/>
              </a:rPr>
              <a:pPr algn="l" rtl="0">
                <a:spcBef>
                  <a:spcPct val="0"/>
                </a:spcBef>
              </a:pPr>
              <a:t>6</a:t>
            </a:fld>
            <a:endParaRPr lang="he-IL" altLang="he-IL" smtClean="0">
              <a:latin typeface="Arial" panose="020B0604020202020204" pitchFamily="34" charset="0"/>
            </a:endParaRPr>
          </a:p>
        </p:txBody>
      </p:sp>
    </p:spTree>
    <p:extLst>
      <p:ext uri="{BB962C8B-B14F-4D97-AF65-F5344CB8AC3E}">
        <p14:creationId xmlns:p14="http://schemas.microsoft.com/office/powerpoint/2010/main" val="866098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spcBef>
                <a:spcPct val="0"/>
              </a:spcBef>
            </a:pPr>
            <a:r>
              <a:rPr lang="en-US" altLang="he-IL" smtClean="0"/>
              <a:t>Two cells only</a:t>
            </a:r>
          </a:p>
          <a:p>
            <a:pPr algn="l" eaLnBrk="1" hangingPunct="1">
              <a:spcBef>
                <a:spcPct val="0"/>
              </a:spcBef>
            </a:pPr>
            <a:r>
              <a:rPr lang="en-US" altLang="he-IL" smtClean="0"/>
              <a:t>Agent perceives:  his location  (Left, Right)  + status of cell he is in (Dirty/ Not dirty)</a:t>
            </a:r>
            <a:endParaRPr lang="he-IL" altLang="he-IL" smtClean="0"/>
          </a:p>
        </p:txBody>
      </p:sp>
      <p:sp>
        <p:nvSpPr>
          <p:cNvPr id="112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Calibri" panose="020F0502020204030204" pitchFamily="34" charset="0"/>
              </a:defRPr>
            </a:lvl1pPr>
            <a:lvl2pPr marL="742950" indent="-285750" algn="r" rtl="1">
              <a:spcBef>
                <a:spcPct val="30000"/>
              </a:spcBef>
              <a:defRPr sz="1200">
                <a:solidFill>
                  <a:schemeClr val="tx1"/>
                </a:solidFill>
                <a:latin typeface="Calibri" panose="020F0502020204030204" pitchFamily="34" charset="0"/>
              </a:defRPr>
            </a:lvl2pPr>
            <a:lvl3pPr marL="1143000" indent="-228600" algn="r" rtl="1">
              <a:spcBef>
                <a:spcPct val="30000"/>
              </a:spcBef>
              <a:defRPr sz="1200">
                <a:solidFill>
                  <a:schemeClr val="tx1"/>
                </a:solidFill>
                <a:latin typeface="Calibri" panose="020F0502020204030204" pitchFamily="34" charset="0"/>
              </a:defRPr>
            </a:lvl3pPr>
            <a:lvl4pPr marL="1600200" indent="-228600" algn="r" rtl="1">
              <a:spcBef>
                <a:spcPct val="30000"/>
              </a:spcBef>
              <a:defRPr sz="1200">
                <a:solidFill>
                  <a:schemeClr val="tx1"/>
                </a:solidFill>
                <a:latin typeface="Calibri" panose="020F0502020204030204" pitchFamily="34" charset="0"/>
              </a:defRPr>
            </a:lvl4pPr>
            <a:lvl5pPr marL="2057400" indent="-228600" algn="r" rtl="1">
              <a:spcBef>
                <a:spcPct val="30000"/>
              </a:spcBef>
              <a:defRPr sz="1200">
                <a:solidFill>
                  <a:schemeClr val="tx1"/>
                </a:solidFill>
                <a:latin typeface="Calibri" panose="020F0502020204030204" pitchFamily="34" charset="0"/>
              </a:defRPr>
            </a:lvl5pPr>
            <a:lvl6pPr marL="2514600" indent="-228600" algn="r" rtl="1" eaLnBrk="0" fontAlgn="base" hangingPunct="0">
              <a:spcBef>
                <a:spcPct val="30000"/>
              </a:spcBef>
              <a:spcAft>
                <a:spcPct val="0"/>
              </a:spcAft>
              <a:defRPr sz="1200">
                <a:solidFill>
                  <a:schemeClr val="tx1"/>
                </a:solidFill>
                <a:latin typeface="Calibri" panose="020F0502020204030204" pitchFamily="34" charset="0"/>
              </a:defRPr>
            </a:lvl6pPr>
            <a:lvl7pPr marL="2971800" indent="-228600" algn="r" rtl="1" eaLnBrk="0" fontAlgn="base" hangingPunct="0">
              <a:spcBef>
                <a:spcPct val="30000"/>
              </a:spcBef>
              <a:spcAft>
                <a:spcPct val="0"/>
              </a:spcAft>
              <a:defRPr sz="1200">
                <a:solidFill>
                  <a:schemeClr val="tx1"/>
                </a:solidFill>
                <a:latin typeface="Calibri" panose="020F0502020204030204" pitchFamily="34" charset="0"/>
              </a:defRPr>
            </a:lvl7pPr>
            <a:lvl8pPr marL="3429000" indent="-228600" algn="r" rtl="1" eaLnBrk="0" fontAlgn="base" hangingPunct="0">
              <a:spcBef>
                <a:spcPct val="30000"/>
              </a:spcBef>
              <a:spcAft>
                <a:spcPct val="0"/>
              </a:spcAft>
              <a:defRPr sz="1200">
                <a:solidFill>
                  <a:schemeClr val="tx1"/>
                </a:solidFill>
                <a:latin typeface="Calibri" panose="020F0502020204030204" pitchFamily="34" charset="0"/>
              </a:defRPr>
            </a:lvl8pPr>
            <a:lvl9pPr marL="3886200" indent="-228600" algn="r" rtl="1" eaLnBrk="0" fontAlgn="base" hangingPunct="0">
              <a:spcBef>
                <a:spcPct val="30000"/>
              </a:spcBef>
              <a:spcAft>
                <a:spcPct val="0"/>
              </a:spcAft>
              <a:defRPr sz="1200">
                <a:solidFill>
                  <a:schemeClr val="tx1"/>
                </a:solidFill>
                <a:latin typeface="Calibri" panose="020F0502020204030204" pitchFamily="34" charset="0"/>
              </a:defRPr>
            </a:lvl9pPr>
          </a:lstStyle>
          <a:p>
            <a:pPr algn="l" rtl="0">
              <a:spcBef>
                <a:spcPct val="0"/>
              </a:spcBef>
            </a:pPr>
            <a:fld id="{BD6B831C-4B6D-4CB4-9B96-BCE20CCDD222}" type="slidenum">
              <a:rPr lang="he-IL" altLang="he-IL" smtClean="0">
                <a:latin typeface="Arial" panose="020B0604020202020204" pitchFamily="34" charset="0"/>
              </a:rPr>
              <a:pPr algn="l" rtl="0">
                <a:spcBef>
                  <a:spcPct val="0"/>
                </a:spcBef>
              </a:pPr>
              <a:t>7</a:t>
            </a:fld>
            <a:endParaRPr lang="he-IL" altLang="he-IL" smtClean="0">
              <a:latin typeface="Arial" panose="020B0604020202020204" pitchFamily="34" charset="0"/>
            </a:endParaRPr>
          </a:p>
        </p:txBody>
      </p:sp>
    </p:spTree>
    <p:extLst>
      <p:ext uri="{BB962C8B-B14F-4D97-AF65-F5344CB8AC3E}">
        <p14:creationId xmlns:p14="http://schemas.microsoft.com/office/powerpoint/2010/main" val="27634061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spcBef>
                <a:spcPct val="0"/>
              </a:spcBef>
            </a:pPr>
            <a:endParaRPr lang="he-IL" altLang="he-IL" dirty="0" smtClean="0"/>
          </a:p>
        </p:txBody>
      </p:sp>
      <p:sp>
        <p:nvSpPr>
          <p:cNvPr id="163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Calibri" panose="020F0502020204030204" pitchFamily="34" charset="0"/>
              </a:defRPr>
            </a:lvl1pPr>
            <a:lvl2pPr marL="742950" indent="-285750" algn="r" rtl="1">
              <a:spcBef>
                <a:spcPct val="30000"/>
              </a:spcBef>
              <a:defRPr sz="1200">
                <a:solidFill>
                  <a:schemeClr val="tx1"/>
                </a:solidFill>
                <a:latin typeface="Calibri" panose="020F0502020204030204" pitchFamily="34" charset="0"/>
              </a:defRPr>
            </a:lvl2pPr>
            <a:lvl3pPr marL="1143000" indent="-228600" algn="r" rtl="1">
              <a:spcBef>
                <a:spcPct val="30000"/>
              </a:spcBef>
              <a:defRPr sz="1200">
                <a:solidFill>
                  <a:schemeClr val="tx1"/>
                </a:solidFill>
                <a:latin typeface="Calibri" panose="020F0502020204030204" pitchFamily="34" charset="0"/>
              </a:defRPr>
            </a:lvl3pPr>
            <a:lvl4pPr marL="1600200" indent="-228600" algn="r" rtl="1">
              <a:spcBef>
                <a:spcPct val="30000"/>
              </a:spcBef>
              <a:defRPr sz="1200">
                <a:solidFill>
                  <a:schemeClr val="tx1"/>
                </a:solidFill>
                <a:latin typeface="Calibri" panose="020F0502020204030204" pitchFamily="34" charset="0"/>
              </a:defRPr>
            </a:lvl4pPr>
            <a:lvl5pPr marL="2057400" indent="-228600" algn="r" rtl="1">
              <a:spcBef>
                <a:spcPct val="30000"/>
              </a:spcBef>
              <a:defRPr sz="1200">
                <a:solidFill>
                  <a:schemeClr val="tx1"/>
                </a:solidFill>
                <a:latin typeface="Calibri" panose="020F0502020204030204" pitchFamily="34" charset="0"/>
              </a:defRPr>
            </a:lvl5pPr>
            <a:lvl6pPr marL="2514600" indent="-228600" algn="r" rtl="1" eaLnBrk="0" fontAlgn="base" hangingPunct="0">
              <a:spcBef>
                <a:spcPct val="30000"/>
              </a:spcBef>
              <a:spcAft>
                <a:spcPct val="0"/>
              </a:spcAft>
              <a:defRPr sz="1200">
                <a:solidFill>
                  <a:schemeClr val="tx1"/>
                </a:solidFill>
                <a:latin typeface="Calibri" panose="020F0502020204030204" pitchFamily="34" charset="0"/>
              </a:defRPr>
            </a:lvl6pPr>
            <a:lvl7pPr marL="2971800" indent="-228600" algn="r" rtl="1" eaLnBrk="0" fontAlgn="base" hangingPunct="0">
              <a:spcBef>
                <a:spcPct val="30000"/>
              </a:spcBef>
              <a:spcAft>
                <a:spcPct val="0"/>
              </a:spcAft>
              <a:defRPr sz="1200">
                <a:solidFill>
                  <a:schemeClr val="tx1"/>
                </a:solidFill>
                <a:latin typeface="Calibri" panose="020F0502020204030204" pitchFamily="34" charset="0"/>
              </a:defRPr>
            </a:lvl7pPr>
            <a:lvl8pPr marL="3429000" indent="-228600" algn="r" rtl="1" eaLnBrk="0" fontAlgn="base" hangingPunct="0">
              <a:spcBef>
                <a:spcPct val="30000"/>
              </a:spcBef>
              <a:spcAft>
                <a:spcPct val="0"/>
              </a:spcAft>
              <a:defRPr sz="1200">
                <a:solidFill>
                  <a:schemeClr val="tx1"/>
                </a:solidFill>
                <a:latin typeface="Calibri" panose="020F0502020204030204" pitchFamily="34" charset="0"/>
              </a:defRPr>
            </a:lvl8pPr>
            <a:lvl9pPr marL="3886200" indent="-228600" algn="r" rtl="1" eaLnBrk="0" fontAlgn="base" hangingPunct="0">
              <a:spcBef>
                <a:spcPct val="30000"/>
              </a:spcBef>
              <a:spcAft>
                <a:spcPct val="0"/>
              </a:spcAft>
              <a:defRPr sz="1200">
                <a:solidFill>
                  <a:schemeClr val="tx1"/>
                </a:solidFill>
                <a:latin typeface="Calibri" panose="020F0502020204030204" pitchFamily="34" charset="0"/>
              </a:defRPr>
            </a:lvl9pPr>
          </a:lstStyle>
          <a:p>
            <a:pPr algn="l" rtl="0">
              <a:spcBef>
                <a:spcPct val="0"/>
              </a:spcBef>
            </a:pPr>
            <a:fld id="{3E9AD3EE-CB17-43C6-B7FB-3585E3CFBE5E}" type="slidenum">
              <a:rPr lang="he-IL" altLang="he-IL" smtClean="0">
                <a:latin typeface="Arial" panose="020B0604020202020204" pitchFamily="34" charset="0"/>
              </a:rPr>
              <a:pPr algn="l" rtl="0">
                <a:spcBef>
                  <a:spcPct val="0"/>
                </a:spcBef>
              </a:pPr>
              <a:t>9</a:t>
            </a:fld>
            <a:endParaRPr lang="he-IL" altLang="he-IL" smtClean="0">
              <a:latin typeface="Arial" panose="020B0604020202020204" pitchFamily="34" charset="0"/>
            </a:endParaRPr>
          </a:p>
        </p:txBody>
      </p:sp>
    </p:spTree>
    <p:extLst>
      <p:ext uri="{BB962C8B-B14F-4D97-AF65-F5344CB8AC3E}">
        <p14:creationId xmlns:p14="http://schemas.microsoft.com/office/powerpoint/2010/main" val="21950345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spcBef>
                <a:spcPct val="0"/>
              </a:spcBef>
            </a:pPr>
            <a:r>
              <a:rPr lang="en-US" altLang="he-IL" dirty="0" smtClean="0"/>
              <a:t>:</a:t>
            </a:r>
            <a:endParaRPr lang="he-IL" altLang="he-IL" dirty="0" smtClean="0"/>
          </a:p>
        </p:txBody>
      </p:sp>
      <p:sp>
        <p:nvSpPr>
          <p:cNvPr id="184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Calibri" panose="020F0502020204030204" pitchFamily="34" charset="0"/>
              </a:defRPr>
            </a:lvl1pPr>
            <a:lvl2pPr marL="742950" indent="-285750" algn="r" rtl="1">
              <a:spcBef>
                <a:spcPct val="30000"/>
              </a:spcBef>
              <a:defRPr sz="1200">
                <a:solidFill>
                  <a:schemeClr val="tx1"/>
                </a:solidFill>
                <a:latin typeface="Calibri" panose="020F0502020204030204" pitchFamily="34" charset="0"/>
              </a:defRPr>
            </a:lvl2pPr>
            <a:lvl3pPr marL="1143000" indent="-228600" algn="r" rtl="1">
              <a:spcBef>
                <a:spcPct val="30000"/>
              </a:spcBef>
              <a:defRPr sz="1200">
                <a:solidFill>
                  <a:schemeClr val="tx1"/>
                </a:solidFill>
                <a:latin typeface="Calibri" panose="020F0502020204030204" pitchFamily="34" charset="0"/>
              </a:defRPr>
            </a:lvl3pPr>
            <a:lvl4pPr marL="1600200" indent="-228600" algn="r" rtl="1">
              <a:spcBef>
                <a:spcPct val="30000"/>
              </a:spcBef>
              <a:defRPr sz="1200">
                <a:solidFill>
                  <a:schemeClr val="tx1"/>
                </a:solidFill>
                <a:latin typeface="Calibri" panose="020F0502020204030204" pitchFamily="34" charset="0"/>
              </a:defRPr>
            </a:lvl4pPr>
            <a:lvl5pPr marL="2057400" indent="-228600" algn="r" rtl="1">
              <a:spcBef>
                <a:spcPct val="30000"/>
              </a:spcBef>
              <a:defRPr sz="1200">
                <a:solidFill>
                  <a:schemeClr val="tx1"/>
                </a:solidFill>
                <a:latin typeface="Calibri" panose="020F0502020204030204" pitchFamily="34" charset="0"/>
              </a:defRPr>
            </a:lvl5pPr>
            <a:lvl6pPr marL="2514600" indent="-228600" algn="r" rtl="1" eaLnBrk="0" fontAlgn="base" hangingPunct="0">
              <a:spcBef>
                <a:spcPct val="30000"/>
              </a:spcBef>
              <a:spcAft>
                <a:spcPct val="0"/>
              </a:spcAft>
              <a:defRPr sz="1200">
                <a:solidFill>
                  <a:schemeClr val="tx1"/>
                </a:solidFill>
                <a:latin typeface="Calibri" panose="020F0502020204030204" pitchFamily="34" charset="0"/>
              </a:defRPr>
            </a:lvl6pPr>
            <a:lvl7pPr marL="2971800" indent="-228600" algn="r" rtl="1" eaLnBrk="0" fontAlgn="base" hangingPunct="0">
              <a:spcBef>
                <a:spcPct val="30000"/>
              </a:spcBef>
              <a:spcAft>
                <a:spcPct val="0"/>
              </a:spcAft>
              <a:defRPr sz="1200">
                <a:solidFill>
                  <a:schemeClr val="tx1"/>
                </a:solidFill>
                <a:latin typeface="Calibri" panose="020F0502020204030204" pitchFamily="34" charset="0"/>
              </a:defRPr>
            </a:lvl7pPr>
            <a:lvl8pPr marL="3429000" indent="-228600" algn="r" rtl="1" eaLnBrk="0" fontAlgn="base" hangingPunct="0">
              <a:spcBef>
                <a:spcPct val="30000"/>
              </a:spcBef>
              <a:spcAft>
                <a:spcPct val="0"/>
              </a:spcAft>
              <a:defRPr sz="1200">
                <a:solidFill>
                  <a:schemeClr val="tx1"/>
                </a:solidFill>
                <a:latin typeface="Calibri" panose="020F0502020204030204" pitchFamily="34" charset="0"/>
              </a:defRPr>
            </a:lvl8pPr>
            <a:lvl9pPr marL="3886200" indent="-228600" algn="r" rtl="1" eaLnBrk="0" fontAlgn="base" hangingPunct="0">
              <a:spcBef>
                <a:spcPct val="30000"/>
              </a:spcBef>
              <a:spcAft>
                <a:spcPct val="0"/>
              </a:spcAft>
              <a:defRPr sz="1200">
                <a:solidFill>
                  <a:schemeClr val="tx1"/>
                </a:solidFill>
                <a:latin typeface="Calibri" panose="020F0502020204030204" pitchFamily="34" charset="0"/>
              </a:defRPr>
            </a:lvl9pPr>
          </a:lstStyle>
          <a:p>
            <a:pPr algn="l" rtl="0">
              <a:spcBef>
                <a:spcPct val="0"/>
              </a:spcBef>
            </a:pPr>
            <a:fld id="{93A80273-5B6D-4CBB-B6F7-D72BBA4225D8}" type="slidenum">
              <a:rPr lang="he-IL" altLang="he-IL" smtClean="0">
                <a:latin typeface="Arial" panose="020B0604020202020204" pitchFamily="34" charset="0"/>
              </a:rPr>
              <a:pPr algn="l" rtl="0">
                <a:spcBef>
                  <a:spcPct val="0"/>
                </a:spcBef>
              </a:pPr>
              <a:t>10</a:t>
            </a:fld>
            <a:endParaRPr lang="he-IL" altLang="he-IL" smtClean="0">
              <a:latin typeface="Arial" panose="020B0604020202020204" pitchFamily="34" charset="0"/>
            </a:endParaRPr>
          </a:p>
        </p:txBody>
      </p:sp>
    </p:spTree>
    <p:extLst>
      <p:ext uri="{BB962C8B-B14F-4D97-AF65-F5344CB8AC3E}">
        <p14:creationId xmlns:p14="http://schemas.microsoft.com/office/powerpoint/2010/main" val="30916045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rtl="0" eaLnBrk="1" hangingPunct="1">
              <a:spcBef>
                <a:spcPct val="0"/>
              </a:spcBef>
            </a:pPr>
            <a:r>
              <a:rPr lang="en-US" altLang="he-IL" smtClean="0"/>
              <a:t>The example of the vac world was a bit simple. </a:t>
            </a:r>
          </a:p>
          <a:p>
            <a:pPr algn="l" rtl="0" eaLnBrk="1" hangingPunct="1">
              <a:spcBef>
                <a:spcPct val="0"/>
              </a:spcBef>
            </a:pPr>
            <a:endParaRPr lang="en-US" altLang="he-IL" smtClean="0"/>
          </a:p>
          <a:p>
            <a:pPr algn="l" rtl="0" eaLnBrk="1" hangingPunct="1">
              <a:spcBef>
                <a:spcPct val="0"/>
              </a:spcBef>
            </a:pPr>
            <a:r>
              <a:rPr lang="en-US" altLang="he-IL" smtClean="0"/>
              <a:t>What is the performance measure for the driver?</a:t>
            </a:r>
          </a:p>
          <a:p>
            <a:pPr lvl="1" algn="l" rtl="0" eaLnBrk="1" hangingPunct="1">
              <a:lnSpc>
                <a:spcPct val="90000"/>
              </a:lnSpc>
              <a:spcBef>
                <a:spcPct val="0"/>
              </a:spcBef>
            </a:pPr>
            <a:r>
              <a:rPr lang="en-US" altLang="he-IL" smtClean="0"/>
              <a:t>Environment? </a:t>
            </a:r>
          </a:p>
          <a:p>
            <a:pPr lvl="1" algn="l" rtl="0" eaLnBrk="1" hangingPunct="1">
              <a:lnSpc>
                <a:spcPct val="90000"/>
              </a:lnSpc>
              <a:spcBef>
                <a:spcPct val="0"/>
              </a:spcBef>
            </a:pPr>
            <a:r>
              <a:rPr lang="en-US" altLang="he-IL" sz="2000" smtClean="0"/>
              <a:t>Actuators?</a:t>
            </a:r>
          </a:p>
          <a:p>
            <a:pPr lvl="1" algn="l" rtl="0" eaLnBrk="1" hangingPunct="1">
              <a:lnSpc>
                <a:spcPct val="90000"/>
              </a:lnSpc>
              <a:spcBef>
                <a:spcPct val="0"/>
              </a:spcBef>
            </a:pPr>
            <a:r>
              <a:rPr lang="en-US" altLang="he-IL" sz="2000" smtClean="0"/>
              <a:t>Sensors?</a:t>
            </a:r>
          </a:p>
          <a:p>
            <a:pPr algn="l" rtl="0" eaLnBrk="1" hangingPunct="1">
              <a:spcBef>
                <a:spcPct val="0"/>
              </a:spcBef>
            </a:pPr>
            <a:endParaRPr lang="he-IL" altLang="he-IL" smtClean="0"/>
          </a:p>
        </p:txBody>
      </p:sp>
      <p:sp>
        <p:nvSpPr>
          <p:cNvPr id="235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Calibri" panose="020F0502020204030204" pitchFamily="34" charset="0"/>
              </a:defRPr>
            </a:lvl1pPr>
            <a:lvl2pPr marL="742950" indent="-285750" algn="r" rtl="1">
              <a:spcBef>
                <a:spcPct val="30000"/>
              </a:spcBef>
              <a:defRPr sz="1200">
                <a:solidFill>
                  <a:schemeClr val="tx1"/>
                </a:solidFill>
                <a:latin typeface="Calibri" panose="020F0502020204030204" pitchFamily="34" charset="0"/>
              </a:defRPr>
            </a:lvl2pPr>
            <a:lvl3pPr marL="1143000" indent="-228600" algn="r" rtl="1">
              <a:spcBef>
                <a:spcPct val="30000"/>
              </a:spcBef>
              <a:defRPr sz="1200">
                <a:solidFill>
                  <a:schemeClr val="tx1"/>
                </a:solidFill>
                <a:latin typeface="Calibri" panose="020F0502020204030204" pitchFamily="34" charset="0"/>
              </a:defRPr>
            </a:lvl3pPr>
            <a:lvl4pPr marL="1600200" indent="-228600" algn="r" rtl="1">
              <a:spcBef>
                <a:spcPct val="30000"/>
              </a:spcBef>
              <a:defRPr sz="1200">
                <a:solidFill>
                  <a:schemeClr val="tx1"/>
                </a:solidFill>
                <a:latin typeface="Calibri" panose="020F0502020204030204" pitchFamily="34" charset="0"/>
              </a:defRPr>
            </a:lvl4pPr>
            <a:lvl5pPr marL="2057400" indent="-228600" algn="r" rtl="1">
              <a:spcBef>
                <a:spcPct val="30000"/>
              </a:spcBef>
              <a:defRPr sz="1200">
                <a:solidFill>
                  <a:schemeClr val="tx1"/>
                </a:solidFill>
                <a:latin typeface="Calibri" panose="020F0502020204030204" pitchFamily="34" charset="0"/>
              </a:defRPr>
            </a:lvl5pPr>
            <a:lvl6pPr marL="2514600" indent="-228600" algn="r" rtl="1" eaLnBrk="0" fontAlgn="base" hangingPunct="0">
              <a:spcBef>
                <a:spcPct val="30000"/>
              </a:spcBef>
              <a:spcAft>
                <a:spcPct val="0"/>
              </a:spcAft>
              <a:defRPr sz="1200">
                <a:solidFill>
                  <a:schemeClr val="tx1"/>
                </a:solidFill>
                <a:latin typeface="Calibri" panose="020F0502020204030204" pitchFamily="34" charset="0"/>
              </a:defRPr>
            </a:lvl6pPr>
            <a:lvl7pPr marL="2971800" indent="-228600" algn="r" rtl="1" eaLnBrk="0" fontAlgn="base" hangingPunct="0">
              <a:spcBef>
                <a:spcPct val="30000"/>
              </a:spcBef>
              <a:spcAft>
                <a:spcPct val="0"/>
              </a:spcAft>
              <a:defRPr sz="1200">
                <a:solidFill>
                  <a:schemeClr val="tx1"/>
                </a:solidFill>
                <a:latin typeface="Calibri" panose="020F0502020204030204" pitchFamily="34" charset="0"/>
              </a:defRPr>
            </a:lvl7pPr>
            <a:lvl8pPr marL="3429000" indent="-228600" algn="r" rtl="1" eaLnBrk="0" fontAlgn="base" hangingPunct="0">
              <a:spcBef>
                <a:spcPct val="30000"/>
              </a:spcBef>
              <a:spcAft>
                <a:spcPct val="0"/>
              </a:spcAft>
              <a:defRPr sz="1200">
                <a:solidFill>
                  <a:schemeClr val="tx1"/>
                </a:solidFill>
                <a:latin typeface="Calibri" panose="020F0502020204030204" pitchFamily="34" charset="0"/>
              </a:defRPr>
            </a:lvl8pPr>
            <a:lvl9pPr marL="3886200" indent="-228600" algn="r" rtl="1" eaLnBrk="0" fontAlgn="base" hangingPunct="0">
              <a:spcBef>
                <a:spcPct val="30000"/>
              </a:spcBef>
              <a:spcAft>
                <a:spcPct val="0"/>
              </a:spcAft>
              <a:defRPr sz="1200">
                <a:solidFill>
                  <a:schemeClr val="tx1"/>
                </a:solidFill>
                <a:latin typeface="Calibri" panose="020F0502020204030204" pitchFamily="34" charset="0"/>
              </a:defRPr>
            </a:lvl9pPr>
          </a:lstStyle>
          <a:p>
            <a:pPr algn="l" rtl="0">
              <a:spcBef>
                <a:spcPct val="0"/>
              </a:spcBef>
            </a:pPr>
            <a:fld id="{1F172DAA-C276-4E00-9362-3BE21B3B2273}" type="slidenum">
              <a:rPr lang="he-IL" altLang="he-IL" smtClean="0">
                <a:latin typeface="Arial" panose="020B0604020202020204" pitchFamily="34" charset="0"/>
              </a:rPr>
              <a:pPr algn="l" rtl="0">
                <a:spcBef>
                  <a:spcPct val="0"/>
                </a:spcBef>
              </a:pPr>
              <a:t>14</a:t>
            </a:fld>
            <a:endParaRPr lang="he-IL" altLang="he-IL" smtClean="0">
              <a:latin typeface="Arial" panose="020B0604020202020204" pitchFamily="34" charset="0"/>
            </a:endParaRPr>
          </a:p>
        </p:txBody>
      </p:sp>
    </p:spTree>
    <p:extLst>
      <p:ext uri="{BB962C8B-B14F-4D97-AF65-F5344CB8AC3E}">
        <p14:creationId xmlns:p14="http://schemas.microsoft.com/office/powerpoint/2010/main" val="23090706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rtlCol="1"/>
          <a:lstStyle/>
          <a:p>
            <a:pPr algn="l" rtl="0" eaLnBrk="1" fontAlgn="auto" hangingPunct="1">
              <a:spcBef>
                <a:spcPts val="0"/>
              </a:spcBef>
              <a:spcAft>
                <a:spcPts val="0"/>
              </a:spcAft>
              <a:defRPr/>
            </a:pPr>
            <a:r>
              <a:rPr lang="en-US" dirty="0" smtClean="0"/>
              <a:t>Condition rule agent:  </a:t>
            </a:r>
          </a:p>
          <a:p>
            <a:pPr algn="l" rtl="0" eaLnBrk="1" fontAlgn="auto" hangingPunct="1">
              <a:spcBef>
                <a:spcPts val="0"/>
              </a:spcBef>
              <a:spcAft>
                <a:spcPts val="0"/>
              </a:spcAft>
              <a:defRPr/>
            </a:pPr>
            <a:r>
              <a:rPr lang="en-US" dirty="0" smtClean="0"/>
              <a:t>If car in front is breaking the action = break</a:t>
            </a:r>
            <a:endParaRPr lang="he-IL" dirty="0" smtClean="0"/>
          </a:p>
          <a:p>
            <a:pPr algn="l" rtl="0" eaLnBrk="1" fontAlgn="auto" hangingPunct="1">
              <a:spcBef>
                <a:spcPts val="0"/>
              </a:spcBef>
              <a:spcAft>
                <a:spcPts val="0"/>
              </a:spcAft>
              <a:defRPr/>
            </a:pPr>
            <a:endParaRPr lang="he-IL" dirty="0" smtClean="0"/>
          </a:p>
          <a:p>
            <a:pPr algn="l" rtl="0" eaLnBrk="1" fontAlgn="auto" hangingPunct="1">
              <a:spcBef>
                <a:spcPts val="0"/>
              </a:spcBef>
              <a:spcAft>
                <a:spcPts val="0"/>
              </a:spcAft>
              <a:defRPr/>
            </a:pPr>
            <a:r>
              <a:rPr lang="en-US" dirty="0" smtClean="0"/>
              <a:t>Humans have many such reflex if then connections: some learned some reflexes.</a:t>
            </a:r>
          </a:p>
          <a:p>
            <a:pPr marL="228600" indent="-228600" algn="l" rtl="0" eaLnBrk="1" fontAlgn="auto" hangingPunct="1">
              <a:spcBef>
                <a:spcPts val="0"/>
              </a:spcBef>
              <a:spcAft>
                <a:spcPts val="0"/>
              </a:spcAft>
              <a:buFontTx/>
              <a:buAutoNum type="arabicParenR"/>
              <a:defRPr/>
            </a:pPr>
            <a:r>
              <a:rPr lang="en-US" dirty="0" smtClean="0"/>
              <a:t>Blinking when something come near the eye, retracting the hand from a hot plate</a:t>
            </a:r>
          </a:p>
          <a:p>
            <a:pPr marL="228600" indent="-228600" algn="l" rtl="0" eaLnBrk="1" fontAlgn="auto" hangingPunct="1">
              <a:spcBef>
                <a:spcPts val="0"/>
              </a:spcBef>
              <a:spcAft>
                <a:spcPts val="0"/>
              </a:spcAft>
              <a:buFontTx/>
              <a:buAutoNum type="arabicParenR"/>
              <a:defRPr/>
            </a:pPr>
            <a:r>
              <a:rPr lang="en-US" dirty="0" smtClean="0"/>
              <a:t>Driving bicycles (correctly maintaining balance)</a:t>
            </a:r>
          </a:p>
          <a:p>
            <a:pPr marL="228600" indent="-228600" algn="l" rtl="0" eaLnBrk="1" fontAlgn="auto" hangingPunct="1">
              <a:spcBef>
                <a:spcPts val="0"/>
              </a:spcBef>
              <a:spcAft>
                <a:spcPts val="0"/>
              </a:spcAft>
              <a:buFontTx/>
              <a:buAutoNum type="arabicParenR"/>
              <a:defRPr/>
            </a:pPr>
            <a:endParaRPr lang="en-US" dirty="0" smtClean="0"/>
          </a:p>
          <a:p>
            <a:pPr marL="228600" indent="-228600" algn="l" rtl="0" eaLnBrk="1" fontAlgn="auto" hangingPunct="1">
              <a:spcBef>
                <a:spcPts val="0"/>
              </a:spcBef>
              <a:spcAft>
                <a:spcPts val="0"/>
              </a:spcAft>
              <a:defRPr/>
            </a:pPr>
            <a:r>
              <a:rPr lang="en-US" dirty="0" smtClean="0"/>
              <a:t>The program above was specific to the </a:t>
            </a:r>
            <a:r>
              <a:rPr lang="en-US" dirty="0" err="1" smtClean="0"/>
              <a:t>vac</a:t>
            </a:r>
            <a:r>
              <a:rPr lang="en-US" dirty="0" smtClean="0"/>
              <a:t> cleaner agent: here is a general interpreter, to allow for a connection percept -&gt; action</a:t>
            </a:r>
          </a:p>
          <a:p>
            <a:pPr marL="228600" indent="-228600" algn="l" rtl="0" eaLnBrk="1" fontAlgn="auto" hangingPunct="1">
              <a:spcBef>
                <a:spcPts val="0"/>
              </a:spcBef>
              <a:spcAft>
                <a:spcPts val="0"/>
              </a:spcAft>
              <a:buFontTx/>
              <a:buAutoNum type="arabicParenR"/>
              <a:defRPr/>
            </a:pPr>
            <a:endParaRPr lang="en-US" dirty="0" smtClean="0"/>
          </a:p>
          <a:p>
            <a:pPr marL="228600" indent="-228600" algn="l" rtl="0" eaLnBrk="1" fontAlgn="auto" hangingPunct="1">
              <a:spcBef>
                <a:spcPts val="0"/>
              </a:spcBef>
              <a:spcAft>
                <a:spcPts val="0"/>
              </a:spcAft>
              <a:defRPr/>
            </a:pPr>
            <a:r>
              <a:rPr lang="en-US" dirty="0" smtClean="0"/>
              <a:t>In this type of figures we use </a:t>
            </a:r>
          </a:p>
          <a:p>
            <a:pPr marL="228600" indent="-228600" algn="l" rtl="0" eaLnBrk="1" fontAlgn="auto" hangingPunct="1">
              <a:spcBef>
                <a:spcPts val="0"/>
              </a:spcBef>
              <a:spcAft>
                <a:spcPts val="0"/>
              </a:spcAft>
              <a:buFontTx/>
              <a:buAutoNum type="arabicParenR"/>
              <a:defRPr/>
            </a:pPr>
            <a:r>
              <a:rPr lang="en-US" dirty="0" smtClean="0"/>
              <a:t>rectangles for current initial state of the agents decision process</a:t>
            </a:r>
          </a:p>
          <a:p>
            <a:pPr marL="228600" indent="-228600" algn="l" rtl="0" eaLnBrk="1" fontAlgn="auto" hangingPunct="1">
              <a:spcBef>
                <a:spcPts val="0"/>
              </a:spcBef>
              <a:spcAft>
                <a:spcPts val="0"/>
              </a:spcAft>
              <a:buFontTx/>
              <a:buAutoNum type="arabicParenR"/>
              <a:defRPr/>
            </a:pPr>
            <a:r>
              <a:rPr lang="en-US" dirty="0" smtClean="0"/>
              <a:t>Ovals – background information used</a:t>
            </a:r>
          </a:p>
        </p:txBody>
      </p:sp>
      <p:sp>
        <p:nvSpPr>
          <p:cNvPr id="409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Calibri" panose="020F0502020204030204" pitchFamily="34" charset="0"/>
              </a:defRPr>
            </a:lvl1pPr>
            <a:lvl2pPr marL="742950" indent="-285750" algn="r" rtl="1">
              <a:spcBef>
                <a:spcPct val="30000"/>
              </a:spcBef>
              <a:defRPr sz="1200">
                <a:solidFill>
                  <a:schemeClr val="tx1"/>
                </a:solidFill>
                <a:latin typeface="Calibri" panose="020F0502020204030204" pitchFamily="34" charset="0"/>
              </a:defRPr>
            </a:lvl2pPr>
            <a:lvl3pPr marL="1143000" indent="-228600" algn="r" rtl="1">
              <a:spcBef>
                <a:spcPct val="30000"/>
              </a:spcBef>
              <a:defRPr sz="1200">
                <a:solidFill>
                  <a:schemeClr val="tx1"/>
                </a:solidFill>
                <a:latin typeface="Calibri" panose="020F0502020204030204" pitchFamily="34" charset="0"/>
              </a:defRPr>
            </a:lvl3pPr>
            <a:lvl4pPr marL="1600200" indent="-228600" algn="r" rtl="1">
              <a:spcBef>
                <a:spcPct val="30000"/>
              </a:spcBef>
              <a:defRPr sz="1200">
                <a:solidFill>
                  <a:schemeClr val="tx1"/>
                </a:solidFill>
                <a:latin typeface="Calibri" panose="020F0502020204030204" pitchFamily="34" charset="0"/>
              </a:defRPr>
            </a:lvl4pPr>
            <a:lvl5pPr marL="2057400" indent="-228600" algn="r" rtl="1">
              <a:spcBef>
                <a:spcPct val="30000"/>
              </a:spcBef>
              <a:defRPr sz="1200">
                <a:solidFill>
                  <a:schemeClr val="tx1"/>
                </a:solidFill>
                <a:latin typeface="Calibri" panose="020F0502020204030204" pitchFamily="34" charset="0"/>
              </a:defRPr>
            </a:lvl5pPr>
            <a:lvl6pPr marL="2514600" indent="-228600" algn="r" rtl="1" eaLnBrk="0" fontAlgn="base" hangingPunct="0">
              <a:spcBef>
                <a:spcPct val="30000"/>
              </a:spcBef>
              <a:spcAft>
                <a:spcPct val="0"/>
              </a:spcAft>
              <a:defRPr sz="1200">
                <a:solidFill>
                  <a:schemeClr val="tx1"/>
                </a:solidFill>
                <a:latin typeface="Calibri" panose="020F0502020204030204" pitchFamily="34" charset="0"/>
              </a:defRPr>
            </a:lvl6pPr>
            <a:lvl7pPr marL="2971800" indent="-228600" algn="r" rtl="1" eaLnBrk="0" fontAlgn="base" hangingPunct="0">
              <a:spcBef>
                <a:spcPct val="30000"/>
              </a:spcBef>
              <a:spcAft>
                <a:spcPct val="0"/>
              </a:spcAft>
              <a:defRPr sz="1200">
                <a:solidFill>
                  <a:schemeClr val="tx1"/>
                </a:solidFill>
                <a:latin typeface="Calibri" panose="020F0502020204030204" pitchFamily="34" charset="0"/>
              </a:defRPr>
            </a:lvl7pPr>
            <a:lvl8pPr marL="3429000" indent="-228600" algn="r" rtl="1" eaLnBrk="0" fontAlgn="base" hangingPunct="0">
              <a:spcBef>
                <a:spcPct val="30000"/>
              </a:spcBef>
              <a:spcAft>
                <a:spcPct val="0"/>
              </a:spcAft>
              <a:defRPr sz="1200">
                <a:solidFill>
                  <a:schemeClr val="tx1"/>
                </a:solidFill>
                <a:latin typeface="Calibri" panose="020F0502020204030204" pitchFamily="34" charset="0"/>
              </a:defRPr>
            </a:lvl8pPr>
            <a:lvl9pPr marL="3886200" indent="-228600" algn="r" rtl="1" eaLnBrk="0" fontAlgn="base" hangingPunct="0">
              <a:spcBef>
                <a:spcPct val="30000"/>
              </a:spcBef>
              <a:spcAft>
                <a:spcPct val="0"/>
              </a:spcAft>
              <a:defRPr sz="1200">
                <a:solidFill>
                  <a:schemeClr val="tx1"/>
                </a:solidFill>
                <a:latin typeface="Calibri" panose="020F0502020204030204" pitchFamily="34" charset="0"/>
              </a:defRPr>
            </a:lvl9pPr>
          </a:lstStyle>
          <a:p>
            <a:pPr algn="l" rtl="0">
              <a:spcBef>
                <a:spcPct val="0"/>
              </a:spcBef>
            </a:pPr>
            <a:fld id="{01F63C2B-9A27-47D2-9413-3E1B05C0F26A}" type="slidenum">
              <a:rPr lang="he-IL" altLang="he-IL" smtClean="0">
                <a:latin typeface="Arial" panose="020B0604020202020204" pitchFamily="34" charset="0"/>
              </a:rPr>
              <a:pPr algn="l" rtl="0">
                <a:spcBef>
                  <a:spcPct val="0"/>
                </a:spcBef>
              </a:pPr>
              <a:t>19</a:t>
            </a:fld>
            <a:endParaRPr lang="he-IL" altLang="he-IL" smtClean="0">
              <a:latin typeface="Arial" panose="020B0604020202020204" pitchFamily="34" charset="0"/>
            </a:endParaRPr>
          </a:p>
        </p:txBody>
      </p:sp>
    </p:spTree>
    <p:extLst>
      <p:ext uri="{BB962C8B-B14F-4D97-AF65-F5344CB8AC3E}">
        <p14:creationId xmlns:p14="http://schemas.microsoft.com/office/powerpoint/2010/main" val="23724128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rtl="0" eaLnBrk="1" hangingPunct="1">
              <a:spcBef>
                <a:spcPct val="0"/>
              </a:spcBef>
            </a:pPr>
            <a:r>
              <a:rPr lang="en-US" altLang="he-IL" smtClean="0"/>
              <a:t>‘state’</a:t>
            </a:r>
          </a:p>
          <a:p>
            <a:pPr algn="l" rtl="0" eaLnBrk="1" hangingPunct="1">
              <a:spcBef>
                <a:spcPct val="0"/>
              </a:spcBef>
            </a:pPr>
            <a:r>
              <a:rPr lang="en-US" altLang="he-IL" smtClean="0"/>
              <a:t>The simplest way to take care of partial information is for the agent to keep track of the part of the world it cannot perceive NOW.</a:t>
            </a:r>
            <a:endParaRPr lang="he-IL" altLang="he-IL" smtClean="0"/>
          </a:p>
          <a:p>
            <a:pPr algn="l" rtl="0" eaLnBrk="1" hangingPunct="1">
              <a:spcBef>
                <a:spcPct val="0"/>
              </a:spcBef>
            </a:pPr>
            <a:r>
              <a:rPr lang="en-US" altLang="he-IL" smtClean="0"/>
              <a:t>The agents needs to have some form of knowledge how the state changes by how the world evolves (independent of the agent) and by the agents actions. For example, if the agent put the keys in his pocket (and now does not see them)  the model of state could contain this information.</a:t>
            </a:r>
          </a:p>
          <a:p>
            <a:pPr algn="l" rtl="0" eaLnBrk="1" hangingPunct="1">
              <a:spcBef>
                <a:spcPct val="0"/>
              </a:spcBef>
            </a:pPr>
            <a:r>
              <a:rPr lang="en-US" altLang="he-IL" smtClean="0"/>
              <a:t>‘state’ means that the agent will do different things with identical same percepts. For example with a taxi driver the state ‘ go home to rest’ or ‘at work’.</a:t>
            </a:r>
          </a:p>
          <a:p>
            <a:pPr algn="l" rtl="0" eaLnBrk="1" hangingPunct="1">
              <a:spcBef>
                <a:spcPct val="0"/>
              </a:spcBef>
            </a:pPr>
            <a:endParaRPr lang="en-US" altLang="he-IL" smtClean="0"/>
          </a:p>
          <a:p>
            <a:pPr algn="l" rtl="0" eaLnBrk="1" hangingPunct="1">
              <a:spcBef>
                <a:spcPct val="0"/>
              </a:spcBef>
            </a:pPr>
            <a:r>
              <a:rPr lang="en-US" altLang="he-IL" smtClean="0"/>
              <a:t>‘what the world is like now’</a:t>
            </a:r>
          </a:p>
          <a:p>
            <a:pPr algn="l" rtl="0" eaLnBrk="1" hangingPunct="1">
              <a:spcBef>
                <a:spcPct val="0"/>
              </a:spcBef>
            </a:pPr>
            <a:r>
              <a:rPr lang="en-US" altLang="he-IL" smtClean="0"/>
              <a:t>Clearly the ‘state’ and the current percept (by the sensors) do not produce a precise description of the environment. So  ‘what the world is like now’ is a best guess of the agent </a:t>
            </a:r>
          </a:p>
        </p:txBody>
      </p:sp>
      <p:sp>
        <p:nvSpPr>
          <p:cNvPr id="450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Calibri" panose="020F0502020204030204" pitchFamily="34" charset="0"/>
              </a:defRPr>
            </a:lvl1pPr>
            <a:lvl2pPr marL="742950" indent="-285750" algn="r" rtl="1">
              <a:spcBef>
                <a:spcPct val="30000"/>
              </a:spcBef>
              <a:defRPr sz="1200">
                <a:solidFill>
                  <a:schemeClr val="tx1"/>
                </a:solidFill>
                <a:latin typeface="Calibri" panose="020F0502020204030204" pitchFamily="34" charset="0"/>
              </a:defRPr>
            </a:lvl2pPr>
            <a:lvl3pPr marL="1143000" indent="-228600" algn="r" rtl="1">
              <a:spcBef>
                <a:spcPct val="30000"/>
              </a:spcBef>
              <a:defRPr sz="1200">
                <a:solidFill>
                  <a:schemeClr val="tx1"/>
                </a:solidFill>
                <a:latin typeface="Calibri" panose="020F0502020204030204" pitchFamily="34" charset="0"/>
              </a:defRPr>
            </a:lvl3pPr>
            <a:lvl4pPr marL="1600200" indent="-228600" algn="r" rtl="1">
              <a:spcBef>
                <a:spcPct val="30000"/>
              </a:spcBef>
              <a:defRPr sz="1200">
                <a:solidFill>
                  <a:schemeClr val="tx1"/>
                </a:solidFill>
                <a:latin typeface="Calibri" panose="020F0502020204030204" pitchFamily="34" charset="0"/>
              </a:defRPr>
            </a:lvl4pPr>
            <a:lvl5pPr marL="2057400" indent="-228600" algn="r" rtl="1">
              <a:spcBef>
                <a:spcPct val="30000"/>
              </a:spcBef>
              <a:defRPr sz="1200">
                <a:solidFill>
                  <a:schemeClr val="tx1"/>
                </a:solidFill>
                <a:latin typeface="Calibri" panose="020F0502020204030204" pitchFamily="34" charset="0"/>
              </a:defRPr>
            </a:lvl5pPr>
            <a:lvl6pPr marL="2514600" indent="-228600" algn="r" rtl="1" eaLnBrk="0" fontAlgn="base" hangingPunct="0">
              <a:spcBef>
                <a:spcPct val="30000"/>
              </a:spcBef>
              <a:spcAft>
                <a:spcPct val="0"/>
              </a:spcAft>
              <a:defRPr sz="1200">
                <a:solidFill>
                  <a:schemeClr val="tx1"/>
                </a:solidFill>
                <a:latin typeface="Calibri" panose="020F0502020204030204" pitchFamily="34" charset="0"/>
              </a:defRPr>
            </a:lvl6pPr>
            <a:lvl7pPr marL="2971800" indent="-228600" algn="r" rtl="1" eaLnBrk="0" fontAlgn="base" hangingPunct="0">
              <a:spcBef>
                <a:spcPct val="30000"/>
              </a:spcBef>
              <a:spcAft>
                <a:spcPct val="0"/>
              </a:spcAft>
              <a:defRPr sz="1200">
                <a:solidFill>
                  <a:schemeClr val="tx1"/>
                </a:solidFill>
                <a:latin typeface="Calibri" panose="020F0502020204030204" pitchFamily="34" charset="0"/>
              </a:defRPr>
            </a:lvl7pPr>
            <a:lvl8pPr marL="3429000" indent="-228600" algn="r" rtl="1" eaLnBrk="0" fontAlgn="base" hangingPunct="0">
              <a:spcBef>
                <a:spcPct val="30000"/>
              </a:spcBef>
              <a:spcAft>
                <a:spcPct val="0"/>
              </a:spcAft>
              <a:defRPr sz="1200">
                <a:solidFill>
                  <a:schemeClr val="tx1"/>
                </a:solidFill>
                <a:latin typeface="Calibri" panose="020F0502020204030204" pitchFamily="34" charset="0"/>
              </a:defRPr>
            </a:lvl8pPr>
            <a:lvl9pPr marL="3886200" indent="-228600" algn="r" rtl="1" eaLnBrk="0" fontAlgn="base" hangingPunct="0">
              <a:spcBef>
                <a:spcPct val="30000"/>
              </a:spcBef>
              <a:spcAft>
                <a:spcPct val="0"/>
              </a:spcAft>
              <a:defRPr sz="1200">
                <a:solidFill>
                  <a:schemeClr val="tx1"/>
                </a:solidFill>
                <a:latin typeface="Calibri" panose="020F0502020204030204" pitchFamily="34" charset="0"/>
              </a:defRPr>
            </a:lvl9pPr>
          </a:lstStyle>
          <a:p>
            <a:pPr algn="l" rtl="0">
              <a:spcBef>
                <a:spcPct val="0"/>
              </a:spcBef>
            </a:pPr>
            <a:fld id="{EAE83BA5-B7AD-4767-987D-344B41553E9E}" type="slidenum">
              <a:rPr lang="he-IL" altLang="he-IL" smtClean="0">
                <a:latin typeface="Arial" panose="020B0604020202020204" pitchFamily="34" charset="0"/>
              </a:rPr>
              <a:pPr algn="l" rtl="0">
                <a:spcBef>
                  <a:spcPct val="0"/>
                </a:spcBef>
              </a:pPr>
              <a:t>20</a:t>
            </a:fld>
            <a:endParaRPr lang="he-IL" altLang="he-IL" smtClean="0">
              <a:latin typeface="Arial" panose="020B0604020202020204" pitchFamily="34" charset="0"/>
            </a:endParaRPr>
          </a:p>
        </p:txBody>
      </p:sp>
    </p:spTree>
    <p:extLst>
      <p:ext uri="{BB962C8B-B14F-4D97-AF65-F5344CB8AC3E}">
        <p14:creationId xmlns:p14="http://schemas.microsoft.com/office/powerpoint/2010/main" val="33044703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rtl="0" eaLnBrk="1" hangingPunct="1"/>
            <a:r>
              <a:rPr lang="en-US" altLang="he-IL" smtClean="0"/>
              <a:t>Here decision is fundumentally different from that of the reflex agent which is based on condition-action rules.</a:t>
            </a:r>
          </a:p>
          <a:p>
            <a:pPr algn="l" rtl="0" eaLnBrk="1" hangingPunct="1"/>
            <a:r>
              <a:rPr lang="en-US" altLang="he-IL" smtClean="0"/>
              <a:t>It involves considering “what will happen if I take this action. So must have a model of the world, and a model of its action.</a:t>
            </a:r>
          </a:p>
          <a:p>
            <a:pPr algn="l" rtl="0" eaLnBrk="1" hangingPunct="1"/>
            <a:endParaRPr lang="en-US" altLang="he-IL" smtClean="0"/>
          </a:p>
          <a:p>
            <a:pPr algn="l" rtl="0" eaLnBrk="1" hangingPunct="1"/>
            <a:r>
              <a:rPr lang="en-US" altLang="he-IL" smtClean="0"/>
              <a:t>A reflex agent will brake when seeing break-lights.</a:t>
            </a:r>
          </a:p>
          <a:p>
            <a:pPr algn="l" rtl="0" eaLnBrk="1" hangingPunct="1"/>
            <a:r>
              <a:rPr lang="en-US" altLang="he-IL" smtClean="0"/>
              <a:t>A goal base agent will slow down in this situation, since the dynamics of the world is clear – this is the only way to avoid hitting other cars</a:t>
            </a:r>
          </a:p>
          <a:p>
            <a:pPr algn="l" rtl="0" eaLnBrk="1" hangingPunct="1"/>
            <a:endParaRPr lang="en-US" altLang="he-IL" smtClean="0"/>
          </a:p>
          <a:p>
            <a:pPr algn="l" rtl="0" eaLnBrk="1" hangingPunct="1"/>
            <a:r>
              <a:rPr lang="en-US" altLang="he-IL" smtClean="0"/>
              <a:t>This is a more flexible agent:  when raining it may adapt its behavior to suit the new conditions.</a:t>
            </a:r>
          </a:p>
          <a:p>
            <a:pPr algn="l" rtl="0" eaLnBrk="1" hangingPunct="1"/>
            <a:r>
              <a:rPr lang="en-US" altLang="he-IL" smtClean="0"/>
              <a:t>For a reflex agent we will have to rewrite many condition-action rules…</a:t>
            </a:r>
          </a:p>
          <a:p>
            <a:pPr algn="l" rtl="0" eaLnBrk="1" hangingPunct="1"/>
            <a:r>
              <a:rPr lang="en-US" altLang="he-IL" smtClean="0"/>
              <a:t>The goal based agent can easily adapt to go to a different destination by simply specifying the new destination as the goal.</a:t>
            </a:r>
          </a:p>
          <a:p>
            <a:pPr algn="l" rtl="0" eaLnBrk="1" hangingPunct="1"/>
            <a:r>
              <a:rPr lang="en-US" altLang="he-IL" smtClean="0"/>
              <a:t>The reflex agent rules as to where to turn and whe  to go straight will work for a single destination and must all be replaced if we want to go anywhere else.</a:t>
            </a:r>
            <a:endParaRPr lang="he-IL" altLang="he-IL" smtClean="0"/>
          </a:p>
        </p:txBody>
      </p:sp>
      <p:sp>
        <p:nvSpPr>
          <p:cNvPr id="481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Calibri" panose="020F0502020204030204" pitchFamily="34" charset="0"/>
              </a:defRPr>
            </a:lvl1pPr>
            <a:lvl2pPr marL="742950" indent="-285750" algn="r" rtl="1">
              <a:spcBef>
                <a:spcPct val="30000"/>
              </a:spcBef>
              <a:defRPr sz="1200">
                <a:solidFill>
                  <a:schemeClr val="tx1"/>
                </a:solidFill>
                <a:latin typeface="Calibri" panose="020F0502020204030204" pitchFamily="34" charset="0"/>
              </a:defRPr>
            </a:lvl2pPr>
            <a:lvl3pPr marL="1143000" indent="-228600" algn="r" rtl="1">
              <a:spcBef>
                <a:spcPct val="30000"/>
              </a:spcBef>
              <a:defRPr sz="1200">
                <a:solidFill>
                  <a:schemeClr val="tx1"/>
                </a:solidFill>
                <a:latin typeface="Calibri" panose="020F0502020204030204" pitchFamily="34" charset="0"/>
              </a:defRPr>
            </a:lvl3pPr>
            <a:lvl4pPr marL="1600200" indent="-228600" algn="r" rtl="1">
              <a:spcBef>
                <a:spcPct val="30000"/>
              </a:spcBef>
              <a:defRPr sz="1200">
                <a:solidFill>
                  <a:schemeClr val="tx1"/>
                </a:solidFill>
                <a:latin typeface="Calibri" panose="020F0502020204030204" pitchFamily="34" charset="0"/>
              </a:defRPr>
            </a:lvl4pPr>
            <a:lvl5pPr marL="2057400" indent="-228600" algn="r" rtl="1">
              <a:spcBef>
                <a:spcPct val="30000"/>
              </a:spcBef>
              <a:defRPr sz="1200">
                <a:solidFill>
                  <a:schemeClr val="tx1"/>
                </a:solidFill>
                <a:latin typeface="Calibri" panose="020F0502020204030204" pitchFamily="34" charset="0"/>
              </a:defRPr>
            </a:lvl5pPr>
            <a:lvl6pPr marL="2514600" indent="-228600" algn="r" rtl="1" eaLnBrk="0" fontAlgn="base" hangingPunct="0">
              <a:spcBef>
                <a:spcPct val="30000"/>
              </a:spcBef>
              <a:spcAft>
                <a:spcPct val="0"/>
              </a:spcAft>
              <a:defRPr sz="1200">
                <a:solidFill>
                  <a:schemeClr val="tx1"/>
                </a:solidFill>
                <a:latin typeface="Calibri" panose="020F0502020204030204" pitchFamily="34" charset="0"/>
              </a:defRPr>
            </a:lvl6pPr>
            <a:lvl7pPr marL="2971800" indent="-228600" algn="r" rtl="1" eaLnBrk="0" fontAlgn="base" hangingPunct="0">
              <a:spcBef>
                <a:spcPct val="30000"/>
              </a:spcBef>
              <a:spcAft>
                <a:spcPct val="0"/>
              </a:spcAft>
              <a:defRPr sz="1200">
                <a:solidFill>
                  <a:schemeClr val="tx1"/>
                </a:solidFill>
                <a:latin typeface="Calibri" panose="020F0502020204030204" pitchFamily="34" charset="0"/>
              </a:defRPr>
            </a:lvl7pPr>
            <a:lvl8pPr marL="3429000" indent="-228600" algn="r" rtl="1" eaLnBrk="0" fontAlgn="base" hangingPunct="0">
              <a:spcBef>
                <a:spcPct val="30000"/>
              </a:spcBef>
              <a:spcAft>
                <a:spcPct val="0"/>
              </a:spcAft>
              <a:defRPr sz="1200">
                <a:solidFill>
                  <a:schemeClr val="tx1"/>
                </a:solidFill>
                <a:latin typeface="Calibri" panose="020F0502020204030204" pitchFamily="34" charset="0"/>
              </a:defRPr>
            </a:lvl8pPr>
            <a:lvl9pPr marL="3886200" indent="-228600" algn="r" rtl="1" eaLnBrk="0" fontAlgn="base" hangingPunct="0">
              <a:spcBef>
                <a:spcPct val="30000"/>
              </a:spcBef>
              <a:spcAft>
                <a:spcPct val="0"/>
              </a:spcAft>
              <a:defRPr sz="1200">
                <a:solidFill>
                  <a:schemeClr val="tx1"/>
                </a:solidFill>
                <a:latin typeface="Calibri" panose="020F0502020204030204" pitchFamily="34" charset="0"/>
              </a:defRPr>
            </a:lvl9pPr>
          </a:lstStyle>
          <a:p>
            <a:pPr algn="l" rtl="0">
              <a:spcBef>
                <a:spcPct val="0"/>
              </a:spcBef>
            </a:pPr>
            <a:fld id="{09E36EB6-F8FC-4008-86A4-7C6EE45D82F7}" type="slidenum">
              <a:rPr lang="he-IL" altLang="he-IL" smtClean="0">
                <a:latin typeface="Arial" panose="020B0604020202020204" pitchFamily="34" charset="0"/>
              </a:rPr>
              <a:pPr algn="l" rtl="0">
                <a:spcBef>
                  <a:spcPct val="0"/>
                </a:spcBef>
              </a:pPr>
              <a:t>21</a:t>
            </a:fld>
            <a:endParaRPr lang="he-IL" altLang="he-IL" smtClean="0">
              <a:latin typeface="Arial" panose="020B0604020202020204" pitchFamily="34" charset="0"/>
            </a:endParaRPr>
          </a:p>
        </p:txBody>
      </p:sp>
    </p:spTree>
    <p:extLst>
      <p:ext uri="{BB962C8B-B14F-4D97-AF65-F5344CB8AC3E}">
        <p14:creationId xmlns:p14="http://schemas.microsoft.com/office/powerpoint/2010/main" val="26119837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2019</a:t>
            </a:r>
          </a:p>
        </p:txBody>
      </p:sp>
      <p:sp>
        <p:nvSpPr>
          <p:cNvPr id="5" name="Footer Placeholder 4"/>
          <p:cNvSpPr>
            <a:spLocks noGrp="1"/>
          </p:cNvSpPr>
          <p:nvPr>
            <p:ph type="ftr" sz="quarter" idx="11"/>
          </p:nvPr>
        </p:nvSpPr>
        <p:spPr/>
        <p:txBody>
          <a:bodyPr/>
          <a:lstStyle/>
          <a:p>
            <a:r>
              <a:rPr lang="en-US"/>
              <a:t>MECQ1203: Artificial Intelligence</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2019</a:t>
            </a:r>
          </a:p>
        </p:txBody>
      </p:sp>
      <p:sp>
        <p:nvSpPr>
          <p:cNvPr id="5" name="Footer Placeholder 4"/>
          <p:cNvSpPr>
            <a:spLocks noGrp="1"/>
          </p:cNvSpPr>
          <p:nvPr>
            <p:ph type="ftr" sz="quarter" idx="11"/>
          </p:nvPr>
        </p:nvSpPr>
        <p:spPr/>
        <p:txBody>
          <a:bodyPr/>
          <a:lstStyle/>
          <a:p>
            <a:r>
              <a:rPr lang="en-US"/>
              <a:t>MECQ1203: Artificial Intelligence</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2019</a:t>
            </a:r>
          </a:p>
        </p:txBody>
      </p:sp>
      <p:sp>
        <p:nvSpPr>
          <p:cNvPr id="5" name="Footer Placeholder 4"/>
          <p:cNvSpPr>
            <a:spLocks noGrp="1"/>
          </p:cNvSpPr>
          <p:nvPr>
            <p:ph type="ftr" sz="quarter" idx="11"/>
          </p:nvPr>
        </p:nvSpPr>
        <p:spPr/>
        <p:txBody>
          <a:bodyPr/>
          <a:lstStyle/>
          <a:p>
            <a:r>
              <a:rPr lang="en-US"/>
              <a:t>MECQ1203: Artificial Intelligence</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2019</a:t>
            </a:r>
          </a:p>
        </p:txBody>
      </p:sp>
      <p:sp>
        <p:nvSpPr>
          <p:cNvPr id="6" name="Footer Placeholder 5"/>
          <p:cNvSpPr>
            <a:spLocks noGrp="1"/>
          </p:cNvSpPr>
          <p:nvPr>
            <p:ph type="ftr" sz="quarter" idx="11"/>
          </p:nvPr>
        </p:nvSpPr>
        <p:spPr/>
        <p:txBody>
          <a:bodyPr/>
          <a:lstStyle/>
          <a:p>
            <a:r>
              <a:rPr lang="en-US"/>
              <a:t>MECQ1203: Artificial Intelligence</a:t>
            </a:r>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2019</a:t>
            </a:r>
          </a:p>
        </p:txBody>
      </p:sp>
      <p:sp>
        <p:nvSpPr>
          <p:cNvPr id="8" name="Footer Placeholder 7"/>
          <p:cNvSpPr>
            <a:spLocks noGrp="1"/>
          </p:cNvSpPr>
          <p:nvPr>
            <p:ph type="ftr" sz="quarter" idx="11"/>
          </p:nvPr>
        </p:nvSpPr>
        <p:spPr/>
        <p:txBody>
          <a:bodyPr/>
          <a:lstStyle/>
          <a:p>
            <a:r>
              <a:rPr lang="en-US"/>
              <a:t>MECQ1203: Artificial Intelligence</a:t>
            </a:r>
          </a:p>
        </p:txBody>
      </p:sp>
      <p:sp>
        <p:nvSpPr>
          <p:cNvPr id="9" name="Slide Number Placeholder 8"/>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2019</a:t>
            </a:r>
          </a:p>
        </p:txBody>
      </p:sp>
      <p:sp>
        <p:nvSpPr>
          <p:cNvPr id="4" name="Footer Placeholder 3"/>
          <p:cNvSpPr>
            <a:spLocks noGrp="1"/>
          </p:cNvSpPr>
          <p:nvPr>
            <p:ph type="ftr" sz="quarter" idx="11"/>
          </p:nvPr>
        </p:nvSpPr>
        <p:spPr/>
        <p:txBody>
          <a:bodyPr/>
          <a:lstStyle/>
          <a:p>
            <a:r>
              <a:rPr lang="en-US"/>
              <a:t>MECQ1203: Artificial Intelligence</a:t>
            </a:r>
          </a:p>
        </p:txBody>
      </p:sp>
      <p:sp>
        <p:nvSpPr>
          <p:cNvPr id="5" name="Slide Number Placeholder 4"/>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2019</a:t>
            </a:r>
          </a:p>
        </p:txBody>
      </p:sp>
      <p:sp>
        <p:nvSpPr>
          <p:cNvPr id="3" name="Footer Placeholder 2"/>
          <p:cNvSpPr>
            <a:spLocks noGrp="1"/>
          </p:cNvSpPr>
          <p:nvPr>
            <p:ph type="ftr" sz="quarter" idx="11"/>
          </p:nvPr>
        </p:nvSpPr>
        <p:spPr/>
        <p:txBody>
          <a:bodyPr/>
          <a:lstStyle/>
          <a:p>
            <a:r>
              <a:rPr lang="en-US"/>
              <a:t>MECQ1203: Artificial Intelligence</a:t>
            </a:r>
          </a:p>
        </p:txBody>
      </p:sp>
      <p:sp>
        <p:nvSpPr>
          <p:cNvPr id="4" name="Slide Number Placeholder 3"/>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2019</a:t>
            </a:r>
          </a:p>
        </p:txBody>
      </p:sp>
      <p:sp>
        <p:nvSpPr>
          <p:cNvPr id="6" name="Footer Placeholder 5"/>
          <p:cNvSpPr>
            <a:spLocks noGrp="1"/>
          </p:cNvSpPr>
          <p:nvPr>
            <p:ph type="ftr" sz="quarter" idx="11"/>
          </p:nvPr>
        </p:nvSpPr>
        <p:spPr/>
        <p:txBody>
          <a:bodyPr/>
          <a:lstStyle/>
          <a:p>
            <a:r>
              <a:rPr lang="en-US"/>
              <a:t>MECQ1203: Artificial Intelligence</a:t>
            </a:r>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2019</a:t>
            </a:r>
          </a:p>
        </p:txBody>
      </p:sp>
      <p:sp>
        <p:nvSpPr>
          <p:cNvPr id="6" name="Footer Placeholder 5"/>
          <p:cNvSpPr>
            <a:spLocks noGrp="1"/>
          </p:cNvSpPr>
          <p:nvPr>
            <p:ph type="ftr" sz="quarter" idx="11"/>
          </p:nvPr>
        </p:nvSpPr>
        <p:spPr/>
        <p:txBody>
          <a:bodyPr/>
          <a:lstStyle/>
          <a:p>
            <a:r>
              <a:rPr lang="en-US"/>
              <a:t>MECQ1203: Artificial Intelligence</a:t>
            </a:r>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2019</a:t>
            </a:r>
          </a:p>
        </p:txBody>
      </p:sp>
      <p:sp>
        <p:nvSpPr>
          <p:cNvPr id="5" name="Footer Placeholder 4"/>
          <p:cNvSpPr>
            <a:spLocks noGrp="1"/>
          </p:cNvSpPr>
          <p:nvPr>
            <p:ph type="ftr" sz="quarter" idx="11"/>
          </p:nvPr>
        </p:nvSpPr>
        <p:spPr/>
        <p:txBody>
          <a:bodyPr/>
          <a:lstStyle/>
          <a:p>
            <a:r>
              <a:rPr lang="en-US"/>
              <a:t>MECQ1203: Artificial Intelligence</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2019</a:t>
            </a:r>
          </a:p>
        </p:txBody>
      </p:sp>
      <p:sp>
        <p:nvSpPr>
          <p:cNvPr id="5" name="Footer Placeholder 4"/>
          <p:cNvSpPr>
            <a:spLocks noGrp="1"/>
          </p:cNvSpPr>
          <p:nvPr>
            <p:ph type="ftr" sz="quarter" idx="11"/>
          </p:nvPr>
        </p:nvSpPr>
        <p:spPr/>
        <p:txBody>
          <a:bodyPr/>
          <a:lstStyle/>
          <a:p>
            <a:r>
              <a:rPr lang="en-US"/>
              <a:t>MECQ1203: Artificial Intelligence</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heme" Target="../theme/theme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10"/>
          <p:cNvPicPr>
            <a:picLocks noChangeAspect="1" noChangeArrowheads="1"/>
          </p:cNvPicPr>
          <p:nvPr userDrawn="1"/>
        </p:nvPicPr>
        <p:blipFill>
          <a:blip r:embed="rId13" cstate="print"/>
          <a:srcRect/>
          <a:stretch>
            <a:fillRect/>
          </a:stretch>
        </p:blipFill>
        <p:spPr bwMode="auto">
          <a:xfrm>
            <a:off x="-747" y="6487366"/>
            <a:ext cx="9131300" cy="357187"/>
          </a:xfrm>
          <a:prstGeom prst="rect">
            <a:avLst/>
          </a:prstGeom>
          <a:noFill/>
          <a:ln w="9525">
            <a:noFill/>
            <a:miter lim="800000"/>
            <a:headEnd/>
            <a:tailEnd/>
          </a:ln>
        </p:spPr>
      </p:pic>
      <p:sp>
        <p:nvSpPr>
          <p:cNvPr id="9" name="Rectangle 19"/>
          <p:cNvSpPr>
            <a:spLocks noChangeArrowheads="1"/>
          </p:cNvSpPr>
          <p:nvPr userDrawn="1"/>
        </p:nvSpPr>
        <p:spPr bwMode="auto">
          <a:xfrm>
            <a:off x="0" y="0"/>
            <a:ext cx="9144000" cy="1417638"/>
          </a:xfrm>
          <a:prstGeom prst="rect">
            <a:avLst/>
          </a:prstGeom>
          <a:solidFill>
            <a:srgbClr val="FFE1AD"/>
          </a:solidFill>
          <a:ln w="9525">
            <a:noFill/>
            <a:miter lim="800000"/>
            <a:headEnd/>
            <a:tailEnd/>
          </a:ln>
          <a:effectLst/>
        </p:spPr>
        <p:txBody>
          <a:bodyPr wrap="none" anchor="ctr"/>
          <a:lstStyle/>
          <a:p>
            <a:pPr>
              <a:defRPr/>
            </a:pPr>
            <a:endParaRPr lang="en-US">
              <a:ea typeface="ＭＳ Ｐゴシック" pitchFamily="-112" charset="-128"/>
            </a:endParaRPr>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pic>
        <p:nvPicPr>
          <p:cNvPr id="10" name="Picture 20" descr="header_UTM"/>
          <p:cNvPicPr>
            <a:picLocks noChangeAspect="1" noChangeArrowheads="1"/>
          </p:cNvPicPr>
          <p:nvPr userDrawn="1"/>
        </p:nvPicPr>
        <p:blipFill>
          <a:blip r:embed="rId14" cstate="print"/>
          <a:srcRect/>
          <a:stretch>
            <a:fillRect/>
          </a:stretch>
        </p:blipFill>
        <p:spPr bwMode="auto">
          <a:xfrm>
            <a:off x="63500" y="106363"/>
            <a:ext cx="1195388" cy="395287"/>
          </a:xfrm>
          <a:prstGeom prst="rect">
            <a:avLst/>
          </a:prstGeom>
          <a:noFill/>
          <a:ln w="9525">
            <a:noFill/>
            <a:miter lim="800000"/>
            <a:headEnd/>
            <a:tailEnd/>
          </a:ln>
        </p:spPr>
      </p:pic>
      <p:pic>
        <p:nvPicPr>
          <p:cNvPr id="11" name="Picture 22" descr="header_url"/>
          <p:cNvPicPr>
            <a:picLocks noChangeAspect="1" noChangeArrowheads="1"/>
          </p:cNvPicPr>
          <p:nvPr userDrawn="1"/>
        </p:nvPicPr>
        <p:blipFill>
          <a:blip r:embed="rId15" cstate="print"/>
          <a:srcRect/>
          <a:stretch>
            <a:fillRect/>
          </a:stretch>
        </p:blipFill>
        <p:spPr bwMode="auto">
          <a:xfrm>
            <a:off x="0" y="1169894"/>
            <a:ext cx="2376488" cy="255588"/>
          </a:xfrm>
          <a:prstGeom prst="rect">
            <a:avLst/>
          </a:prstGeom>
          <a:noFill/>
          <a:ln w="9525">
            <a:noFill/>
            <a:miter lim="800000"/>
            <a:headEnd/>
            <a:tailEnd/>
          </a:ln>
        </p:spPr>
      </p:pic>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598396"/>
            <a:ext cx="2133600" cy="365125"/>
          </a:xfrm>
          <a:prstGeom prst="rect">
            <a:avLst/>
          </a:prstGeom>
        </p:spPr>
        <p:txBody>
          <a:bodyPr vert="horz" lIns="91440" tIns="45720" rIns="91440" bIns="45720" rtlCol="0" anchor="ctr"/>
          <a:lstStyle>
            <a:lvl1pPr algn="l">
              <a:defRPr sz="1100">
                <a:solidFill>
                  <a:sysClr val="windowText" lastClr="000000"/>
                </a:solidFill>
              </a:defRPr>
            </a:lvl1pPr>
          </a:lstStyle>
          <a:p>
            <a:r>
              <a:rPr lang="en-US"/>
              <a:t>2019</a:t>
            </a:r>
            <a:endParaRPr lang="en-US" dirty="0"/>
          </a:p>
        </p:txBody>
      </p:sp>
      <p:sp>
        <p:nvSpPr>
          <p:cNvPr id="5" name="Footer Placeholder 4"/>
          <p:cNvSpPr>
            <a:spLocks noGrp="1"/>
          </p:cNvSpPr>
          <p:nvPr>
            <p:ph type="ftr" sz="quarter" idx="3"/>
          </p:nvPr>
        </p:nvSpPr>
        <p:spPr>
          <a:xfrm>
            <a:off x="2469777" y="6620436"/>
            <a:ext cx="4191000" cy="304800"/>
          </a:xfrm>
          <a:prstGeom prst="rect">
            <a:avLst/>
          </a:prstGeom>
        </p:spPr>
        <p:txBody>
          <a:bodyPr vert="horz" lIns="91440" tIns="45720" rIns="91440" bIns="45720" rtlCol="0" anchor="ctr"/>
          <a:lstStyle>
            <a:lvl1pPr algn="ctr">
              <a:defRPr sz="1100">
                <a:solidFill>
                  <a:sysClr val="windowText" lastClr="000000"/>
                </a:solidFill>
              </a:defRPr>
            </a:lvl1pPr>
          </a:lstStyle>
          <a:p>
            <a:r>
              <a:rPr lang="en-US"/>
              <a:t>MECQ1203: Artificial Intelligence</a:t>
            </a:r>
          </a:p>
        </p:txBody>
      </p:sp>
      <p:sp>
        <p:nvSpPr>
          <p:cNvPr id="6" name="Slide Number Placeholder 5"/>
          <p:cNvSpPr>
            <a:spLocks noGrp="1"/>
          </p:cNvSpPr>
          <p:nvPr>
            <p:ph type="sldNum" sz="quarter" idx="4"/>
          </p:nvPr>
        </p:nvSpPr>
        <p:spPr>
          <a:xfrm>
            <a:off x="6553200" y="6598396"/>
            <a:ext cx="2133600" cy="365125"/>
          </a:xfrm>
          <a:prstGeom prst="rect">
            <a:avLst/>
          </a:prstGeom>
        </p:spPr>
        <p:txBody>
          <a:bodyPr vert="horz" lIns="91440" tIns="45720" rIns="91440" bIns="45720" rtlCol="0" anchor="ctr"/>
          <a:lstStyle>
            <a:lvl1pPr algn="r">
              <a:defRPr sz="1100">
                <a:solidFill>
                  <a:sysClr val="windowText" lastClr="000000"/>
                </a:solidFill>
              </a:defRPr>
            </a:lvl1pPr>
          </a:lstStyle>
          <a:p>
            <a:fld id="{0362C787-829C-4B6B-B21B-90D8981190F3}" type="slidenum">
              <a:rPr lang="en-US" smtClean="0"/>
              <a:pPr/>
              <a:t>‹#›</a:t>
            </a:fld>
            <a:endParaRPr lang="en-US"/>
          </a:p>
        </p:txBody>
      </p:sp>
      <p:pic>
        <p:nvPicPr>
          <p:cNvPr id="12" name="Picture 3" descr="A close up of a logo&#10;&#10;Description automatically generated">
            <a:extLst>
              <a:ext uri="{FF2B5EF4-FFF2-40B4-BE49-F238E27FC236}">
                <a16:creationId xmlns:a16="http://schemas.microsoft.com/office/drawing/2014/main" xmlns="" id="{5A3AE759-D010-43EB-8C5F-B95307ECC8E4}"/>
              </a:ext>
            </a:extLst>
          </p:cNvPr>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7630160" y="6021985"/>
            <a:ext cx="1392237"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Content Placeholder 2"/>
          <p:cNvSpPr txBox="1">
            <a:spLocks/>
          </p:cNvSpPr>
          <p:nvPr userDrawn="1"/>
        </p:nvSpPr>
        <p:spPr>
          <a:xfrm>
            <a:off x="457200" y="1600200"/>
            <a:ext cx="8229600" cy="4525963"/>
          </a:xfrm>
          <a:prstGeom prst="rect">
            <a:avLst/>
          </a:prstGeom>
        </p:spPr>
        <p:txBody>
          <a:bodyPr/>
          <a:lstStyle/>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endParaRPr kumimoji="0" lang="en-US" sz="5400" b="0" i="0" u="none" strike="noStrike" kern="1200" cap="none" spc="0" normalizeH="0" baseline="0" noProof="0">
              <a:ln>
                <a:noFill/>
              </a:ln>
              <a:solidFill>
                <a:schemeClr val="tx1"/>
              </a:solidFill>
              <a:effectLst/>
              <a:uLnTx/>
              <a:uFillTx/>
              <a:latin typeface="+mn-lt"/>
              <a:ea typeface="+mn-ea"/>
              <a:cs typeface="+mn-cs"/>
            </a:endParaRP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5400" b="1" i="0" u="none" strike="noStrike" kern="1200" cap="none" spc="0" normalizeH="0" baseline="0" noProof="0">
                <a:ln>
                  <a:noFill/>
                </a:ln>
                <a:solidFill>
                  <a:schemeClr val="tx1"/>
                </a:solidFill>
                <a:effectLst/>
                <a:uLnTx/>
                <a:uFillTx/>
                <a:latin typeface="+mn-lt"/>
                <a:ea typeface="+mn-ea"/>
                <a:cs typeface="+mn-cs"/>
              </a:rPr>
              <a:t>Terima Kasih</a:t>
            </a: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2800" b="0" i="0" u="none" strike="noStrike" kern="1200" cap="none" spc="0" normalizeH="0" baseline="0" noProof="0">
                <a:ln>
                  <a:noFill/>
                </a:ln>
                <a:solidFill>
                  <a:srgbClr val="C00000"/>
                </a:solidFill>
                <a:effectLst/>
                <a:uLnTx/>
                <a:uFillTx/>
                <a:latin typeface="+mn-lt"/>
                <a:ea typeface="+mn-ea"/>
                <a:cs typeface="+mn-cs"/>
              </a:rPr>
              <a:t>atas keprihatinan anda</a:t>
            </a: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endParaRPr kumimoji="0" lang="en-US" sz="2800" b="0" i="0" u="none" strike="noStrike" kern="1200" cap="none" spc="0" normalizeH="0" baseline="0" noProof="0">
              <a:ln>
                <a:noFill/>
              </a:ln>
              <a:solidFill>
                <a:srgbClr val="C00000"/>
              </a:solidFill>
              <a:effectLst/>
              <a:uLnTx/>
              <a:uFillTx/>
              <a:latin typeface="+mn-lt"/>
              <a:ea typeface="+mn-ea"/>
              <a:cs typeface="+mn-cs"/>
            </a:endParaRP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3600" b="1" i="0" u="none" strike="noStrike" kern="1200" cap="none" spc="0" normalizeH="0" baseline="0" noProof="0">
                <a:ln>
                  <a:noFill/>
                </a:ln>
                <a:solidFill>
                  <a:srgbClr val="002060"/>
                </a:solidFill>
                <a:effectLst/>
                <a:uLnTx/>
                <a:uFillTx/>
                <a:latin typeface="Baskerville Old Face" pitchFamily="18" charset="0"/>
                <a:ea typeface="+mn-ea"/>
                <a:cs typeface="+mn-cs"/>
              </a:rPr>
              <a:t>“I Care, You Care, We Care”</a:t>
            </a:r>
            <a:endParaRPr kumimoji="0" lang="en-US" sz="3600" b="1" i="0" u="none" strike="noStrike" kern="1200" cap="none" spc="0" normalizeH="0" baseline="0" noProof="0" dirty="0">
              <a:ln>
                <a:noFill/>
              </a:ln>
              <a:solidFill>
                <a:srgbClr val="002060"/>
              </a:solidFill>
              <a:effectLst/>
              <a:uLnTx/>
              <a:uFillTx/>
              <a:latin typeface="Baskerville Old Face" pitchFamily="18" charset="0"/>
              <a:ea typeface="+mn-ea"/>
              <a:cs typeface="+mn-cs"/>
            </a:endParaRPr>
          </a:p>
        </p:txBody>
      </p:sp>
      <p:pic>
        <p:nvPicPr>
          <p:cNvPr id="13" name="Picture 10"/>
          <p:cNvPicPr>
            <a:picLocks noChangeAspect="1" noChangeArrowheads="1"/>
          </p:cNvPicPr>
          <p:nvPr userDrawn="1"/>
        </p:nvPicPr>
        <p:blipFill>
          <a:blip r:embed="rId2" cstate="print"/>
          <a:srcRect/>
          <a:stretch>
            <a:fillRect/>
          </a:stretch>
        </p:blipFill>
        <p:spPr bwMode="auto">
          <a:xfrm>
            <a:off x="-747" y="6487366"/>
            <a:ext cx="9131300" cy="357187"/>
          </a:xfrm>
          <a:prstGeom prst="rect">
            <a:avLst/>
          </a:prstGeom>
          <a:noFill/>
          <a:ln w="9525">
            <a:noFill/>
            <a:miter lim="800000"/>
            <a:headEnd/>
            <a:tailEnd/>
          </a:ln>
        </p:spPr>
      </p:pic>
      <p:sp>
        <p:nvSpPr>
          <p:cNvPr id="14" name="Date Placeholder 3"/>
          <p:cNvSpPr>
            <a:spLocks noGrp="1"/>
          </p:cNvSpPr>
          <p:nvPr>
            <p:ph type="dt" sz="half" idx="2"/>
          </p:nvPr>
        </p:nvSpPr>
        <p:spPr>
          <a:xfrm>
            <a:off x="0" y="6600451"/>
            <a:ext cx="1547664"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solidFill>
                <a:latin typeface="+mn-lt"/>
              </a:defRPr>
            </a:lvl1pPr>
          </a:lstStyle>
          <a:p>
            <a:pPr>
              <a:defRPr/>
            </a:pPr>
            <a:r>
              <a:rPr lang="en-US"/>
              <a:t>2019</a:t>
            </a:r>
            <a:endParaRPr lang="en-US" dirty="0"/>
          </a:p>
        </p:txBody>
      </p:sp>
      <p:sp>
        <p:nvSpPr>
          <p:cNvPr id="15" name="Slide Number Placeholder 5"/>
          <p:cNvSpPr>
            <a:spLocks noGrp="1"/>
          </p:cNvSpPr>
          <p:nvPr>
            <p:ph type="sldNum" sz="quarter" idx="4"/>
          </p:nvPr>
        </p:nvSpPr>
        <p:spPr>
          <a:xfrm>
            <a:off x="8316416" y="6600451"/>
            <a:ext cx="4572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solidFill>
                <a:latin typeface="+mn-lt"/>
              </a:defRPr>
            </a:lvl1pPr>
          </a:lstStyle>
          <a:p>
            <a:pPr>
              <a:defRPr/>
            </a:pPr>
            <a:fld id="{C038A795-CA2C-4B96-A1E0-C7053193AEE8}" type="slidenum">
              <a:rPr lang="en-US"/>
              <a:pPr>
                <a:defRPr/>
              </a:pPr>
              <a:t>‹#›</a:t>
            </a:fld>
            <a:endParaRPr lang="en-US"/>
          </a:p>
        </p:txBody>
      </p:sp>
      <p:sp>
        <p:nvSpPr>
          <p:cNvPr id="16" name="Rectangle 19"/>
          <p:cNvSpPr>
            <a:spLocks noChangeArrowheads="1"/>
          </p:cNvSpPr>
          <p:nvPr userDrawn="1"/>
        </p:nvSpPr>
        <p:spPr bwMode="auto">
          <a:xfrm>
            <a:off x="0" y="0"/>
            <a:ext cx="9144000" cy="1417638"/>
          </a:xfrm>
          <a:prstGeom prst="rect">
            <a:avLst/>
          </a:prstGeom>
          <a:solidFill>
            <a:srgbClr val="FFE1AD"/>
          </a:solidFill>
          <a:ln w="9525">
            <a:noFill/>
            <a:miter lim="800000"/>
            <a:headEnd/>
            <a:tailEnd/>
          </a:ln>
          <a:effectLst/>
        </p:spPr>
        <p:txBody>
          <a:bodyPr wrap="none" anchor="ctr"/>
          <a:lstStyle/>
          <a:p>
            <a:pPr>
              <a:defRPr/>
            </a:pPr>
            <a:endParaRPr lang="en-US">
              <a:ea typeface="ＭＳ Ｐゴシック" pitchFamily="-112" charset="-128"/>
            </a:endParaRPr>
          </a:p>
        </p:txBody>
      </p:sp>
      <p:pic>
        <p:nvPicPr>
          <p:cNvPr id="17" name="Picture 20" descr="header_UTM"/>
          <p:cNvPicPr>
            <a:picLocks noChangeAspect="1" noChangeArrowheads="1"/>
          </p:cNvPicPr>
          <p:nvPr userDrawn="1"/>
        </p:nvPicPr>
        <p:blipFill>
          <a:blip r:embed="rId3" cstate="print"/>
          <a:srcRect/>
          <a:stretch>
            <a:fillRect/>
          </a:stretch>
        </p:blipFill>
        <p:spPr bwMode="auto">
          <a:xfrm>
            <a:off x="63500" y="106363"/>
            <a:ext cx="1195388" cy="395287"/>
          </a:xfrm>
          <a:prstGeom prst="rect">
            <a:avLst/>
          </a:prstGeom>
          <a:noFill/>
          <a:ln w="9525">
            <a:noFill/>
            <a:miter lim="800000"/>
            <a:headEnd/>
            <a:tailEnd/>
          </a:ln>
        </p:spPr>
      </p:pic>
      <p:pic>
        <p:nvPicPr>
          <p:cNvPr id="18" name="Picture 22" descr="header_url"/>
          <p:cNvPicPr>
            <a:picLocks noChangeAspect="1" noChangeArrowheads="1"/>
          </p:cNvPicPr>
          <p:nvPr userDrawn="1"/>
        </p:nvPicPr>
        <p:blipFill>
          <a:blip r:embed="rId4" cstate="print"/>
          <a:srcRect/>
          <a:stretch>
            <a:fillRect/>
          </a:stretch>
        </p:blipFill>
        <p:spPr bwMode="auto">
          <a:xfrm>
            <a:off x="0" y="1009650"/>
            <a:ext cx="2376488" cy="388938"/>
          </a:xfrm>
          <a:prstGeom prst="rect">
            <a:avLst/>
          </a:prstGeom>
          <a:noFill/>
          <a:ln w="9525">
            <a:noFill/>
            <a:miter lim="800000"/>
            <a:headEnd/>
            <a:tailEnd/>
          </a:ln>
        </p:spPr>
      </p:pic>
      <p:pic>
        <p:nvPicPr>
          <p:cNvPr id="19" name="Picture 7"/>
          <p:cNvPicPr>
            <a:picLocks noChangeAspect="1" noChangeArrowheads="1"/>
          </p:cNvPicPr>
          <p:nvPr userDrawn="1"/>
        </p:nvPicPr>
        <p:blipFill>
          <a:blip r:embed="rId5" cstate="print"/>
          <a:srcRect/>
          <a:stretch>
            <a:fillRect/>
          </a:stretch>
        </p:blipFill>
        <p:spPr bwMode="auto">
          <a:xfrm>
            <a:off x="1873008" y="53788"/>
            <a:ext cx="580837" cy="438130"/>
          </a:xfrm>
          <a:prstGeom prst="rect">
            <a:avLst/>
          </a:prstGeom>
          <a:noFill/>
          <a:ln w="9525">
            <a:noFill/>
            <a:miter lim="800000"/>
            <a:headEnd/>
            <a:tailEnd/>
          </a:ln>
        </p:spPr>
      </p:pic>
      <p:pic>
        <p:nvPicPr>
          <p:cNvPr id="20" name="Picture 8" descr="PNG_newlogo"/>
          <p:cNvPicPr>
            <a:picLocks noChangeAspect="1" noChangeArrowheads="1"/>
          </p:cNvPicPr>
          <p:nvPr userDrawn="1"/>
        </p:nvPicPr>
        <p:blipFill>
          <a:blip r:embed="rId6" cstate="print"/>
          <a:srcRect/>
          <a:stretch>
            <a:fillRect/>
          </a:stretch>
        </p:blipFill>
        <p:spPr bwMode="auto">
          <a:xfrm>
            <a:off x="1354633" y="26894"/>
            <a:ext cx="504056" cy="477366"/>
          </a:xfrm>
          <a:prstGeom prst="rect">
            <a:avLst/>
          </a:prstGeom>
          <a:noFill/>
          <a:ln w="9525" algn="in">
            <a:noFill/>
            <a:miter lim="800000"/>
            <a:headEnd/>
            <a:tailEnd/>
          </a:ln>
        </p:spPr>
      </p:pic>
      <p:sp>
        <p:nvSpPr>
          <p:cNvPr id="21" name="Footer Placeholder 4"/>
          <p:cNvSpPr>
            <a:spLocks noGrp="1"/>
          </p:cNvSpPr>
          <p:nvPr>
            <p:ph type="ftr" sz="quarter" idx="3"/>
          </p:nvPr>
        </p:nvSpPr>
        <p:spPr>
          <a:xfrm>
            <a:off x="2281520" y="6647328"/>
            <a:ext cx="4704928" cy="365125"/>
          </a:xfrm>
          <a:prstGeom prst="rect">
            <a:avLst/>
          </a:prstGeom>
        </p:spPr>
        <p:txBody>
          <a:bodyPr/>
          <a:lstStyle>
            <a:lvl1pPr algn="ctr">
              <a:defRPr sz="1100"/>
            </a:lvl1pPr>
          </a:lstStyle>
          <a:p>
            <a:pPr>
              <a:defRPr/>
            </a:pPr>
            <a:r>
              <a:rPr lang="en-US"/>
              <a:t>MECQ1203: Artificial Intelligence</a:t>
            </a:r>
            <a:endParaRPr lang="en-US" dirty="0"/>
          </a:p>
        </p:txBody>
      </p:sp>
    </p:spTree>
  </p:cSld>
  <p:clrMap bg1="lt1" tx1="dk1" bg2="lt2" tx2="dk2" accent1="accent1" accent2="accent2" accent3="accent3" accent4="accent4" accent5="accent5" accent6="accent6" hlink="hlink" folHlink="folHlink"/>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130425"/>
            <a:ext cx="9220200" cy="936625"/>
          </a:xfrm>
        </p:spPr>
        <p:txBody>
          <a:bodyPr>
            <a:normAutofit/>
          </a:bodyPr>
          <a:lstStyle/>
          <a:p>
            <a:r>
              <a:rPr lang="en-US" sz="5400" b="1" dirty="0" smtClean="0">
                <a:solidFill>
                  <a:srgbClr val="C00000"/>
                </a:solidFill>
                <a:latin typeface="Roboto" pitchFamily="2" charset="0"/>
                <a:ea typeface="Roboto" pitchFamily="2" charset="0"/>
              </a:rPr>
              <a:t>Intelligent Agents</a:t>
            </a:r>
            <a:endParaRPr lang="en-US" sz="5400" b="1" dirty="0">
              <a:latin typeface="Roboto" pitchFamily="2" charset="0"/>
              <a:ea typeface="Roboto" pitchFamily="2" charset="0"/>
            </a:endParaRPr>
          </a:p>
        </p:txBody>
      </p:sp>
      <p:sp>
        <p:nvSpPr>
          <p:cNvPr id="3" name="Subtitle 2"/>
          <p:cNvSpPr>
            <a:spLocks noGrp="1"/>
          </p:cNvSpPr>
          <p:nvPr>
            <p:ph type="subTitle" idx="1"/>
          </p:nvPr>
        </p:nvSpPr>
        <p:spPr>
          <a:xfrm>
            <a:off x="0" y="3886200"/>
            <a:ext cx="9144000" cy="1752600"/>
          </a:xfrm>
          <a:solidFill>
            <a:srgbClr val="FFE1AD"/>
          </a:solidFill>
        </p:spPr>
        <p:txBody>
          <a:bodyPr>
            <a:normAutofit lnSpcReduction="10000"/>
          </a:bodyPr>
          <a:lstStyle/>
          <a:p>
            <a:r>
              <a:rPr lang="en-US" sz="4000" b="1" dirty="0">
                <a:solidFill>
                  <a:srgbClr val="0070C0"/>
                </a:solidFill>
              </a:rPr>
              <a:t>Artificial Intelligence</a:t>
            </a:r>
          </a:p>
          <a:p>
            <a:endParaRPr lang="en-US" sz="1100" b="1" dirty="0">
              <a:solidFill>
                <a:srgbClr val="0070C0"/>
              </a:solidFill>
            </a:endParaRPr>
          </a:p>
          <a:p>
            <a:pPr>
              <a:spcBef>
                <a:spcPts val="0"/>
              </a:spcBef>
            </a:pPr>
            <a:r>
              <a:rPr lang="en-US" sz="2800" i="1" spc="-150" dirty="0"/>
              <a:t>School of Computing</a:t>
            </a:r>
          </a:p>
          <a:p>
            <a:pPr>
              <a:spcBef>
                <a:spcPts val="0"/>
              </a:spcBef>
            </a:pPr>
            <a:r>
              <a:rPr lang="en-US" sz="2800" i="1" spc="-150" dirty="0"/>
              <a:t>Universiti Teknologi Malaysia</a:t>
            </a:r>
          </a:p>
        </p:txBody>
      </p:sp>
      <p:pic>
        <p:nvPicPr>
          <p:cNvPr id="5" name="Picture 2" descr="Image result for artificial intelligence icon"/>
          <p:cNvPicPr>
            <a:picLocks noChangeAspect="1" noChangeArrowheads="1"/>
          </p:cNvPicPr>
          <p:nvPr/>
        </p:nvPicPr>
        <p:blipFill rotWithShape="1">
          <a:blip r:embed="rId2" cstate="print">
            <a:duotone>
              <a:prstClr val="black"/>
              <a:schemeClr val="accent2">
                <a:tint val="45000"/>
                <a:satMod val="400000"/>
              </a:schemeClr>
            </a:duotone>
            <a:extLst>
              <a:ext uri="{BEBA8EAE-BF5A-486C-A8C5-ECC9F3942E4B}">
                <a14:imgProps xmlns:a14="http://schemas.microsoft.com/office/drawing/2010/main">
                  <a14:imgLayer r:embed="rId3">
                    <a14:imgEffect>
                      <a14:backgroundRemoval t="5429" b="69497" l="10000" r="90000">
                        <a14:foregroundMark x1="65976" y1="28727" x2="65976" y2="28727"/>
                        <a14:foregroundMark x1="58293" y1="30997" x2="58293" y2="30997"/>
                        <a14:foregroundMark x1="60732" y1="35933" x2="60732" y2="35933"/>
                        <a14:foregroundMark x1="58293" y1="41165" x2="58293" y2="41165"/>
                        <a14:foregroundMark x1="65122" y1="41757" x2="65122" y2="41757"/>
                        <a14:foregroundMark x1="69634" y1="36130" x2="69634" y2="36130"/>
                        <a14:foregroundMark x1="61220" y1="48963" x2="61220" y2="48963"/>
                        <a14:foregroundMark x1="50854" y1="66732" x2="50854" y2="66732"/>
                        <a14:foregroundMark x1="51098" y1="5429" x2="51098" y2="5429"/>
                      </a14:backgroundRemoval>
                    </a14:imgEffect>
                  </a14:imgLayer>
                </a14:imgProps>
              </a:ext>
              <a:ext uri="{28A0092B-C50C-407E-A947-70E740481C1C}">
                <a14:useLocalDpi xmlns:a14="http://schemas.microsoft.com/office/drawing/2010/main" val="0"/>
              </a:ext>
            </a:extLst>
          </a:blip>
          <a:srcRect l="14092" r="15445" b="29337"/>
          <a:stretch/>
        </p:blipFill>
        <p:spPr bwMode="auto">
          <a:xfrm>
            <a:off x="1" y="3429000"/>
            <a:ext cx="2071412" cy="25662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ltLang="he-IL" smtClean="0"/>
              <a:t>Outline</a:t>
            </a:r>
          </a:p>
        </p:txBody>
      </p:sp>
      <p:sp>
        <p:nvSpPr>
          <p:cNvPr id="5123" name="Rectangle 3"/>
          <p:cNvSpPr>
            <a:spLocks noGrp="1" noChangeArrowheads="1"/>
          </p:cNvSpPr>
          <p:nvPr>
            <p:ph type="body" idx="1"/>
          </p:nvPr>
        </p:nvSpPr>
        <p:spPr>
          <a:xfrm>
            <a:off x="914400" y="2133600"/>
            <a:ext cx="6324600" cy="3200400"/>
          </a:xfrm>
        </p:spPr>
        <p:txBody>
          <a:bodyPr/>
          <a:lstStyle/>
          <a:p>
            <a:pPr eaLnBrk="1" hangingPunct="1"/>
            <a:r>
              <a:rPr lang="en-US" altLang="he-IL" dirty="0" smtClean="0"/>
              <a:t>Agents and environments</a:t>
            </a:r>
          </a:p>
          <a:p>
            <a:pPr eaLnBrk="1" hangingPunct="1"/>
            <a:r>
              <a:rPr lang="en-US" altLang="he-IL" dirty="0" smtClean="0"/>
              <a:t>Rationality</a:t>
            </a:r>
          </a:p>
          <a:p>
            <a:pPr eaLnBrk="1" hangingPunct="1"/>
            <a:r>
              <a:rPr lang="en-US" altLang="he-IL" dirty="0" smtClean="0"/>
              <a:t>Intelligent agent - PAGE and PEAS </a:t>
            </a:r>
          </a:p>
          <a:p>
            <a:pPr eaLnBrk="1" hangingPunct="1"/>
            <a:r>
              <a:rPr lang="en-US" altLang="he-IL" dirty="0" smtClean="0"/>
              <a:t>Agent types</a:t>
            </a:r>
          </a:p>
        </p:txBody>
      </p:sp>
    </p:spTree>
    <p:extLst>
      <p:ext uri="{BB962C8B-B14F-4D97-AF65-F5344CB8AC3E}">
        <p14:creationId xmlns:p14="http://schemas.microsoft.com/office/powerpoint/2010/main" val="253408937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ltLang="he-IL" smtClean="0"/>
              <a:t>Agents</a:t>
            </a:r>
          </a:p>
        </p:txBody>
      </p:sp>
      <p:sp>
        <p:nvSpPr>
          <p:cNvPr id="6147" name="Rectangle 3"/>
          <p:cNvSpPr>
            <a:spLocks noGrp="1" noChangeArrowheads="1"/>
          </p:cNvSpPr>
          <p:nvPr>
            <p:ph type="body" idx="1"/>
          </p:nvPr>
        </p:nvSpPr>
        <p:spPr/>
        <p:txBody>
          <a:bodyPr>
            <a:normAutofit fontScale="92500" lnSpcReduction="10000"/>
          </a:bodyPr>
          <a:lstStyle/>
          <a:p>
            <a:pPr eaLnBrk="1" hangingPunct="1">
              <a:lnSpc>
                <a:spcPct val="80000"/>
              </a:lnSpc>
              <a:buFontTx/>
              <a:buNone/>
            </a:pPr>
            <a:r>
              <a:rPr lang="en-US" altLang="he-IL" sz="2800" dirty="0" smtClean="0"/>
              <a:t>An </a:t>
            </a:r>
            <a:r>
              <a:rPr lang="en-US" altLang="he-IL" sz="2800" dirty="0" smtClean="0">
                <a:solidFill>
                  <a:srgbClr val="FF0000"/>
                </a:solidFill>
              </a:rPr>
              <a:t>agent</a:t>
            </a:r>
            <a:r>
              <a:rPr lang="en-US" altLang="he-IL" sz="2800" dirty="0" smtClean="0"/>
              <a:t> is an entity that perceives (observes) and acts
</a:t>
            </a:r>
          </a:p>
          <a:p>
            <a:pPr eaLnBrk="1" hangingPunct="1">
              <a:lnSpc>
                <a:spcPct val="80000"/>
              </a:lnSpc>
              <a:buFontTx/>
              <a:buNone/>
            </a:pPr>
            <a:r>
              <a:rPr lang="en-US" altLang="he-IL" sz="2800" dirty="0" smtClean="0"/>
              <a:t>An </a:t>
            </a:r>
            <a:r>
              <a:rPr lang="en-US" altLang="he-IL" sz="2800" dirty="0" smtClean="0">
                <a:solidFill>
                  <a:srgbClr val="FF0000"/>
                </a:solidFill>
              </a:rPr>
              <a:t>agent</a:t>
            </a:r>
            <a:r>
              <a:rPr lang="en-US" altLang="he-IL" sz="2800" dirty="0" smtClean="0"/>
              <a:t> is anything that can be viewed as </a:t>
            </a:r>
            <a:r>
              <a:rPr lang="en-US" altLang="he-IL" sz="2800" dirty="0" smtClean="0">
                <a:solidFill>
                  <a:srgbClr val="FF0000"/>
                </a:solidFill>
              </a:rPr>
              <a:t>perceiving</a:t>
            </a:r>
            <a:r>
              <a:rPr lang="en-US" altLang="he-IL" sz="2800" dirty="0" smtClean="0"/>
              <a:t> its </a:t>
            </a:r>
            <a:r>
              <a:rPr lang="en-US" altLang="he-IL" sz="2800" dirty="0" smtClean="0">
                <a:solidFill>
                  <a:srgbClr val="FF0000"/>
                </a:solidFill>
              </a:rPr>
              <a:t>environment</a:t>
            </a:r>
            <a:r>
              <a:rPr lang="en-US" altLang="he-IL" sz="2800" dirty="0" smtClean="0"/>
              <a:t> through </a:t>
            </a:r>
            <a:r>
              <a:rPr lang="en-US" altLang="he-IL" sz="2800" dirty="0" smtClean="0">
                <a:solidFill>
                  <a:srgbClr val="FF0000"/>
                </a:solidFill>
              </a:rPr>
              <a:t>sensors</a:t>
            </a:r>
            <a:r>
              <a:rPr lang="en-US" altLang="he-IL" sz="2800" dirty="0" smtClean="0"/>
              <a:t> and </a:t>
            </a:r>
            <a:r>
              <a:rPr lang="en-US" altLang="he-IL" sz="2800" dirty="0" smtClean="0">
                <a:solidFill>
                  <a:srgbClr val="FF0000"/>
                </a:solidFill>
              </a:rPr>
              <a:t>acting</a:t>
            </a:r>
            <a:r>
              <a:rPr lang="en-US" altLang="he-IL" sz="2800" dirty="0" smtClean="0"/>
              <a:t> upon that environment through </a:t>
            </a:r>
            <a:r>
              <a:rPr lang="en-US" altLang="he-IL" sz="2800" dirty="0" smtClean="0">
                <a:solidFill>
                  <a:srgbClr val="FF0000"/>
                </a:solidFill>
              </a:rPr>
              <a:t>actuators</a:t>
            </a:r>
            <a:r>
              <a:rPr lang="en-US" altLang="he-IL" sz="2800" dirty="0" smtClean="0"/>
              <a:t>
</a:t>
            </a:r>
          </a:p>
          <a:p>
            <a:pPr eaLnBrk="1" hangingPunct="1">
              <a:lnSpc>
                <a:spcPct val="80000"/>
              </a:lnSpc>
              <a:buFontTx/>
              <a:buNone/>
            </a:pPr>
            <a:r>
              <a:rPr lang="en-US" altLang="he-IL" sz="2800" dirty="0" smtClean="0"/>
              <a:t>Human agent: </a:t>
            </a:r>
          </a:p>
          <a:p>
            <a:pPr lvl="1" eaLnBrk="1" hangingPunct="1">
              <a:lnSpc>
                <a:spcPct val="80000"/>
              </a:lnSpc>
              <a:buFontTx/>
              <a:buNone/>
            </a:pPr>
            <a:r>
              <a:rPr lang="en-US" altLang="he-IL" sz="2400" dirty="0" smtClean="0"/>
              <a:t>eyes, ears, and other organs for </a:t>
            </a:r>
            <a:r>
              <a:rPr lang="en-US" altLang="he-IL" sz="2400" dirty="0" smtClean="0">
                <a:solidFill>
                  <a:srgbClr val="0070C0"/>
                </a:solidFill>
              </a:rPr>
              <a:t>sensors</a:t>
            </a:r>
            <a:r>
              <a:rPr lang="en-US" altLang="he-IL" sz="2400" dirty="0" smtClean="0"/>
              <a:t>; </a:t>
            </a:r>
          </a:p>
          <a:p>
            <a:pPr lvl="1" eaLnBrk="1" hangingPunct="1">
              <a:lnSpc>
                <a:spcPct val="80000"/>
              </a:lnSpc>
              <a:buFontTx/>
              <a:buNone/>
            </a:pPr>
            <a:r>
              <a:rPr lang="en-US" altLang="he-IL" sz="2400" dirty="0" smtClean="0"/>
              <a:t>hands, legs, mouth, and other body parts for </a:t>
            </a:r>
            <a:r>
              <a:rPr lang="en-US" altLang="he-IL" sz="2400" dirty="0" smtClean="0">
                <a:solidFill>
                  <a:srgbClr val="0070C0"/>
                </a:solidFill>
              </a:rPr>
              <a:t>actuators</a:t>
            </a:r>
            <a:r>
              <a:rPr lang="en-US" altLang="he-IL" sz="2400" dirty="0" smtClean="0"/>
              <a:t>
</a:t>
            </a:r>
          </a:p>
          <a:p>
            <a:pPr eaLnBrk="1" hangingPunct="1">
              <a:lnSpc>
                <a:spcPct val="80000"/>
              </a:lnSpc>
              <a:buFontTx/>
              <a:buNone/>
            </a:pPr>
            <a:r>
              <a:rPr lang="en-US" altLang="he-IL" sz="2800" dirty="0" smtClean="0"/>
              <a:t>Robotic agent: </a:t>
            </a:r>
          </a:p>
          <a:p>
            <a:pPr lvl="1" eaLnBrk="1" hangingPunct="1">
              <a:lnSpc>
                <a:spcPct val="80000"/>
              </a:lnSpc>
              <a:buFontTx/>
              <a:buNone/>
            </a:pPr>
            <a:r>
              <a:rPr lang="en-US" altLang="he-IL" sz="2400" dirty="0" smtClean="0"/>
              <a:t>cameras and infrared range finders for </a:t>
            </a:r>
            <a:r>
              <a:rPr lang="en-US" altLang="he-IL" sz="2400" dirty="0" smtClean="0">
                <a:solidFill>
                  <a:srgbClr val="0070C0"/>
                </a:solidFill>
              </a:rPr>
              <a:t>sensors</a:t>
            </a:r>
            <a:r>
              <a:rPr lang="en-US" altLang="he-IL" sz="2400" dirty="0" smtClean="0"/>
              <a:t>;</a:t>
            </a:r>
          </a:p>
          <a:p>
            <a:pPr lvl="1" eaLnBrk="1" hangingPunct="1">
              <a:lnSpc>
                <a:spcPct val="80000"/>
              </a:lnSpc>
              <a:buFontTx/>
              <a:buNone/>
            </a:pPr>
            <a:r>
              <a:rPr lang="en-US" altLang="he-IL" sz="2400" dirty="0" smtClean="0"/>
              <a:t>various motors for </a:t>
            </a:r>
            <a:r>
              <a:rPr lang="en-US" altLang="he-IL" sz="2400" dirty="0" smtClean="0">
                <a:solidFill>
                  <a:srgbClr val="0070C0"/>
                </a:solidFill>
              </a:rPr>
              <a:t>actuators</a:t>
            </a:r>
            <a:r>
              <a:rPr lang="en-US" altLang="he-IL" sz="2400" dirty="0" smtClean="0"/>
              <a:t>
</a:t>
            </a:r>
          </a:p>
        </p:txBody>
      </p:sp>
    </p:spTree>
    <p:extLst>
      <p:ext uri="{BB962C8B-B14F-4D97-AF65-F5344CB8AC3E}">
        <p14:creationId xmlns:p14="http://schemas.microsoft.com/office/powerpoint/2010/main" val="9663799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endParaRPr lang="he-IL" altLang="he-IL" smtClean="0"/>
          </a:p>
        </p:txBody>
      </p:sp>
      <p:sp>
        <p:nvSpPr>
          <p:cNvPr id="7171" name="Content Placeholder 2"/>
          <p:cNvSpPr>
            <a:spLocks noGrp="1"/>
          </p:cNvSpPr>
          <p:nvPr>
            <p:ph idx="1"/>
          </p:nvPr>
        </p:nvSpPr>
        <p:spPr/>
        <p:txBody>
          <a:bodyPr/>
          <a:lstStyle/>
          <a:p>
            <a:r>
              <a:rPr lang="en-US" altLang="he-IL" dirty="0" smtClean="0">
                <a:solidFill>
                  <a:srgbClr val="FF0000"/>
                </a:solidFill>
              </a:rPr>
              <a:t>Percept </a:t>
            </a:r>
            <a:r>
              <a:rPr lang="en-US" altLang="he-IL" dirty="0" smtClean="0"/>
              <a:t>refers to the agent’s perceptual input at a given instant</a:t>
            </a:r>
          </a:p>
          <a:p>
            <a:r>
              <a:rPr lang="en-US" altLang="he-IL" dirty="0" smtClean="0">
                <a:solidFill>
                  <a:srgbClr val="FF0000"/>
                </a:solidFill>
              </a:rPr>
              <a:t>Percept Sequence </a:t>
            </a:r>
            <a:r>
              <a:rPr lang="en-US" altLang="he-IL" dirty="0" smtClean="0"/>
              <a:t>is a complete history of percepts.</a:t>
            </a:r>
          </a:p>
          <a:p>
            <a:endParaRPr lang="he-IL" altLang="he-IL" dirty="0" smtClean="0"/>
          </a:p>
        </p:txBody>
      </p:sp>
    </p:spTree>
    <p:extLst>
      <p:ext uri="{BB962C8B-B14F-4D97-AF65-F5344CB8AC3E}">
        <p14:creationId xmlns:p14="http://schemas.microsoft.com/office/powerpoint/2010/main" val="8803843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ltLang="he-IL" smtClean="0"/>
              <a:t>Agents and environments</a:t>
            </a:r>
          </a:p>
        </p:txBody>
      </p:sp>
      <p:sp>
        <p:nvSpPr>
          <p:cNvPr id="8195" name="Rectangle 3"/>
          <p:cNvSpPr>
            <a:spLocks noGrp="1" noChangeArrowheads="1"/>
          </p:cNvSpPr>
          <p:nvPr>
            <p:ph type="body" idx="1"/>
          </p:nvPr>
        </p:nvSpPr>
        <p:spPr>
          <a:xfrm>
            <a:off x="457200" y="1739105"/>
            <a:ext cx="8229600" cy="4525963"/>
          </a:xfrm>
        </p:spPr>
        <p:txBody>
          <a:bodyPr/>
          <a:lstStyle/>
          <a:p>
            <a:pPr eaLnBrk="1" hangingPunct="1">
              <a:buFontTx/>
              <a:buNone/>
            </a:pPr>
            <a:endParaRPr lang="en-US" altLang="he-IL" sz="2400" dirty="0" smtClean="0"/>
          </a:p>
          <a:p>
            <a:pPr eaLnBrk="1" hangingPunct="1">
              <a:buFontTx/>
              <a:buNone/>
            </a:pPr>
            <a:endParaRPr lang="en-US" altLang="he-IL" sz="2400" dirty="0" smtClean="0"/>
          </a:p>
          <a:p>
            <a:pPr eaLnBrk="1" hangingPunct="1">
              <a:buFontTx/>
              <a:buNone/>
            </a:pPr>
            <a:endParaRPr lang="en-US" altLang="he-IL" sz="2400" dirty="0" smtClean="0"/>
          </a:p>
          <a:p>
            <a:pPr eaLnBrk="1" hangingPunct="1"/>
            <a:r>
              <a:rPr lang="en-US" altLang="he-IL" sz="2400" dirty="0" smtClean="0"/>
              <a:t>The </a:t>
            </a:r>
            <a:r>
              <a:rPr lang="en-US" altLang="he-IL" sz="2400" dirty="0" smtClean="0">
                <a:solidFill>
                  <a:srgbClr val="FF0000"/>
                </a:solidFill>
              </a:rPr>
              <a:t>agent</a:t>
            </a:r>
            <a:r>
              <a:rPr lang="en-US" altLang="he-IL" sz="2400" dirty="0" smtClean="0"/>
              <a:t> </a:t>
            </a:r>
            <a:r>
              <a:rPr lang="en-US" altLang="he-IL" sz="2400" dirty="0" smtClean="0">
                <a:solidFill>
                  <a:srgbClr val="FF0000"/>
                </a:solidFill>
              </a:rPr>
              <a:t>function</a:t>
            </a:r>
            <a:r>
              <a:rPr lang="en-US" altLang="he-IL" sz="2400" dirty="0" smtClean="0"/>
              <a:t> maps from percept histories to actions:</a:t>
            </a:r>
          </a:p>
          <a:p>
            <a:pPr algn="ctr" eaLnBrk="1" hangingPunct="1">
              <a:buFontTx/>
              <a:buNone/>
            </a:pPr>
            <a:r>
              <a:rPr lang="en-US" altLang="he-IL" sz="2400" dirty="0" smtClean="0"/>
              <a:t>[</a:t>
            </a:r>
            <a:r>
              <a:rPr lang="en-US" altLang="he-IL" sz="2400" i="1" dirty="0" smtClean="0"/>
              <a:t>f</a:t>
            </a:r>
            <a:r>
              <a:rPr lang="en-US" altLang="he-IL" sz="2400" dirty="0" smtClean="0"/>
              <a:t>: </a:t>
            </a:r>
            <a:r>
              <a:rPr lang="en-US" altLang="he-IL" sz="2400" dirty="0" smtClean="0">
                <a:latin typeface="Monotype Corsiva" panose="03010101010201010101" pitchFamily="66" charset="0"/>
              </a:rPr>
              <a:t>P*</a:t>
            </a:r>
            <a:r>
              <a:rPr lang="en-US" altLang="he-IL" sz="2400" dirty="0" smtClean="0"/>
              <a:t> </a:t>
            </a:r>
            <a:r>
              <a:rPr lang="en-US" altLang="he-IL" sz="2400" dirty="0" smtClean="0">
                <a:sym typeface="Wingdings" panose="05000000000000000000" pitchFamily="2" charset="2"/>
              </a:rPr>
              <a:t> </a:t>
            </a:r>
            <a:r>
              <a:rPr lang="en-US" altLang="he-IL" sz="2400" dirty="0" smtClean="0">
                <a:latin typeface="Monotype Corsiva" panose="03010101010201010101" pitchFamily="66" charset="0"/>
              </a:rPr>
              <a:t>A</a:t>
            </a:r>
            <a:r>
              <a:rPr lang="en-US" altLang="he-IL" sz="2400" dirty="0" smtClean="0"/>
              <a:t>]
</a:t>
            </a:r>
          </a:p>
          <a:p>
            <a:pPr eaLnBrk="1" hangingPunct="1"/>
            <a:r>
              <a:rPr lang="en-US" altLang="he-IL" sz="2400" dirty="0" smtClean="0"/>
              <a:t>The </a:t>
            </a:r>
            <a:r>
              <a:rPr lang="en-US" altLang="he-IL" sz="2400" dirty="0" smtClean="0">
                <a:solidFill>
                  <a:srgbClr val="FF0000"/>
                </a:solidFill>
              </a:rPr>
              <a:t>agent</a:t>
            </a:r>
            <a:r>
              <a:rPr lang="en-US" altLang="he-IL" sz="2400" dirty="0" smtClean="0"/>
              <a:t> </a:t>
            </a:r>
            <a:r>
              <a:rPr lang="en-US" altLang="he-IL" sz="2400" dirty="0" smtClean="0">
                <a:solidFill>
                  <a:srgbClr val="FF0000"/>
                </a:solidFill>
              </a:rPr>
              <a:t>program</a:t>
            </a:r>
            <a:r>
              <a:rPr lang="en-US" altLang="he-IL" sz="2400" dirty="0" smtClean="0"/>
              <a:t> runs on the physical </a:t>
            </a:r>
            <a:r>
              <a:rPr lang="en-US" altLang="he-IL" sz="2400" dirty="0" smtClean="0">
                <a:solidFill>
                  <a:srgbClr val="FF0000"/>
                </a:solidFill>
              </a:rPr>
              <a:t>architecture</a:t>
            </a:r>
            <a:r>
              <a:rPr lang="en-US" altLang="he-IL" sz="2400" dirty="0" smtClean="0"/>
              <a:t> to produce </a:t>
            </a:r>
            <a:r>
              <a:rPr lang="en-US" altLang="he-IL" sz="2400" i="1" dirty="0" smtClean="0"/>
              <a:t>f</a:t>
            </a:r>
            <a:endParaRPr lang="en-US" altLang="he-IL" sz="2400" dirty="0" smtClean="0"/>
          </a:p>
          <a:p>
            <a:pPr eaLnBrk="1" hangingPunct="1"/>
            <a:endParaRPr lang="en-US" altLang="he-IL" sz="2400" dirty="0" smtClean="0"/>
          </a:p>
          <a:p>
            <a:pPr eaLnBrk="1" hangingPunct="1"/>
            <a:r>
              <a:rPr lang="en-US" altLang="he-IL" sz="2400" dirty="0" smtClean="0"/>
              <a:t>agent = architecture + program</a:t>
            </a:r>
          </a:p>
        </p:txBody>
      </p:sp>
      <p:pic>
        <p:nvPicPr>
          <p:cNvPr id="8196" name="Picture 4" descr="agent-environm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5100" y="1417638"/>
            <a:ext cx="3733800" cy="168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424703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he-IL" dirty="0" smtClean="0"/>
              <a:t>Vacuum-cleaner world</a:t>
            </a:r>
          </a:p>
        </p:txBody>
      </p:sp>
      <p:sp>
        <p:nvSpPr>
          <p:cNvPr id="10243" name="Rectangle 3"/>
          <p:cNvSpPr>
            <a:spLocks noGrp="1" noChangeArrowheads="1"/>
          </p:cNvSpPr>
          <p:nvPr>
            <p:ph type="body" idx="1"/>
          </p:nvPr>
        </p:nvSpPr>
        <p:spPr/>
        <p:txBody>
          <a:bodyPr>
            <a:normAutofit lnSpcReduction="10000"/>
          </a:bodyPr>
          <a:lstStyle/>
          <a:p>
            <a:pPr eaLnBrk="1" hangingPunct="1">
              <a:buFontTx/>
              <a:buNone/>
            </a:pPr>
            <a:endParaRPr lang="en-US" altLang="he-IL" smtClean="0"/>
          </a:p>
          <a:p>
            <a:pPr eaLnBrk="1" hangingPunct="1">
              <a:buFontTx/>
              <a:buNone/>
            </a:pPr>
            <a:endParaRPr lang="en-US" altLang="he-IL" smtClean="0"/>
          </a:p>
          <a:p>
            <a:pPr eaLnBrk="1" hangingPunct="1">
              <a:buFontTx/>
              <a:buNone/>
            </a:pPr>
            <a:endParaRPr lang="en-US" altLang="he-IL" smtClean="0"/>
          </a:p>
          <a:p>
            <a:pPr eaLnBrk="1" hangingPunct="1">
              <a:buFontTx/>
              <a:buNone/>
            </a:pPr>
            <a:endParaRPr lang="en-US" altLang="he-IL" smtClean="0"/>
          </a:p>
          <a:p>
            <a:pPr eaLnBrk="1" hangingPunct="1">
              <a:buFontTx/>
              <a:buNone/>
            </a:pPr>
            <a:r>
              <a:rPr lang="en-US" altLang="he-IL" smtClean="0"/>
              <a:t>Percepts: location and contents, e.g., [A,Dirty]
</a:t>
            </a:r>
          </a:p>
          <a:p>
            <a:pPr eaLnBrk="1" hangingPunct="1">
              <a:buFontTx/>
              <a:buNone/>
            </a:pPr>
            <a:r>
              <a:rPr lang="en-US" altLang="he-IL" smtClean="0"/>
              <a:t>Actions: </a:t>
            </a:r>
            <a:r>
              <a:rPr lang="en-US" altLang="he-IL" i="1" smtClean="0"/>
              <a:t>Left</a:t>
            </a:r>
            <a:r>
              <a:rPr lang="en-US" altLang="he-IL" smtClean="0"/>
              <a:t>, </a:t>
            </a:r>
            <a:r>
              <a:rPr lang="en-US" altLang="he-IL" i="1" smtClean="0"/>
              <a:t>Right</a:t>
            </a:r>
            <a:r>
              <a:rPr lang="en-US" altLang="he-IL" smtClean="0"/>
              <a:t>, </a:t>
            </a:r>
            <a:r>
              <a:rPr lang="en-US" altLang="he-IL" i="1" smtClean="0"/>
              <a:t>Suck</a:t>
            </a:r>
            <a:r>
              <a:rPr lang="en-US" altLang="he-IL" smtClean="0"/>
              <a:t>, </a:t>
            </a:r>
            <a:r>
              <a:rPr lang="en-US" altLang="he-IL" i="1" smtClean="0"/>
              <a:t>NoOp</a:t>
            </a:r>
            <a:r>
              <a:rPr lang="en-US" altLang="he-IL" smtClean="0"/>
              <a:t>
</a:t>
            </a:r>
          </a:p>
        </p:txBody>
      </p:sp>
      <p:pic>
        <p:nvPicPr>
          <p:cNvPr id="10244" name="Picture 4" descr="vacuum2-environm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2133600"/>
            <a:ext cx="2457450"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7091047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he-IL" dirty="0" smtClean="0"/>
              <a:t>Vacuum-cleaner function</a:t>
            </a:r>
          </a:p>
        </p:txBody>
      </p:sp>
      <p:pic>
        <p:nvPicPr>
          <p:cNvPr id="4" name="Picture 3"/>
          <p:cNvPicPr>
            <a:picLocks noChangeAspect="1"/>
          </p:cNvPicPr>
          <p:nvPr/>
        </p:nvPicPr>
        <p:blipFill>
          <a:blip r:embed="rId3"/>
          <a:stretch>
            <a:fillRect/>
          </a:stretch>
        </p:blipFill>
        <p:spPr>
          <a:xfrm>
            <a:off x="2363920" y="3439099"/>
            <a:ext cx="4947834" cy="2774381"/>
          </a:xfrm>
          <a:prstGeom prst="rect">
            <a:avLst/>
          </a:prstGeom>
        </p:spPr>
      </p:pic>
      <p:pic>
        <p:nvPicPr>
          <p:cNvPr id="9" name="Picture 4" descr="vacuum2-environmen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0146" y="1501298"/>
            <a:ext cx="2807453" cy="1436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4" descr="agent-environmen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1999" y="1524000"/>
            <a:ext cx="3206427"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177000" y="3398003"/>
            <a:ext cx="1828800" cy="369332"/>
          </a:xfrm>
          <a:prstGeom prst="rect">
            <a:avLst/>
          </a:prstGeom>
        </p:spPr>
        <p:txBody>
          <a:bodyPr wrap="square">
            <a:spAutoFit/>
          </a:bodyPr>
          <a:lstStyle/>
          <a:p>
            <a:r>
              <a:rPr lang="en-US" altLang="he-IL" dirty="0"/>
              <a:t>[</a:t>
            </a:r>
            <a:r>
              <a:rPr lang="en-US" altLang="he-IL" i="1" dirty="0"/>
              <a:t>location, status</a:t>
            </a:r>
            <a:r>
              <a:rPr lang="en-US" altLang="he-IL" dirty="0"/>
              <a:t>]) </a:t>
            </a:r>
            <a:endParaRPr lang="en-US" dirty="0"/>
          </a:p>
        </p:txBody>
      </p:sp>
      <p:sp>
        <p:nvSpPr>
          <p:cNvPr id="11" name="Right Arrow 10"/>
          <p:cNvSpPr/>
          <p:nvPr/>
        </p:nvSpPr>
        <p:spPr>
          <a:xfrm>
            <a:off x="1979293" y="3429000"/>
            <a:ext cx="459294"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6387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noChangeArrowheads="1"/>
          </p:cNvSpPr>
          <p:nvPr>
            <p:ph type="body" idx="1"/>
          </p:nvPr>
        </p:nvSpPr>
        <p:spPr>
          <a:xfrm>
            <a:off x="381000" y="3733800"/>
            <a:ext cx="8229600" cy="1447800"/>
          </a:xfrm>
        </p:spPr>
        <p:txBody>
          <a:bodyPr/>
          <a:lstStyle/>
          <a:p>
            <a:pPr eaLnBrk="1" hangingPunct="1">
              <a:lnSpc>
                <a:spcPct val="90000"/>
              </a:lnSpc>
              <a:buFontTx/>
              <a:buNone/>
            </a:pPr>
            <a:r>
              <a:rPr lang="en-US" altLang="he-IL" sz="2000" dirty="0" smtClean="0"/>
              <a:t>function REFLEX-VACUUM-AGENT ([</a:t>
            </a:r>
            <a:r>
              <a:rPr lang="en-US" altLang="he-IL" sz="2000" i="1" dirty="0" smtClean="0"/>
              <a:t>location, status</a:t>
            </a:r>
            <a:r>
              <a:rPr lang="en-US" altLang="he-IL" sz="2000" dirty="0" smtClean="0"/>
              <a:t>]) return an action</a:t>
            </a:r>
          </a:p>
          <a:p>
            <a:pPr eaLnBrk="1" hangingPunct="1">
              <a:lnSpc>
                <a:spcPct val="90000"/>
              </a:lnSpc>
              <a:buFontTx/>
              <a:buNone/>
            </a:pPr>
            <a:r>
              <a:rPr lang="en-US" altLang="he-IL" sz="2000" dirty="0" smtClean="0"/>
              <a:t>	if </a:t>
            </a:r>
            <a:r>
              <a:rPr lang="en-US" altLang="he-IL" sz="2000" i="1" dirty="0" smtClean="0"/>
              <a:t>status == Dirty</a:t>
            </a:r>
            <a:r>
              <a:rPr lang="en-US" altLang="he-IL" sz="2000" dirty="0" smtClean="0"/>
              <a:t> then return </a:t>
            </a:r>
            <a:r>
              <a:rPr lang="en-US" altLang="he-IL" sz="2000" i="1" dirty="0" smtClean="0"/>
              <a:t>Suck</a:t>
            </a:r>
            <a:endParaRPr lang="en-US" altLang="he-IL" sz="2000" dirty="0" smtClean="0"/>
          </a:p>
          <a:p>
            <a:pPr eaLnBrk="1" hangingPunct="1">
              <a:lnSpc>
                <a:spcPct val="90000"/>
              </a:lnSpc>
              <a:buFontTx/>
              <a:buNone/>
            </a:pPr>
            <a:r>
              <a:rPr lang="en-US" altLang="he-IL" sz="2000" dirty="0" smtClean="0"/>
              <a:t>	else if </a:t>
            </a:r>
            <a:r>
              <a:rPr lang="en-US" altLang="he-IL" sz="2000" i="1" dirty="0" smtClean="0"/>
              <a:t>location == A</a:t>
            </a:r>
            <a:r>
              <a:rPr lang="en-US" altLang="he-IL" sz="2000" dirty="0" smtClean="0"/>
              <a:t> then return </a:t>
            </a:r>
            <a:r>
              <a:rPr lang="en-US" altLang="he-IL" sz="2000" i="1" dirty="0" smtClean="0"/>
              <a:t>Right</a:t>
            </a:r>
            <a:endParaRPr lang="en-US" altLang="he-IL" sz="2000" dirty="0" smtClean="0"/>
          </a:p>
          <a:p>
            <a:pPr eaLnBrk="1" hangingPunct="1">
              <a:lnSpc>
                <a:spcPct val="90000"/>
              </a:lnSpc>
              <a:buFontTx/>
              <a:buNone/>
            </a:pPr>
            <a:r>
              <a:rPr lang="en-US" altLang="he-IL" sz="2000" dirty="0" smtClean="0"/>
              <a:t>	else if </a:t>
            </a:r>
            <a:r>
              <a:rPr lang="en-US" altLang="he-IL" sz="2000" i="1" dirty="0" smtClean="0"/>
              <a:t>location == B</a:t>
            </a:r>
            <a:r>
              <a:rPr lang="en-US" altLang="he-IL" sz="2000" dirty="0" smtClean="0"/>
              <a:t> then return </a:t>
            </a:r>
            <a:r>
              <a:rPr lang="en-US" altLang="he-IL" sz="2000" i="1" dirty="0" smtClean="0"/>
              <a:t>Left</a:t>
            </a:r>
          </a:p>
          <a:p>
            <a:pPr eaLnBrk="1" hangingPunct="1">
              <a:lnSpc>
                <a:spcPct val="90000"/>
              </a:lnSpc>
              <a:buFontTx/>
              <a:buNone/>
            </a:pPr>
            <a:endParaRPr lang="en-US" altLang="he-IL" sz="2000" dirty="0" smtClean="0"/>
          </a:p>
          <a:p>
            <a:pPr eaLnBrk="1" hangingPunct="1">
              <a:lnSpc>
                <a:spcPct val="90000"/>
              </a:lnSpc>
            </a:pPr>
            <a:endParaRPr lang="en-US" altLang="he-IL" sz="2800" dirty="0" smtClean="0"/>
          </a:p>
        </p:txBody>
      </p:sp>
      <p:sp>
        <p:nvSpPr>
          <p:cNvPr id="14339" name="Rectangle 4"/>
          <p:cNvSpPr>
            <a:spLocks noGrp="1" noChangeArrowheads="1"/>
          </p:cNvSpPr>
          <p:nvPr>
            <p:ph type="title"/>
          </p:nvPr>
        </p:nvSpPr>
        <p:spPr>
          <a:noFill/>
        </p:spPr>
        <p:txBody>
          <a:bodyPr/>
          <a:lstStyle/>
          <a:p>
            <a:pPr eaLnBrk="1" hangingPunct="1"/>
            <a:r>
              <a:rPr lang="en-US" altLang="he-IL" smtClean="0"/>
              <a:t>The Vacuum-cleaner world</a:t>
            </a:r>
          </a:p>
        </p:txBody>
      </p:sp>
      <p:pic>
        <p:nvPicPr>
          <p:cNvPr id="14340" name="Picture 5" descr="vacuum2-environ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1712913"/>
            <a:ext cx="3371850" cy="172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a:blip r:embed="rId3"/>
          <a:stretch>
            <a:fillRect/>
          </a:stretch>
        </p:blipFill>
        <p:spPr>
          <a:xfrm>
            <a:off x="784946" y="1513968"/>
            <a:ext cx="3787054" cy="2123501"/>
          </a:xfrm>
          <a:prstGeom prst="rect">
            <a:avLst/>
          </a:prstGeom>
        </p:spPr>
      </p:pic>
    </p:spTree>
    <p:extLst>
      <p:ext uri="{BB962C8B-B14F-4D97-AF65-F5344CB8AC3E}">
        <p14:creationId xmlns:p14="http://schemas.microsoft.com/office/powerpoint/2010/main" val="8931773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he-IL" smtClean="0"/>
              <a:t>Rational agents</a:t>
            </a:r>
          </a:p>
        </p:txBody>
      </p:sp>
      <p:sp>
        <p:nvSpPr>
          <p:cNvPr id="15363" name="Rectangle 3"/>
          <p:cNvSpPr>
            <a:spLocks noGrp="1" noChangeArrowheads="1"/>
          </p:cNvSpPr>
          <p:nvPr>
            <p:ph type="body" idx="1"/>
          </p:nvPr>
        </p:nvSpPr>
        <p:spPr>
          <a:xfrm>
            <a:off x="685800" y="1600200"/>
            <a:ext cx="7543800" cy="4525963"/>
          </a:xfrm>
        </p:spPr>
        <p:txBody>
          <a:bodyPr>
            <a:normAutofit/>
          </a:bodyPr>
          <a:lstStyle/>
          <a:p>
            <a:r>
              <a:rPr lang="en-US" sz="2800" dirty="0"/>
              <a:t>A </a:t>
            </a:r>
            <a:r>
              <a:rPr lang="en-US" sz="2800" b="1" i="1" dirty="0"/>
              <a:t>rational agent </a:t>
            </a:r>
            <a:r>
              <a:rPr lang="en-US" sz="2800" dirty="0"/>
              <a:t>is one that acts in a manner that causes it to be as successful as it can.</a:t>
            </a:r>
          </a:p>
          <a:p>
            <a:r>
              <a:rPr lang="en-US" sz="2800" dirty="0"/>
              <a:t>What counts as successful obviously depends on what we require the agent to do. </a:t>
            </a:r>
            <a:endParaRPr lang="en-US" sz="2800" dirty="0" smtClean="0"/>
          </a:p>
          <a:p>
            <a:r>
              <a:rPr lang="en-US" sz="2800" dirty="0" smtClean="0"/>
              <a:t>We need </a:t>
            </a:r>
            <a:r>
              <a:rPr lang="en-US" sz="2800" dirty="0"/>
              <a:t>to determine an appropriate </a:t>
            </a:r>
            <a:r>
              <a:rPr lang="en-US" sz="2800" b="1" i="1" dirty="0"/>
              <a:t>performance measure </a:t>
            </a:r>
            <a:r>
              <a:rPr lang="en-US" sz="2800" dirty="0"/>
              <a:t>in each case. One has to </a:t>
            </a:r>
            <a:r>
              <a:rPr lang="en-US" sz="2800" dirty="0" smtClean="0"/>
              <a:t>be careful </a:t>
            </a:r>
            <a:r>
              <a:rPr lang="en-US" sz="2800" dirty="0"/>
              <a:t>in choosing that measure, as there are often many conflicting criteria that need </a:t>
            </a:r>
            <a:r>
              <a:rPr lang="en-US" sz="2800" dirty="0" smtClean="0"/>
              <a:t>to be </a:t>
            </a:r>
            <a:r>
              <a:rPr lang="en-US" sz="2800" dirty="0"/>
              <a:t>taken into account.</a:t>
            </a:r>
            <a:endParaRPr lang="en-US" altLang="he-IL" sz="2800" dirty="0" smtClean="0"/>
          </a:p>
        </p:txBody>
      </p:sp>
    </p:spTree>
    <p:extLst>
      <p:ext uri="{BB962C8B-B14F-4D97-AF65-F5344CB8AC3E}">
        <p14:creationId xmlns:p14="http://schemas.microsoft.com/office/powerpoint/2010/main" val="2516920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he-IL" dirty="0" smtClean="0"/>
              <a:t>Ideal Rational agents</a:t>
            </a:r>
          </a:p>
        </p:txBody>
      </p:sp>
      <p:sp>
        <p:nvSpPr>
          <p:cNvPr id="17411" name="Rectangle 3"/>
          <p:cNvSpPr>
            <a:spLocks noGrp="1" noChangeArrowheads="1"/>
          </p:cNvSpPr>
          <p:nvPr>
            <p:ph type="body" idx="1"/>
          </p:nvPr>
        </p:nvSpPr>
        <p:spPr>
          <a:xfrm>
            <a:off x="715505" y="1676400"/>
            <a:ext cx="8001000" cy="4525963"/>
          </a:xfrm>
        </p:spPr>
        <p:txBody>
          <a:bodyPr>
            <a:normAutofit fontScale="77500" lnSpcReduction="20000"/>
          </a:bodyPr>
          <a:lstStyle/>
          <a:p>
            <a:r>
              <a:rPr lang="en-US" dirty="0"/>
              <a:t>An </a:t>
            </a:r>
            <a:r>
              <a:rPr lang="en-US" b="1" i="1" dirty="0"/>
              <a:t>ideal rational agent </a:t>
            </a:r>
            <a:r>
              <a:rPr lang="en-US" dirty="0"/>
              <a:t>is one that takes whatever action is expected to </a:t>
            </a:r>
            <a:r>
              <a:rPr lang="en-US" dirty="0" err="1"/>
              <a:t>maximise</a:t>
            </a:r>
            <a:r>
              <a:rPr lang="en-US" dirty="0"/>
              <a:t> </a:t>
            </a:r>
            <a:r>
              <a:rPr lang="en-US" dirty="0" smtClean="0"/>
              <a:t>its performance </a:t>
            </a:r>
            <a:r>
              <a:rPr lang="en-US" dirty="0"/>
              <a:t>measure on the basis of the evidence provided by its perceptual </a:t>
            </a:r>
            <a:r>
              <a:rPr lang="en-US" dirty="0" smtClean="0"/>
              <a:t>history and </a:t>
            </a:r>
            <a:r>
              <a:rPr lang="en-US" dirty="0"/>
              <a:t>whatever built-in knowledge it has</a:t>
            </a:r>
            <a:r>
              <a:rPr lang="en-US" altLang="he-IL" dirty="0" smtClean="0"/>
              <a:t>
</a:t>
            </a:r>
            <a:r>
              <a:rPr lang="en-US" dirty="0"/>
              <a:t>If an agent’s actions are based only on its built-in knowledge, and not on its </a:t>
            </a:r>
            <a:r>
              <a:rPr lang="en-US" dirty="0" smtClean="0"/>
              <a:t>own experience </a:t>
            </a:r>
            <a:r>
              <a:rPr lang="en-US" dirty="0"/>
              <a:t>with its environment, then we say that the agent lacks autonomy. </a:t>
            </a:r>
            <a:endParaRPr lang="en-US" dirty="0" smtClean="0"/>
          </a:p>
          <a:p>
            <a:r>
              <a:rPr lang="en-US" dirty="0" smtClean="0"/>
              <a:t>An</a:t>
            </a:r>
            <a:r>
              <a:rPr lang="en-US" dirty="0"/>
              <a:t> </a:t>
            </a:r>
            <a:r>
              <a:rPr lang="en-US" b="1" i="1" dirty="0" smtClean="0"/>
              <a:t>autonomous </a:t>
            </a:r>
            <a:r>
              <a:rPr lang="en-US" b="1" i="1" dirty="0"/>
              <a:t>agent </a:t>
            </a:r>
            <a:r>
              <a:rPr lang="en-US" dirty="0"/>
              <a:t>will supplement its built-in knowledge with its own acquired (</a:t>
            </a:r>
            <a:r>
              <a:rPr lang="en-US" dirty="0" smtClean="0"/>
              <a:t>or learned</a:t>
            </a:r>
            <a:r>
              <a:rPr lang="en-US" dirty="0"/>
              <a:t>) knowledge in order to act appropriately</a:t>
            </a:r>
            <a:r>
              <a:rPr lang="en-US" dirty="0" smtClean="0"/>
              <a:t>.</a:t>
            </a:r>
          </a:p>
          <a:p>
            <a:r>
              <a:rPr lang="en-US" dirty="0"/>
              <a:t>It is often a good AI strategy to build systems/agents that have enough knowledge </a:t>
            </a:r>
            <a:r>
              <a:rPr lang="en-US" dirty="0" smtClean="0"/>
              <a:t>to get </a:t>
            </a:r>
            <a:r>
              <a:rPr lang="en-US" dirty="0"/>
              <a:t>them started, and then leave them to learn the rest.</a:t>
            </a:r>
            <a:endParaRPr lang="en-US" altLang="he-IL" dirty="0" smtClean="0"/>
          </a:p>
        </p:txBody>
      </p:sp>
    </p:spTree>
    <p:extLst>
      <p:ext uri="{BB962C8B-B14F-4D97-AF65-F5344CB8AC3E}">
        <p14:creationId xmlns:p14="http://schemas.microsoft.com/office/powerpoint/2010/main" val="422412042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Intelligent Agents - PAGE</a:t>
            </a:r>
            <a:endParaRPr lang="en-US" dirty="0"/>
          </a:p>
        </p:txBody>
      </p:sp>
      <p:sp>
        <p:nvSpPr>
          <p:cNvPr id="4" name="Date Placeholder 3"/>
          <p:cNvSpPr>
            <a:spLocks noGrp="1"/>
          </p:cNvSpPr>
          <p:nvPr>
            <p:ph type="dt" sz="half" idx="10"/>
          </p:nvPr>
        </p:nvSpPr>
        <p:spPr/>
        <p:txBody>
          <a:bodyPr/>
          <a:lstStyle/>
          <a:p>
            <a:r>
              <a:rPr lang="en-US" smtClean="0"/>
              <a:t>2019</a:t>
            </a:r>
            <a:endParaRPr lang="en-US"/>
          </a:p>
        </p:txBody>
      </p:sp>
      <p:sp>
        <p:nvSpPr>
          <p:cNvPr id="5" name="Footer Placeholder 4"/>
          <p:cNvSpPr>
            <a:spLocks noGrp="1"/>
          </p:cNvSpPr>
          <p:nvPr>
            <p:ph type="ftr" sz="quarter" idx="11"/>
          </p:nvPr>
        </p:nvSpPr>
        <p:spPr/>
        <p:txBody>
          <a:bodyPr/>
          <a:lstStyle/>
          <a:p>
            <a:r>
              <a:rPr lang="en-US" smtClean="0"/>
              <a:t>MECQ1203: Artificial Intelligence</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11</a:t>
            </a:fld>
            <a:endParaRPr lang="en-US"/>
          </a:p>
        </p:txBody>
      </p:sp>
      <p:sp>
        <p:nvSpPr>
          <p:cNvPr id="8" name="Rectangle 3"/>
          <p:cNvSpPr txBox="1">
            <a:spLocks noChangeArrowheads="1"/>
          </p:cNvSpPr>
          <p:nvPr/>
        </p:nvSpPr>
        <p:spPr>
          <a:xfrm>
            <a:off x="457200" y="1600200"/>
            <a:ext cx="85344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800" b="1" dirty="0" smtClean="0"/>
              <a:t>Agents</a:t>
            </a:r>
            <a:r>
              <a:rPr lang="en-US" sz="2800" dirty="0" smtClean="0"/>
              <a:t> </a:t>
            </a:r>
            <a:r>
              <a:rPr lang="en-US" sz="2800" dirty="0"/>
              <a:t>are comprised of an </a:t>
            </a:r>
            <a:r>
              <a:rPr lang="en-US" sz="2800" b="1" i="1" dirty="0"/>
              <a:t>architecture </a:t>
            </a:r>
            <a:r>
              <a:rPr lang="en-US" sz="2800" dirty="0"/>
              <a:t>(e.g. </a:t>
            </a:r>
            <a:r>
              <a:rPr lang="en-US" sz="2800" dirty="0" smtClean="0"/>
              <a:t>a computer</a:t>
            </a:r>
            <a:r>
              <a:rPr lang="en-US" sz="2800" dirty="0"/>
              <a:t>) plus a </a:t>
            </a:r>
            <a:r>
              <a:rPr lang="en-US" sz="2800" b="1" i="1" dirty="0"/>
              <a:t>program </a:t>
            </a:r>
            <a:r>
              <a:rPr lang="en-US" sz="2800" dirty="0"/>
              <a:t>that runs </a:t>
            </a:r>
            <a:r>
              <a:rPr lang="en-US" sz="2800" dirty="0" smtClean="0"/>
              <a:t>on that </a:t>
            </a:r>
            <a:r>
              <a:rPr lang="en-US" sz="2800" dirty="0"/>
              <a:t>architecture. </a:t>
            </a:r>
            <a:endParaRPr lang="en-US" sz="2800" dirty="0" smtClean="0"/>
          </a:p>
          <a:p>
            <a:r>
              <a:rPr lang="en-US" sz="2800" dirty="0" smtClean="0"/>
              <a:t>In </a:t>
            </a:r>
            <a:r>
              <a:rPr lang="en-US" sz="2800" dirty="0"/>
              <a:t>designing intelligent systems there are four main factors to consider:</a:t>
            </a:r>
          </a:p>
          <a:p>
            <a:pPr marL="0" indent="0">
              <a:buNone/>
            </a:pPr>
            <a:r>
              <a:rPr lang="en-US" sz="2800" dirty="0" smtClean="0"/>
              <a:t>	</a:t>
            </a:r>
            <a:r>
              <a:rPr lang="en-US" sz="2800" dirty="0" smtClean="0">
                <a:solidFill>
                  <a:srgbClr val="FF0000"/>
                </a:solidFill>
              </a:rPr>
              <a:t>P</a:t>
            </a:r>
            <a:r>
              <a:rPr lang="en-US" sz="2800" dirty="0" smtClean="0"/>
              <a:t> </a:t>
            </a:r>
            <a:r>
              <a:rPr lang="en-US" sz="2800" b="1" dirty="0"/>
              <a:t>Percepts </a:t>
            </a:r>
            <a:r>
              <a:rPr lang="en-US" sz="2800" dirty="0"/>
              <a:t>– the inputs to our system</a:t>
            </a:r>
          </a:p>
          <a:p>
            <a:pPr marL="0" indent="0">
              <a:buNone/>
            </a:pPr>
            <a:r>
              <a:rPr lang="en-US" sz="2800" dirty="0" smtClean="0"/>
              <a:t>	</a:t>
            </a:r>
            <a:r>
              <a:rPr lang="en-US" sz="2800" dirty="0" smtClean="0">
                <a:solidFill>
                  <a:srgbClr val="FF0000"/>
                </a:solidFill>
              </a:rPr>
              <a:t>A</a:t>
            </a:r>
            <a:r>
              <a:rPr lang="en-US" sz="2800" dirty="0" smtClean="0"/>
              <a:t> </a:t>
            </a:r>
            <a:r>
              <a:rPr lang="en-US" sz="2800" b="1" dirty="0"/>
              <a:t>Actions </a:t>
            </a:r>
            <a:r>
              <a:rPr lang="en-US" sz="2800" dirty="0"/>
              <a:t>– the outputs of our system</a:t>
            </a:r>
          </a:p>
          <a:p>
            <a:pPr marL="0" indent="0">
              <a:buNone/>
            </a:pPr>
            <a:r>
              <a:rPr lang="en-US" sz="2800" dirty="0" smtClean="0"/>
              <a:t>	</a:t>
            </a:r>
            <a:r>
              <a:rPr lang="en-US" sz="2800" dirty="0" smtClean="0">
                <a:solidFill>
                  <a:srgbClr val="FF0000"/>
                </a:solidFill>
              </a:rPr>
              <a:t>G</a:t>
            </a:r>
            <a:r>
              <a:rPr lang="en-US" sz="2800" dirty="0" smtClean="0"/>
              <a:t> </a:t>
            </a:r>
            <a:r>
              <a:rPr lang="en-US" sz="2800" b="1" dirty="0"/>
              <a:t>Goals </a:t>
            </a:r>
            <a:r>
              <a:rPr lang="en-US" sz="2800" dirty="0"/>
              <a:t>– what the agent is expected to achieve</a:t>
            </a:r>
          </a:p>
          <a:p>
            <a:pPr marL="0" indent="0">
              <a:buNone/>
            </a:pPr>
            <a:r>
              <a:rPr lang="en-US" sz="2800" dirty="0" smtClean="0"/>
              <a:t>	</a:t>
            </a:r>
            <a:r>
              <a:rPr lang="en-US" sz="2800" dirty="0" smtClean="0">
                <a:solidFill>
                  <a:srgbClr val="FF0000"/>
                </a:solidFill>
              </a:rPr>
              <a:t>E</a:t>
            </a:r>
            <a:r>
              <a:rPr lang="en-US" sz="2800" dirty="0" smtClean="0"/>
              <a:t> </a:t>
            </a:r>
            <a:r>
              <a:rPr lang="en-US" sz="2800" b="1" dirty="0"/>
              <a:t>Environment </a:t>
            </a:r>
            <a:r>
              <a:rPr lang="en-US" sz="2800" dirty="0"/>
              <a:t>– what the agent is interacting with</a:t>
            </a:r>
            <a:endParaRPr lang="en-US" altLang="he-IL" sz="2800" dirty="0" smtClean="0"/>
          </a:p>
        </p:txBody>
      </p:sp>
    </p:spTree>
    <p:extLst>
      <p:ext uri="{BB962C8B-B14F-4D97-AF65-F5344CB8AC3E}">
        <p14:creationId xmlns:p14="http://schemas.microsoft.com/office/powerpoint/2010/main" val="390740960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Intelligent Agents - PEAS</a:t>
            </a:r>
            <a:endParaRPr lang="en-US" dirty="0"/>
          </a:p>
        </p:txBody>
      </p:sp>
      <p:sp>
        <p:nvSpPr>
          <p:cNvPr id="4" name="Date Placeholder 3"/>
          <p:cNvSpPr>
            <a:spLocks noGrp="1"/>
          </p:cNvSpPr>
          <p:nvPr>
            <p:ph type="dt" sz="half" idx="10"/>
          </p:nvPr>
        </p:nvSpPr>
        <p:spPr/>
        <p:txBody>
          <a:bodyPr/>
          <a:lstStyle/>
          <a:p>
            <a:r>
              <a:rPr lang="en-US" smtClean="0"/>
              <a:t>2019</a:t>
            </a:r>
            <a:endParaRPr lang="en-US"/>
          </a:p>
        </p:txBody>
      </p:sp>
      <p:sp>
        <p:nvSpPr>
          <p:cNvPr id="5" name="Footer Placeholder 4"/>
          <p:cNvSpPr>
            <a:spLocks noGrp="1"/>
          </p:cNvSpPr>
          <p:nvPr>
            <p:ph type="ftr" sz="quarter" idx="11"/>
          </p:nvPr>
        </p:nvSpPr>
        <p:spPr/>
        <p:txBody>
          <a:bodyPr/>
          <a:lstStyle/>
          <a:p>
            <a:r>
              <a:rPr lang="en-US" smtClean="0"/>
              <a:t>MECQ1203: Artificial Intelligence</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12</a:t>
            </a:fld>
            <a:endParaRPr lang="en-US"/>
          </a:p>
        </p:txBody>
      </p:sp>
      <p:sp>
        <p:nvSpPr>
          <p:cNvPr id="8" name="Rectangle 3"/>
          <p:cNvSpPr txBox="1">
            <a:spLocks noChangeArrowheads="1"/>
          </p:cNvSpPr>
          <p:nvPr/>
        </p:nvSpPr>
        <p:spPr>
          <a:xfrm>
            <a:off x="152400" y="1600200"/>
            <a:ext cx="88392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800" i="1" dirty="0" smtClean="0"/>
              <a:t>PAGE </a:t>
            </a:r>
            <a:r>
              <a:rPr lang="en-US" sz="2800" i="1" dirty="0"/>
              <a:t>Descriptors </a:t>
            </a:r>
            <a:r>
              <a:rPr lang="en-US" sz="2800" dirty="0"/>
              <a:t>are not the unique way of describing intelligent systems. </a:t>
            </a:r>
            <a:endParaRPr lang="en-US" sz="2800" dirty="0" smtClean="0"/>
          </a:p>
          <a:p>
            <a:r>
              <a:rPr lang="en-US" sz="2800" dirty="0" smtClean="0"/>
              <a:t>One popular </a:t>
            </a:r>
            <a:r>
              <a:rPr lang="en-US" sz="2800" dirty="0"/>
              <a:t>alternative involves </a:t>
            </a:r>
            <a:r>
              <a:rPr lang="en-US" sz="2800" i="1" dirty="0"/>
              <a:t>PEAS </a:t>
            </a:r>
            <a:r>
              <a:rPr lang="en-US" sz="2800" i="1" dirty="0" smtClean="0"/>
              <a:t>Descriptors</a:t>
            </a:r>
            <a:r>
              <a:rPr lang="en-US" sz="2800" dirty="0" smtClean="0"/>
              <a:t>:</a:t>
            </a:r>
            <a:endParaRPr lang="en-US" sz="2800" dirty="0"/>
          </a:p>
          <a:p>
            <a:pPr marL="0" indent="0">
              <a:buNone/>
            </a:pPr>
            <a:r>
              <a:rPr lang="en-US" sz="2400" dirty="0" smtClean="0"/>
              <a:t>	</a:t>
            </a:r>
            <a:r>
              <a:rPr lang="en-US" sz="2400" dirty="0" smtClean="0">
                <a:solidFill>
                  <a:srgbClr val="FF0000"/>
                </a:solidFill>
              </a:rPr>
              <a:t>P</a:t>
            </a:r>
            <a:r>
              <a:rPr lang="en-US" sz="2400" dirty="0" smtClean="0"/>
              <a:t> </a:t>
            </a:r>
            <a:r>
              <a:rPr lang="en-US" sz="2400" b="1" dirty="0"/>
              <a:t>Performance </a:t>
            </a:r>
            <a:r>
              <a:rPr lang="en-US" sz="2400" dirty="0"/>
              <a:t>– how we measure the system’s </a:t>
            </a:r>
            <a:r>
              <a:rPr lang="en-US" sz="2400" dirty="0" smtClean="0"/>
              <a:t>achievement's</a:t>
            </a:r>
            <a:endParaRPr lang="en-US" sz="2400" dirty="0"/>
          </a:p>
          <a:p>
            <a:pPr marL="0" indent="0">
              <a:buNone/>
            </a:pPr>
            <a:r>
              <a:rPr lang="en-US" sz="2400" dirty="0" smtClean="0"/>
              <a:t>	</a:t>
            </a:r>
            <a:r>
              <a:rPr lang="en-US" sz="2400" dirty="0" smtClean="0">
                <a:solidFill>
                  <a:srgbClr val="FF0000"/>
                </a:solidFill>
              </a:rPr>
              <a:t>E</a:t>
            </a:r>
            <a:r>
              <a:rPr lang="en-US" sz="2400" dirty="0" smtClean="0"/>
              <a:t> </a:t>
            </a:r>
            <a:r>
              <a:rPr lang="en-US" sz="2400" b="1" dirty="0"/>
              <a:t>Environment </a:t>
            </a:r>
            <a:r>
              <a:rPr lang="en-US" sz="2400" dirty="0"/>
              <a:t>– what the agent is interacting with</a:t>
            </a:r>
          </a:p>
          <a:p>
            <a:pPr marL="0" indent="0">
              <a:buNone/>
            </a:pPr>
            <a:r>
              <a:rPr lang="en-US" sz="2400" dirty="0" smtClean="0"/>
              <a:t>	</a:t>
            </a:r>
            <a:r>
              <a:rPr lang="en-US" sz="2400" dirty="0" smtClean="0">
                <a:solidFill>
                  <a:srgbClr val="FF0000"/>
                </a:solidFill>
              </a:rPr>
              <a:t>A</a:t>
            </a:r>
            <a:r>
              <a:rPr lang="en-US" sz="2400" dirty="0" smtClean="0"/>
              <a:t> </a:t>
            </a:r>
            <a:r>
              <a:rPr lang="en-US" sz="2400" b="1" dirty="0"/>
              <a:t>Actuators </a:t>
            </a:r>
            <a:r>
              <a:rPr lang="en-US" sz="2400" dirty="0"/>
              <a:t>– what produces the outputs of the </a:t>
            </a:r>
            <a:r>
              <a:rPr lang="en-US" sz="2400" dirty="0" smtClean="0"/>
              <a:t>system</a:t>
            </a:r>
            <a:endParaRPr lang="en-US" sz="2400" dirty="0"/>
          </a:p>
          <a:p>
            <a:pPr marL="0" indent="0">
              <a:buNone/>
            </a:pPr>
            <a:r>
              <a:rPr lang="en-US" sz="2400" dirty="0"/>
              <a:t>	</a:t>
            </a:r>
            <a:r>
              <a:rPr lang="en-US" sz="2400" dirty="0" smtClean="0">
                <a:solidFill>
                  <a:srgbClr val="FF0000"/>
                </a:solidFill>
              </a:rPr>
              <a:t>S</a:t>
            </a:r>
            <a:r>
              <a:rPr lang="en-US" sz="2400" dirty="0" smtClean="0"/>
              <a:t> </a:t>
            </a:r>
            <a:r>
              <a:rPr lang="en-US" sz="2400" b="1" dirty="0"/>
              <a:t>Sensors </a:t>
            </a:r>
            <a:r>
              <a:rPr lang="en-US" sz="2400" dirty="0"/>
              <a:t>– what provides the inputs to the system</a:t>
            </a:r>
            <a:endParaRPr lang="en-US" sz="2400" dirty="0" smtClean="0"/>
          </a:p>
        </p:txBody>
      </p:sp>
    </p:spTree>
    <p:extLst>
      <p:ext uri="{BB962C8B-B14F-4D97-AF65-F5344CB8AC3E}">
        <p14:creationId xmlns:p14="http://schemas.microsoft.com/office/powerpoint/2010/main" val="350055147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fr-FR" sz="4000" dirty="0"/>
              <a:t>PAGE </a:t>
            </a:r>
            <a:r>
              <a:rPr lang="fr-FR" sz="4000" dirty="0" err="1"/>
              <a:t>Descriptors</a:t>
            </a:r>
            <a:r>
              <a:rPr lang="fr-FR" sz="4000" dirty="0"/>
              <a:t> vs. </a:t>
            </a:r>
            <a:r>
              <a:rPr lang="fr-FR" sz="4000" dirty="0" smtClean="0"/>
              <a:t>PEAS </a:t>
            </a:r>
            <a:r>
              <a:rPr lang="fr-FR" sz="4000" dirty="0" err="1"/>
              <a:t>Descriptors</a:t>
            </a:r>
            <a:endParaRPr lang="en-US" sz="4000" dirty="0"/>
          </a:p>
        </p:txBody>
      </p:sp>
      <p:sp>
        <p:nvSpPr>
          <p:cNvPr id="4" name="Date Placeholder 3"/>
          <p:cNvSpPr>
            <a:spLocks noGrp="1"/>
          </p:cNvSpPr>
          <p:nvPr>
            <p:ph type="dt" sz="half" idx="10"/>
          </p:nvPr>
        </p:nvSpPr>
        <p:spPr/>
        <p:txBody>
          <a:bodyPr/>
          <a:lstStyle/>
          <a:p>
            <a:r>
              <a:rPr lang="en-US" smtClean="0"/>
              <a:t>2019</a:t>
            </a:r>
            <a:endParaRPr lang="en-US"/>
          </a:p>
        </p:txBody>
      </p:sp>
      <p:sp>
        <p:nvSpPr>
          <p:cNvPr id="5" name="Footer Placeholder 4"/>
          <p:cNvSpPr>
            <a:spLocks noGrp="1"/>
          </p:cNvSpPr>
          <p:nvPr>
            <p:ph type="ftr" sz="quarter" idx="11"/>
          </p:nvPr>
        </p:nvSpPr>
        <p:spPr/>
        <p:txBody>
          <a:bodyPr/>
          <a:lstStyle/>
          <a:p>
            <a:r>
              <a:rPr lang="en-US" smtClean="0"/>
              <a:t>MECQ1203: Artificial Intelligence</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13</a:t>
            </a:fld>
            <a:endParaRPr lang="en-US"/>
          </a:p>
        </p:txBody>
      </p:sp>
      <p:sp>
        <p:nvSpPr>
          <p:cNvPr id="8" name="Rectangle 3"/>
          <p:cNvSpPr txBox="1">
            <a:spLocks noChangeArrowheads="1"/>
          </p:cNvSpPr>
          <p:nvPr/>
        </p:nvSpPr>
        <p:spPr>
          <a:xfrm>
            <a:off x="645763" y="1745035"/>
            <a:ext cx="85344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800" dirty="0" smtClean="0"/>
              <a:t>A simple </a:t>
            </a:r>
            <a:r>
              <a:rPr lang="en-US" sz="2800" dirty="0"/>
              <a:t>mapping between </a:t>
            </a:r>
            <a:r>
              <a:rPr lang="en-US" sz="2800" i="1" dirty="0"/>
              <a:t>PAGE </a:t>
            </a:r>
            <a:r>
              <a:rPr lang="en-US" sz="2800" dirty="0"/>
              <a:t>and </a:t>
            </a:r>
            <a:r>
              <a:rPr lang="en-US" sz="2800" i="1" dirty="0"/>
              <a:t>PEAS</a:t>
            </a:r>
            <a:r>
              <a:rPr lang="en-US" sz="2800" dirty="0"/>
              <a:t>:</a:t>
            </a:r>
            <a:endParaRPr lang="en-US" sz="2800" dirty="0" smtClean="0"/>
          </a:p>
        </p:txBody>
      </p:sp>
      <p:pic>
        <p:nvPicPr>
          <p:cNvPr id="3" name="Picture 2"/>
          <p:cNvPicPr>
            <a:picLocks noChangeAspect="1"/>
          </p:cNvPicPr>
          <p:nvPr/>
        </p:nvPicPr>
        <p:blipFill>
          <a:blip r:embed="rId2"/>
          <a:stretch>
            <a:fillRect/>
          </a:stretch>
        </p:blipFill>
        <p:spPr>
          <a:xfrm>
            <a:off x="1295400" y="2895600"/>
            <a:ext cx="6842352" cy="2456229"/>
          </a:xfrm>
          <a:prstGeom prst="rect">
            <a:avLst/>
          </a:prstGeom>
        </p:spPr>
      </p:pic>
    </p:spTree>
    <p:extLst>
      <p:ext uri="{BB962C8B-B14F-4D97-AF65-F5344CB8AC3E}">
        <p14:creationId xmlns:p14="http://schemas.microsoft.com/office/powerpoint/2010/main" val="372044959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he-IL" dirty="0" smtClean="0"/>
              <a:t>Examples of Intelligent Agents</a:t>
            </a:r>
          </a:p>
        </p:txBody>
      </p:sp>
      <p:pic>
        <p:nvPicPr>
          <p:cNvPr id="5" name="Picture 4"/>
          <p:cNvPicPr>
            <a:picLocks noChangeAspect="1"/>
          </p:cNvPicPr>
          <p:nvPr/>
        </p:nvPicPr>
        <p:blipFill>
          <a:blip r:embed="rId3"/>
          <a:stretch>
            <a:fillRect/>
          </a:stretch>
        </p:blipFill>
        <p:spPr>
          <a:xfrm>
            <a:off x="122061" y="1828800"/>
            <a:ext cx="8899878" cy="4038600"/>
          </a:xfrm>
          <a:prstGeom prst="rect">
            <a:avLst/>
          </a:prstGeom>
        </p:spPr>
      </p:pic>
    </p:spTree>
    <p:extLst>
      <p:ext uri="{BB962C8B-B14F-4D97-AF65-F5344CB8AC3E}">
        <p14:creationId xmlns:p14="http://schemas.microsoft.com/office/powerpoint/2010/main" val="28050410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normAutofit fontScale="90000"/>
          </a:bodyPr>
          <a:lstStyle/>
          <a:p>
            <a:r>
              <a:rPr lang="en-US" altLang="he-IL" dirty="0" smtClean="0"/>
              <a:t>Part-picking </a:t>
            </a:r>
            <a:r>
              <a:rPr lang="en-US" altLang="he-IL" dirty="0"/>
              <a:t>robot</a:t>
            </a:r>
            <a:br>
              <a:rPr lang="en-US" altLang="he-IL" dirty="0"/>
            </a:br>
            <a:endParaRPr lang="en-US" altLang="he-IL" dirty="0" smtClean="0"/>
          </a:p>
        </p:txBody>
      </p:sp>
      <p:pic>
        <p:nvPicPr>
          <p:cNvPr id="3" name="Picture 2"/>
          <p:cNvPicPr>
            <a:picLocks noChangeAspect="1"/>
          </p:cNvPicPr>
          <p:nvPr/>
        </p:nvPicPr>
        <p:blipFill>
          <a:blip r:embed="rId2"/>
          <a:stretch>
            <a:fillRect/>
          </a:stretch>
        </p:blipFill>
        <p:spPr>
          <a:xfrm>
            <a:off x="2133600" y="1650854"/>
            <a:ext cx="4648200" cy="4637027"/>
          </a:xfrm>
          <a:prstGeom prst="rect">
            <a:avLst/>
          </a:prstGeom>
        </p:spPr>
      </p:pic>
    </p:spTree>
    <p:extLst>
      <p:ext uri="{BB962C8B-B14F-4D97-AF65-F5344CB8AC3E}">
        <p14:creationId xmlns:p14="http://schemas.microsoft.com/office/powerpoint/2010/main" val="16710018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2019</a:t>
            </a:r>
            <a:endParaRPr lang="en-US"/>
          </a:p>
        </p:txBody>
      </p:sp>
      <p:sp>
        <p:nvSpPr>
          <p:cNvPr id="5" name="Footer Placeholder 4"/>
          <p:cNvSpPr>
            <a:spLocks noGrp="1"/>
          </p:cNvSpPr>
          <p:nvPr>
            <p:ph type="ftr" sz="quarter" idx="11"/>
          </p:nvPr>
        </p:nvSpPr>
        <p:spPr/>
        <p:txBody>
          <a:bodyPr/>
          <a:lstStyle/>
          <a:p>
            <a:r>
              <a:rPr lang="en-US" dirty="0" smtClean="0"/>
              <a:t>MECQ1203: Artificial Intelligence</a:t>
            </a:r>
            <a:endParaRPr lang="en-US" dirty="0"/>
          </a:p>
        </p:txBody>
      </p:sp>
      <p:sp>
        <p:nvSpPr>
          <p:cNvPr id="6" name="Slide Number Placeholder 5"/>
          <p:cNvSpPr>
            <a:spLocks noGrp="1"/>
          </p:cNvSpPr>
          <p:nvPr>
            <p:ph type="sldNum" sz="quarter" idx="12"/>
          </p:nvPr>
        </p:nvSpPr>
        <p:spPr/>
        <p:txBody>
          <a:bodyPr/>
          <a:lstStyle/>
          <a:p>
            <a:fld id="{0362C787-829C-4B6B-B21B-90D8981190F3}" type="slidenum">
              <a:rPr lang="en-US" smtClean="0"/>
              <a:pPr/>
              <a:t>16</a:t>
            </a:fld>
            <a:endParaRPr lang="en-US"/>
          </a:p>
        </p:txBody>
      </p:sp>
      <p:sp>
        <p:nvSpPr>
          <p:cNvPr id="7" name="Rectangle 2"/>
          <p:cNvSpPr>
            <a:spLocks noGrp="1" noChangeArrowheads="1"/>
          </p:cNvSpPr>
          <p:nvPr>
            <p:ph type="title"/>
          </p:nvPr>
        </p:nvSpPr>
        <p:spPr>
          <a:xfrm>
            <a:off x="457200" y="274638"/>
            <a:ext cx="8229600" cy="1143000"/>
          </a:xfrm>
        </p:spPr>
        <p:txBody>
          <a:bodyPr/>
          <a:lstStyle/>
          <a:p>
            <a:pPr eaLnBrk="1" hangingPunct="1"/>
            <a:r>
              <a:rPr lang="en-US" altLang="he-IL" dirty="0" smtClean="0"/>
              <a:t>Activity</a:t>
            </a:r>
          </a:p>
        </p:txBody>
      </p:sp>
      <p:sp>
        <p:nvSpPr>
          <p:cNvPr id="9" name="Rectangle 8"/>
          <p:cNvSpPr/>
          <p:nvPr/>
        </p:nvSpPr>
        <p:spPr>
          <a:xfrm>
            <a:off x="912621" y="2819400"/>
            <a:ext cx="7305311" cy="523220"/>
          </a:xfrm>
          <a:prstGeom prst="rect">
            <a:avLst/>
          </a:prstGeom>
        </p:spPr>
        <p:txBody>
          <a:bodyPr wrap="square">
            <a:spAutoFit/>
          </a:bodyPr>
          <a:lstStyle/>
          <a:p>
            <a:r>
              <a:rPr lang="en-US" altLang="he-IL" sz="2800" dirty="0" smtClean="0"/>
              <a:t>Determine the PEAS for Interactive English Tutor</a:t>
            </a:r>
            <a:endParaRPr lang="en-US" sz="2800" dirty="0"/>
          </a:p>
        </p:txBody>
      </p:sp>
    </p:spTree>
    <p:extLst>
      <p:ext uri="{BB962C8B-B14F-4D97-AF65-F5344CB8AC3E}">
        <p14:creationId xmlns:p14="http://schemas.microsoft.com/office/powerpoint/2010/main" val="38939976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4"/>
          <p:cNvSpPr>
            <a:spLocks noGrp="1" noChangeArrowheads="1"/>
          </p:cNvSpPr>
          <p:nvPr>
            <p:ph type="title"/>
          </p:nvPr>
        </p:nvSpPr>
        <p:spPr>
          <a:noFill/>
        </p:spPr>
        <p:txBody>
          <a:bodyPr/>
          <a:lstStyle/>
          <a:p>
            <a:r>
              <a:rPr lang="en-US" altLang="he-IL" dirty="0">
                <a:solidFill>
                  <a:srgbClr val="FF0000"/>
                </a:solidFill>
              </a:rPr>
              <a:t>Answer for </a:t>
            </a:r>
            <a:r>
              <a:rPr lang="en-US" altLang="he-IL" dirty="0" smtClean="0">
                <a:solidFill>
                  <a:srgbClr val="FF0000"/>
                </a:solidFill>
              </a:rPr>
              <a:t>Activity</a:t>
            </a:r>
            <a:endParaRPr lang="en-US" altLang="he-IL" dirty="0" smtClean="0"/>
          </a:p>
        </p:txBody>
      </p:sp>
      <p:pic>
        <p:nvPicPr>
          <p:cNvPr id="2" name="Picture 1"/>
          <p:cNvPicPr>
            <a:picLocks noChangeAspect="1"/>
          </p:cNvPicPr>
          <p:nvPr/>
        </p:nvPicPr>
        <p:blipFill>
          <a:blip r:embed="rId2"/>
          <a:stretch>
            <a:fillRect/>
          </a:stretch>
        </p:blipFill>
        <p:spPr>
          <a:xfrm>
            <a:off x="252682" y="2412404"/>
            <a:ext cx="8472864" cy="543587"/>
          </a:xfrm>
          <a:prstGeom prst="rect">
            <a:avLst/>
          </a:prstGeom>
        </p:spPr>
      </p:pic>
      <p:pic>
        <p:nvPicPr>
          <p:cNvPr id="3" name="Picture 2"/>
          <p:cNvPicPr>
            <a:picLocks noChangeAspect="1"/>
          </p:cNvPicPr>
          <p:nvPr/>
        </p:nvPicPr>
        <p:blipFill>
          <a:blip r:embed="rId3"/>
          <a:stretch>
            <a:fillRect/>
          </a:stretch>
        </p:blipFill>
        <p:spPr>
          <a:xfrm>
            <a:off x="167898" y="2892707"/>
            <a:ext cx="8576641" cy="995080"/>
          </a:xfrm>
          <a:prstGeom prst="rect">
            <a:avLst/>
          </a:prstGeom>
        </p:spPr>
      </p:pic>
    </p:spTree>
    <p:extLst>
      <p:ext uri="{BB962C8B-B14F-4D97-AF65-F5344CB8AC3E}">
        <p14:creationId xmlns:p14="http://schemas.microsoft.com/office/powerpoint/2010/main" val="355041740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altLang="he-IL" smtClean="0"/>
              <a:t>Agent types</a:t>
            </a:r>
          </a:p>
        </p:txBody>
      </p:sp>
      <p:sp>
        <p:nvSpPr>
          <p:cNvPr id="36867" name="Rectangle 3"/>
          <p:cNvSpPr>
            <a:spLocks noGrp="1" noChangeArrowheads="1"/>
          </p:cNvSpPr>
          <p:nvPr>
            <p:ph type="body" idx="1"/>
          </p:nvPr>
        </p:nvSpPr>
        <p:spPr>
          <a:xfrm>
            <a:off x="304800" y="1752600"/>
            <a:ext cx="8534400" cy="4525963"/>
          </a:xfrm>
        </p:spPr>
        <p:txBody>
          <a:bodyPr/>
          <a:lstStyle/>
          <a:p>
            <a:r>
              <a:rPr lang="en-US" dirty="0"/>
              <a:t>We shall consider four types of agent system of increasing sophistication:</a:t>
            </a:r>
          </a:p>
          <a:p>
            <a:pPr marL="0" indent="0">
              <a:buNone/>
            </a:pPr>
            <a:r>
              <a:rPr lang="en-US" dirty="0" smtClean="0"/>
              <a:t>	1</a:t>
            </a:r>
            <a:r>
              <a:rPr lang="en-US" dirty="0"/>
              <a:t>. Simple Reflex Agents</a:t>
            </a:r>
          </a:p>
          <a:p>
            <a:pPr marL="0" indent="0">
              <a:buNone/>
            </a:pPr>
            <a:r>
              <a:rPr lang="en-US" dirty="0" smtClean="0"/>
              <a:t>	2</a:t>
            </a:r>
            <a:r>
              <a:rPr lang="en-US" dirty="0"/>
              <a:t>. Reflex Agents with an Internal State</a:t>
            </a:r>
          </a:p>
          <a:p>
            <a:pPr marL="0" indent="0">
              <a:buNone/>
            </a:pPr>
            <a:r>
              <a:rPr lang="en-US" dirty="0" smtClean="0"/>
              <a:t>	3</a:t>
            </a:r>
            <a:r>
              <a:rPr lang="en-US" dirty="0"/>
              <a:t>. Goal based agents</a:t>
            </a:r>
          </a:p>
          <a:p>
            <a:pPr marL="0" indent="0">
              <a:buNone/>
            </a:pPr>
            <a:r>
              <a:rPr lang="en-US" dirty="0" smtClean="0"/>
              <a:t>	4</a:t>
            </a:r>
            <a:r>
              <a:rPr lang="en-US" dirty="0"/>
              <a:t>. Utility based agents</a:t>
            </a:r>
            <a:endParaRPr lang="en-US" altLang="he-IL" dirty="0" smtClean="0"/>
          </a:p>
        </p:txBody>
      </p:sp>
    </p:spTree>
    <p:extLst>
      <p:ext uri="{BB962C8B-B14F-4D97-AF65-F5344CB8AC3E}">
        <p14:creationId xmlns:p14="http://schemas.microsoft.com/office/powerpoint/2010/main" val="3863217877"/>
      </p:ext>
    </p:extLst>
  </p:cSld>
  <p:clrMapOvr>
    <a:masterClrMapping/>
  </p:clrMapOvr>
  <p:transition spd="slow"/>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ltLang="he-IL" dirty="0" smtClean="0"/>
              <a:t>Simple reflex agents</a:t>
            </a:r>
          </a:p>
        </p:txBody>
      </p:sp>
      <p:pic>
        <p:nvPicPr>
          <p:cNvPr id="39939" name="Picture 4" descr="simple-reflex-agent"/>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304800" y="1917700"/>
            <a:ext cx="4648200" cy="2959100"/>
          </a:xfrm>
          <a:noFill/>
        </p:spPr>
      </p:pic>
      <p:sp>
        <p:nvSpPr>
          <p:cNvPr id="39940" name="Rectangle 7" descr="Rectangle: Click to edit Master text styles&#10;Second level&#10;Third level&#10;Fourth level&#10;Fifth level"/>
          <p:cNvSpPr>
            <a:spLocks noChangeArrowheads="1"/>
          </p:cNvSpPr>
          <p:nvPr/>
        </p:nvSpPr>
        <p:spPr bwMode="auto">
          <a:xfrm>
            <a:off x="5329238" y="1905000"/>
            <a:ext cx="3814762"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r>
              <a:rPr lang="en-US" altLang="he-IL" sz="2800" dirty="0"/>
              <a:t>Select action on the basis of </a:t>
            </a:r>
            <a:r>
              <a:rPr lang="en-US" altLang="he-IL" sz="2800" i="1" dirty="0"/>
              <a:t>only the current</a:t>
            </a:r>
            <a:r>
              <a:rPr lang="en-US" altLang="he-IL" sz="2800" dirty="0"/>
              <a:t> </a:t>
            </a:r>
            <a:r>
              <a:rPr lang="en-US" altLang="he-IL" sz="2800" dirty="0" smtClean="0"/>
              <a:t>percept, e.g. the </a:t>
            </a:r>
            <a:r>
              <a:rPr lang="en-US" altLang="he-IL" sz="2800" dirty="0"/>
              <a:t>vacuum-agent</a:t>
            </a:r>
          </a:p>
          <a:p>
            <a:pPr eaLnBrk="1" hangingPunct="1"/>
            <a:r>
              <a:rPr lang="en-US" altLang="he-IL" sz="2800" dirty="0" smtClean="0"/>
              <a:t>Implemented </a:t>
            </a:r>
            <a:r>
              <a:rPr lang="en-US" altLang="he-IL" sz="2800" dirty="0"/>
              <a:t>through </a:t>
            </a:r>
            <a:r>
              <a:rPr lang="en-US" altLang="he-IL" sz="2800" i="1" dirty="0"/>
              <a:t>condition-action </a:t>
            </a:r>
            <a:r>
              <a:rPr lang="en-US" altLang="he-IL" sz="2800" i="1" dirty="0" smtClean="0"/>
              <a:t>rule, </a:t>
            </a:r>
            <a:r>
              <a:rPr lang="en-US" altLang="he-IL" sz="2800" i="1" dirty="0" err="1" smtClean="0"/>
              <a:t>e.g.</a:t>
            </a:r>
            <a:r>
              <a:rPr lang="en-US" altLang="he-IL" sz="2800" dirty="0" err="1" smtClean="0"/>
              <a:t>If</a:t>
            </a:r>
            <a:r>
              <a:rPr lang="en-US" altLang="he-IL" sz="2800" dirty="0" smtClean="0"/>
              <a:t> </a:t>
            </a:r>
            <a:r>
              <a:rPr lang="en-US" altLang="he-IL" sz="2800" dirty="0"/>
              <a:t>dirty then suck</a:t>
            </a:r>
          </a:p>
        </p:txBody>
      </p:sp>
    </p:spTree>
    <p:extLst>
      <p:ext uri="{BB962C8B-B14F-4D97-AF65-F5344CB8AC3E}">
        <p14:creationId xmlns:p14="http://schemas.microsoft.com/office/powerpoint/2010/main" val="1735164578"/>
      </p:ext>
    </p:extLst>
  </p:cSld>
  <p:clrMapOvr>
    <a:masterClrMapping/>
  </p:clrMapOvr>
  <p:transition spd="slow"/>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US" altLang="he-IL" smtClean="0"/>
              <a:t>Model-based reflex agents</a:t>
            </a:r>
          </a:p>
        </p:txBody>
      </p:sp>
      <p:pic>
        <p:nvPicPr>
          <p:cNvPr id="44035" name="Picture 4" descr="reflex+state-agent"/>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28600" y="1981200"/>
            <a:ext cx="4898633" cy="3117850"/>
          </a:xfrm>
          <a:noFill/>
        </p:spPr>
      </p:pic>
      <p:sp>
        <p:nvSpPr>
          <p:cNvPr id="44036" name="Rectangle 6" descr="Rectangle: Click to edit Master text styles&#10;Second level&#10;Third level&#10;Fourth level&#10;Fifth level"/>
          <p:cNvSpPr>
            <a:spLocks noChangeArrowheads="1"/>
          </p:cNvSpPr>
          <p:nvPr/>
        </p:nvSpPr>
        <p:spPr bwMode="auto">
          <a:xfrm>
            <a:off x="5302116" y="1425280"/>
            <a:ext cx="3814762"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r>
              <a:rPr lang="en-US" sz="2800" dirty="0"/>
              <a:t>A</a:t>
            </a:r>
            <a:r>
              <a:rPr lang="en-US" sz="2800" dirty="0" smtClean="0"/>
              <a:t>ble </a:t>
            </a:r>
            <a:r>
              <a:rPr lang="en-US" sz="2800" dirty="0"/>
              <a:t>to keep track of its previous states (i.e. maintain </a:t>
            </a:r>
            <a:r>
              <a:rPr lang="en-US" sz="2800" dirty="0" smtClean="0"/>
              <a:t>a description </a:t>
            </a:r>
            <a:r>
              <a:rPr lang="en-US" sz="2800" dirty="0"/>
              <a:t>or “model” of its previous history in the world</a:t>
            </a:r>
            <a:r>
              <a:rPr lang="en-US" sz="2800" dirty="0" smtClean="0"/>
              <a:t>),</a:t>
            </a:r>
          </a:p>
          <a:p>
            <a:r>
              <a:rPr lang="en-US" sz="2800" dirty="0"/>
              <a:t>A</a:t>
            </a:r>
            <a:r>
              <a:rPr lang="en-US" sz="2800" dirty="0" smtClean="0"/>
              <a:t>ble </a:t>
            </a:r>
            <a:r>
              <a:rPr lang="en-US" sz="2800" dirty="0"/>
              <a:t>to make better informed decisions about its actions.</a:t>
            </a:r>
            <a:endParaRPr lang="en-US" altLang="he-IL" sz="2800" dirty="0"/>
          </a:p>
        </p:txBody>
      </p:sp>
    </p:spTree>
    <p:extLst>
      <p:ext uri="{BB962C8B-B14F-4D97-AF65-F5344CB8AC3E}">
        <p14:creationId xmlns:p14="http://schemas.microsoft.com/office/powerpoint/2010/main" val="2129025461"/>
      </p:ext>
    </p:extLst>
  </p:cSld>
  <p:clrMapOvr>
    <a:masterClrMapping/>
  </p:clrMapOvr>
  <p:transition spd="slow"/>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US" altLang="he-IL" smtClean="0"/>
              <a:t>Goal-based agents</a:t>
            </a:r>
          </a:p>
        </p:txBody>
      </p:sp>
      <p:sp>
        <p:nvSpPr>
          <p:cNvPr id="47107" name="Rectangle 3"/>
          <p:cNvSpPr>
            <a:spLocks noGrp="1" noChangeArrowheads="1"/>
          </p:cNvSpPr>
          <p:nvPr>
            <p:ph type="body" idx="4294967295"/>
          </p:nvPr>
        </p:nvSpPr>
        <p:spPr>
          <a:xfrm>
            <a:off x="0" y="1600200"/>
            <a:ext cx="8229600" cy="4525963"/>
          </a:xfrm>
        </p:spPr>
        <p:txBody>
          <a:bodyPr/>
          <a:lstStyle/>
          <a:p>
            <a:pPr eaLnBrk="1" hangingPunct="1">
              <a:buFontTx/>
              <a:buNone/>
            </a:pPr>
            <a:r>
              <a:rPr lang="en-US" altLang="he-IL" smtClean="0"/>
              <a:t>
</a:t>
            </a:r>
          </a:p>
        </p:txBody>
      </p:sp>
      <p:pic>
        <p:nvPicPr>
          <p:cNvPr id="47108" name="Picture 5" descr="goal-based-agent"/>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76200" y="1827214"/>
            <a:ext cx="4648200" cy="2959412"/>
          </a:xfrm>
          <a:noFill/>
        </p:spPr>
      </p:pic>
      <p:sp>
        <p:nvSpPr>
          <p:cNvPr id="47109" name="Rectangle 7" descr="Rectangle: Click to edit Master text styles&#10;Second level&#10;Third level&#10;Fourth level&#10;Fifth level"/>
          <p:cNvSpPr>
            <a:spLocks noChangeArrowheads="1"/>
          </p:cNvSpPr>
          <p:nvPr/>
        </p:nvSpPr>
        <p:spPr bwMode="auto">
          <a:xfrm>
            <a:off x="4707610" y="1465048"/>
            <a:ext cx="41148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r>
              <a:rPr lang="en-US" sz="2400" dirty="0"/>
              <a:t>The appropriate action for the agent will often depend on what its goals are, and </a:t>
            </a:r>
            <a:r>
              <a:rPr lang="en-US" sz="2400" dirty="0" smtClean="0"/>
              <a:t>so it </a:t>
            </a:r>
            <a:r>
              <a:rPr lang="en-US" sz="2400" dirty="0"/>
              <a:t>must be provided with some </a:t>
            </a:r>
            <a:r>
              <a:rPr lang="en-US" sz="2400" b="1" i="1" dirty="0"/>
              <a:t>goal </a:t>
            </a:r>
            <a:r>
              <a:rPr lang="en-US" sz="2400" b="1" i="1" dirty="0" smtClean="0"/>
              <a:t>information.</a:t>
            </a:r>
          </a:p>
          <a:p>
            <a:r>
              <a:rPr lang="en-US" sz="2400" dirty="0"/>
              <a:t>If a long sequence of actions is required to reach the goal, then </a:t>
            </a:r>
            <a:r>
              <a:rPr lang="en-US" sz="2400" b="1" i="1" dirty="0"/>
              <a:t>Search </a:t>
            </a:r>
            <a:r>
              <a:rPr lang="en-US" sz="2400" dirty="0"/>
              <a:t>and </a:t>
            </a:r>
            <a:r>
              <a:rPr lang="en-US" sz="2400" b="1" i="1" dirty="0" smtClean="0"/>
              <a:t>Planning </a:t>
            </a:r>
            <a:r>
              <a:rPr lang="en-US" sz="2400" dirty="0" smtClean="0"/>
              <a:t>are </a:t>
            </a:r>
            <a:r>
              <a:rPr lang="en-US" sz="2400" dirty="0"/>
              <a:t>the sub-fields of AI that must be called into action.</a:t>
            </a:r>
            <a:endParaRPr lang="en-US" altLang="he-IL" sz="2400" dirty="0"/>
          </a:p>
        </p:txBody>
      </p:sp>
    </p:spTree>
    <p:extLst>
      <p:ext uri="{BB962C8B-B14F-4D97-AF65-F5344CB8AC3E}">
        <p14:creationId xmlns:p14="http://schemas.microsoft.com/office/powerpoint/2010/main" val="2210053018"/>
      </p:ext>
    </p:extLst>
  </p:cSld>
  <p:clrMapOvr>
    <a:masterClrMapping/>
  </p:clrMapOvr>
  <p:transition spd="slow"/>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en-US" altLang="he-IL" smtClean="0"/>
              <a:t>Utility-based agents</a:t>
            </a:r>
          </a:p>
        </p:txBody>
      </p:sp>
      <p:pic>
        <p:nvPicPr>
          <p:cNvPr id="49155" name="Picture 5" descr="utility-based-agen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76200" y="1730375"/>
            <a:ext cx="5061910" cy="3222625"/>
          </a:xfrm>
          <a:noFill/>
        </p:spPr>
      </p:pic>
      <p:sp>
        <p:nvSpPr>
          <p:cNvPr id="49156" name="Rectangle 6" descr="Rectangle: Click to edit Master text styles&#10;Second level&#10;Third level&#10;Fourth level&#10;Fifth level"/>
          <p:cNvSpPr>
            <a:spLocks noChangeArrowheads="1"/>
          </p:cNvSpPr>
          <p:nvPr/>
        </p:nvSpPr>
        <p:spPr bwMode="auto">
          <a:xfrm>
            <a:off x="5136818" y="1443199"/>
            <a:ext cx="3942605"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r>
              <a:rPr lang="en-US" sz="2400" dirty="0" smtClean="0"/>
              <a:t>Described as </a:t>
            </a:r>
            <a:r>
              <a:rPr lang="en-US" sz="2400" dirty="0"/>
              <a:t>possessing a </a:t>
            </a:r>
            <a:r>
              <a:rPr lang="en-US" sz="2400" b="1" i="1" dirty="0"/>
              <a:t>utility function </a:t>
            </a:r>
            <a:r>
              <a:rPr lang="en-US" sz="2400" dirty="0"/>
              <a:t>that maps a state, or sequence of states, on to a </a:t>
            </a:r>
            <a:r>
              <a:rPr lang="en-US" sz="2400" dirty="0" smtClean="0"/>
              <a:t>real number </a:t>
            </a:r>
            <a:r>
              <a:rPr lang="en-US" sz="2400" dirty="0"/>
              <a:t>that represents its utility or usefulness.</a:t>
            </a:r>
          </a:p>
          <a:p>
            <a:r>
              <a:rPr lang="en-US" sz="2400" dirty="0" smtClean="0"/>
              <a:t>Use </a:t>
            </a:r>
            <a:r>
              <a:rPr lang="en-US" sz="2400" dirty="0"/>
              <a:t>the utility to choose between alternative sequences of </a:t>
            </a:r>
            <a:r>
              <a:rPr lang="en-US" sz="2400" dirty="0" smtClean="0"/>
              <a:t>actions/states that </a:t>
            </a:r>
            <a:r>
              <a:rPr lang="en-US" sz="2400" dirty="0"/>
              <a:t>lead to a given goal </a:t>
            </a:r>
            <a:r>
              <a:rPr lang="en-US" sz="2400" dirty="0" smtClean="0"/>
              <a:t>being </a:t>
            </a:r>
            <a:r>
              <a:rPr lang="en-US" sz="2400" dirty="0"/>
              <a:t>achieved.</a:t>
            </a:r>
            <a:endParaRPr lang="en-US" altLang="he-IL" sz="2400" dirty="0"/>
          </a:p>
        </p:txBody>
      </p:sp>
    </p:spTree>
    <p:extLst>
      <p:ext uri="{BB962C8B-B14F-4D97-AF65-F5344CB8AC3E}">
        <p14:creationId xmlns:p14="http://schemas.microsoft.com/office/powerpoint/2010/main" val="3995928518"/>
      </p:ext>
    </p:extLst>
  </p:cSld>
  <p:clrMapOvr>
    <a:masterClrMapping/>
  </p:clrMapOvr>
  <p:transition spd="slow"/>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US" altLang="he-IL" smtClean="0"/>
              <a:t>Learning agents</a:t>
            </a:r>
          </a:p>
        </p:txBody>
      </p:sp>
      <p:pic>
        <p:nvPicPr>
          <p:cNvPr id="50179" name="Picture 9" descr="learning-agen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76200" y="1858963"/>
            <a:ext cx="4621813" cy="3246437"/>
          </a:xfrm>
          <a:noFill/>
        </p:spPr>
      </p:pic>
      <p:sp>
        <p:nvSpPr>
          <p:cNvPr id="50180" name="Rectangle 11" descr="Rectangle: Click to edit Master text styles&#10;Second level&#10;Third level&#10;Fourth level&#10;Fifth level"/>
          <p:cNvSpPr>
            <a:spLocks noChangeArrowheads="1"/>
          </p:cNvSpPr>
          <p:nvPr/>
        </p:nvSpPr>
        <p:spPr bwMode="auto">
          <a:xfrm>
            <a:off x="4800600" y="1676400"/>
            <a:ext cx="4445986"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90000"/>
              </a:lnSpc>
            </a:pPr>
            <a:r>
              <a:rPr lang="en-US" altLang="he-IL" sz="2400" dirty="0"/>
              <a:t>All previous </a:t>
            </a:r>
            <a:r>
              <a:rPr lang="en-US" altLang="he-IL" sz="2400" dirty="0" smtClean="0"/>
              <a:t>four agent-programs </a:t>
            </a:r>
            <a:r>
              <a:rPr lang="en-US" altLang="he-IL" sz="2400" dirty="0"/>
              <a:t>describe methods for selecting </a:t>
            </a:r>
            <a:r>
              <a:rPr lang="en-US" altLang="he-IL" sz="2400" i="1" dirty="0" smtClean="0"/>
              <a:t>actions</a:t>
            </a:r>
            <a:r>
              <a:rPr lang="en-US" altLang="he-IL" sz="2400" dirty="0" smtClean="0"/>
              <a:t>.</a:t>
            </a:r>
          </a:p>
          <a:p>
            <a:pPr eaLnBrk="1" hangingPunct="1">
              <a:lnSpc>
                <a:spcPct val="90000"/>
              </a:lnSpc>
            </a:pPr>
            <a:r>
              <a:rPr lang="en-US" altLang="he-IL" sz="2400" b="1" dirty="0" smtClean="0"/>
              <a:t>Learning agents :</a:t>
            </a:r>
          </a:p>
          <a:p>
            <a:pPr marL="682625" eaLnBrk="1" hangingPunct="1">
              <a:lnSpc>
                <a:spcPct val="90000"/>
              </a:lnSpc>
              <a:buFontTx/>
              <a:buChar char="-"/>
            </a:pPr>
            <a:r>
              <a:rPr lang="en-US" altLang="he-IL" sz="2400" dirty="0" smtClean="0"/>
              <a:t>Modifies performance elements.</a:t>
            </a:r>
          </a:p>
          <a:p>
            <a:pPr marL="682625" eaLnBrk="1" hangingPunct="1">
              <a:lnSpc>
                <a:spcPct val="90000"/>
              </a:lnSpc>
              <a:buFontTx/>
              <a:buChar char="-"/>
            </a:pPr>
            <a:r>
              <a:rPr lang="en-US" altLang="he-IL" sz="2400" dirty="0" smtClean="0"/>
              <a:t>Teach </a:t>
            </a:r>
            <a:r>
              <a:rPr lang="en-US" altLang="he-IL" sz="2400" dirty="0"/>
              <a:t>them instead of instructing </a:t>
            </a:r>
            <a:r>
              <a:rPr lang="en-US" altLang="he-IL" sz="2400" dirty="0" smtClean="0"/>
              <a:t>them.</a:t>
            </a:r>
          </a:p>
          <a:p>
            <a:pPr eaLnBrk="1" hangingPunct="1">
              <a:lnSpc>
                <a:spcPct val="90000"/>
              </a:lnSpc>
            </a:pPr>
            <a:r>
              <a:rPr lang="en-US" altLang="he-IL" sz="2400" dirty="0" smtClean="0"/>
              <a:t>Advantage </a:t>
            </a:r>
            <a:r>
              <a:rPr lang="en-US" altLang="he-IL" sz="2400" dirty="0"/>
              <a:t>is the robustness of the program toward initially unknown environments.</a:t>
            </a:r>
          </a:p>
        </p:txBody>
      </p:sp>
    </p:spTree>
    <p:extLst>
      <p:ext uri="{BB962C8B-B14F-4D97-AF65-F5344CB8AC3E}">
        <p14:creationId xmlns:p14="http://schemas.microsoft.com/office/powerpoint/2010/main" val="2773982377"/>
      </p:ext>
    </p:extLst>
  </p:cSld>
  <p:clrMapOvr>
    <a:masterClrMapping/>
  </p:clrMapOvr>
  <p:transition spd="slow"/>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US" altLang="he-IL" smtClean="0"/>
              <a:t>Learning agents</a:t>
            </a:r>
          </a:p>
        </p:txBody>
      </p:sp>
      <p:sp>
        <p:nvSpPr>
          <p:cNvPr id="50180" name="Rectangle 11" descr="Rectangle: Click to edit Master text styles&#10;Second level&#10;Third level&#10;Fourth level&#10;Fifth level"/>
          <p:cNvSpPr>
            <a:spLocks noChangeArrowheads="1"/>
          </p:cNvSpPr>
          <p:nvPr/>
        </p:nvSpPr>
        <p:spPr bwMode="auto">
          <a:xfrm>
            <a:off x="457200" y="1676400"/>
            <a:ext cx="8229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90000"/>
              </a:lnSpc>
            </a:pPr>
            <a:r>
              <a:rPr lang="en-US" sz="2400" dirty="0" smtClean="0"/>
              <a:t>A </a:t>
            </a:r>
            <a:r>
              <a:rPr lang="en-US" sz="2400" dirty="0"/>
              <a:t>general learning agent has four basic components: </a:t>
            </a:r>
            <a:endParaRPr lang="en-US" sz="2400" dirty="0" smtClean="0"/>
          </a:p>
          <a:p>
            <a:pPr marL="682625" indent="-403225">
              <a:lnSpc>
                <a:spcPct val="90000"/>
              </a:lnSpc>
              <a:buFont typeface="+mj-lt"/>
              <a:buAutoNum type="arabicParenR"/>
            </a:pPr>
            <a:r>
              <a:rPr lang="en-US" sz="2400" dirty="0" smtClean="0"/>
              <a:t>The </a:t>
            </a:r>
            <a:r>
              <a:rPr lang="en-US" sz="2400" dirty="0"/>
              <a:t>Performance Element – which takes in percepts and decides on appropriate actions in the same way as a non-learning agent. </a:t>
            </a:r>
          </a:p>
          <a:p>
            <a:pPr marL="682625" indent="-403225">
              <a:lnSpc>
                <a:spcPct val="90000"/>
              </a:lnSpc>
              <a:buFont typeface="+mj-lt"/>
              <a:buAutoNum type="arabicParenR"/>
            </a:pPr>
            <a:r>
              <a:rPr lang="en-US" sz="2400" dirty="0" smtClean="0"/>
              <a:t>The </a:t>
            </a:r>
            <a:r>
              <a:rPr lang="en-US" sz="2400" dirty="0"/>
              <a:t>Critic – which uses a fixed standard of performance to tell the learning element how well the agent is doing. </a:t>
            </a:r>
            <a:endParaRPr lang="en-US" sz="2400" dirty="0" smtClean="0"/>
          </a:p>
          <a:p>
            <a:pPr marL="682625" indent="-403225">
              <a:lnSpc>
                <a:spcPct val="90000"/>
              </a:lnSpc>
              <a:buFont typeface="+mj-lt"/>
              <a:buAutoNum type="arabicParenR"/>
            </a:pPr>
            <a:r>
              <a:rPr lang="en-US" sz="2400" dirty="0" smtClean="0"/>
              <a:t>The </a:t>
            </a:r>
            <a:r>
              <a:rPr lang="en-US" sz="2400" dirty="0"/>
              <a:t>Learning Element – that receives information from the critic and makes appropriate improvements to the performance element</a:t>
            </a:r>
            <a:r>
              <a:rPr lang="en-US" sz="2400" dirty="0" smtClean="0"/>
              <a:t>.</a:t>
            </a:r>
          </a:p>
          <a:p>
            <a:pPr marL="682625" indent="-403225">
              <a:lnSpc>
                <a:spcPct val="90000"/>
              </a:lnSpc>
              <a:buFont typeface="+mj-lt"/>
              <a:buAutoNum type="arabicParenR"/>
            </a:pPr>
            <a:r>
              <a:rPr lang="en-US" sz="2400" dirty="0" smtClean="0"/>
              <a:t>The </a:t>
            </a:r>
            <a:r>
              <a:rPr lang="en-US" sz="2400" dirty="0"/>
              <a:t>Problem Generator – that suggests actions that will lead to new and informative experiences (e.g. as in carrying out experiments).</a:t>
            </a:r>
            <a:endParaRPr lang="en-US" altLang="he-IL" sz="2400" dirty="0"/>
          </a:p>
        </p:txBody>
      </p:sp>
    </p:spTree>
    <p:extLst>
      <p:ext uri="{BB962C8B-B14F-4D97-AF65-F5344CB8AC3E}">
        <p14:creationId xmlns:p14="http://schemas.microsoft.com/office/powerpoint/2010/main" val="3358718832"/>
      </p:ext>
    </p:extLst>
  </p:cSld>
  <p:clrMapOvr>
    <a:masterClrMapping/>
  </p:clrMapOvr>
  <p:transition spd="slow"/>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altLang="he-IL" dirty="0" smtClean="0"/>
              <a:t>Agent Environments</a:t>
            </a:r>
          </a:p>
        </p:txBody>
      </p:sp>
      <p:sp>
        <p:nvSpPr>
          <p:cNvPr id="36867" name="Rectangle 3"/>
          <p:cNvSpPr>
            <a:spLocks noGrp="1" noChangeArrowheads="1"/>
          </p:cNvSpPr>
          <p:nvPr>
            <p:ph type="body" idx="1"/>
          </p:nvPr>
        </p:nvSpPr>
        <p:spPr>
          <a:xfrm>
            <a:off x="304800" y="1600200"/>
            <a:ext cx="8534400" cy="4525963"/>
          </a:xfrm>
        </p:spPr>
        <p:txBody>
          <a:bodyPr>
            <a:normAutofit fontScale="85000" lnSpcReduction="10000"/>
          </a:bodyPr>
          <a:lstStyle/>
          <a:p>
            <a:pPr marL="225425" indent="-225425"/>
            <a:r>
              <a:rPr lang="en-US" altLang="he-IL" dirty="0"/>
              <a:t>An </a:t>
            </a:r>
            <a:r>
              <a:rPr lang="en-US" altLang="he-IL" b="1" dirty="0"/>
              <a:t>agent</a:t>
            </a:r>
            <a:r>
              <a:rPr lang="en-US" altLang="he-IL" dirty="0"/>
              <a:t> perceives and acts in an environment, has an architecture, and is implemented by an agent program.</a:t>
            </a:r>
          </a:p>
          <a:p>
            <a:pPr marL="225425" indent="-225425"/>
            <a:r>
              <a:rPr lang="en-US" dirty="0" smtClean="0"/>
              <a:t>Often </a:t>
            </a:r>
            <a:r>
              <a:rPr lang="en-US" dirty="0"/>
              <a:t>we run an </a:t>
            </a:r>
            <a:r>
              <a:rPr lang="en-US" b="1" dirty="0"/>
              <a:t>environment program </a:t>
            </a:r>
            <a:r>
              <a:rPr lang="en-US" dirty="0"/>
              <a:t>for our agents to interact with.</a:t>
            </a:r>
          </a:p>
          <a:p>
            <a:pPr marL="225425" indent="-225425"/>
            <a:r>
              <a:rPr lang="en-US" dirty="0"/>
              <a:t>Five dimensions to categorize the properties of an agent’s environment </a:t>
            </a:r>
            <a:r>
              <a:rPr lang="en-US" b="1" dirty="0"/>
              <a:t>:  Accessible vs. Inaccessible,   Deterministic vs. Non-deterministic,    Discrete vs. Continuous,    Episodic vs. Non-episodic,   Static vs. </a:t>
            </a:r>
            <a:r>
              <a:rPr lang="en-US" b="1" dirty="0" smtClean="0"/>
              <a:t>Dynamic</a:t>
            </a:r>
          </a:p>
          <a:p>
            <a:pPr marL="225425" indent="-225425"/>
            <a:r>
              <a:rPr lang="en-US" altLang="he-IL" dirty="0" smtClean="0"/>
              <a:t>The </a:t>
            </a:r>
            <a:r>
              <a:rPr lang="en-US" altLang="he-IL" dirty="0"/>
              <a:t>most challenging environments are inaccessible, </a:t>
            </a:r>
            <a:r>
              <a:rPr lang="en-US" dirty="0" smtClean="0"/>
              <a:t>non-deterministic, continuous</a:t>
            </a:r>
            <a:r>
              <a:rPr lang="en-US" dirty="0"/>
              <a:t>, non-episodic, and dynamic.</a:t>
            </a:r>
            <a:endParaRPr lang="en-US" altLang="he-IL" b="1" dirty="0"/>
          </a:p>
          <a:p>
            <a:pPr marL="0" indent="0">
              <a:buNone/>
            </a:pPr>
            <a:endParaRPr lang="en-US" altLang="he-IL" dirty="0" smtClean="0"/>
          </a:p>
        </p:txBody>
      </p:sp>
    </p:spTree>
    <p:extLst>
      <p:ext uri="{BB962C8B-B14F-4D97-AF65-F5344CB8AC3E}">
        <p14:creationId xmlns:p14="http://schemas.microsoft.com/office/powerpoint/2010/main" val="3989269595"/>
      </p:ext>
    </p:extLst>
  </p:cSld>
  <p:clrMapOvr>
    <a:masterClrMapping/>
  </p:clrMapOvr>
  <p:transition spd="slow"/>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b="1" dirty="0"/>
              <a:t>Accessible vs. Inaccessible</a:t>
            </a:r>
            <a:endParaRPr lang="en-US" altLang="he-IL" dirty="0" smtClean="0"/>
          </a:p>
        </p:txBody>
      </p:sp>
      <p:sp>
        <p:nvSpPr>
          <p:cNvPr id="36867" name="Rectangle 3"/>
          <p:cNvSpPr>
            <a:spLocks noGrp="1" noChangeArrowheads="1"/>
          </p:cNvSpPr>
          <p:nvPr>
            <p:ph type="body" idx="1"/>
          </p:nvPr>
        </p:nvSpPr>
        <p:spPr>
          <a:xfrm>
            <a:off x="304800" y="1828800"/>
            <a:ext cx="8534400" cy="4525963"/>
          </a:xfrm>
        </p:spPr>
        <p:txBody>
          <a:bodyPr>
            <a:normAutofit/>
          </a:bodyPr>
          <a:lstStyle/>
          <a:p>
            <a:r>
              <a:rPr lang="en-US" dirty="0" smtClean="0"/>
              <a:t>An </a:t>
            </a:r>
            <a:r>
              <a:rPr lang="en-US" dirty="0"/>
              <a:t>environment is </a:t>
            </a:r>
            <a:r>
              <a:rPr lang="en-US" b="1" i="1" dirty="0"/>
              <a:t>accessible </a:t>
            </a:r>
            <a:r>
              <a:rPr lang="en-US" dirty="0"/>
              <a:t>to an agent if the </a:t>
            </a:r>
            <a:r>
              <a:rPr lang="en-US" dirty="0" smtClean="0"/>
              <a:t>agent’s sensory </a:t>
            </a:r>
            <a:r>
              <a:rPr lang="en-US" dirty="0"/>
              <a:t>apparatus gives it access to the complete state of the environment. </a:t>
            </a:r>
            <a:endParaRPr lang="en-US" dirty="0" smtClean="0"/>
          </a:p>
          <a:p>
            <a:r>
              <a:rPr lang="en-US" dirty="0" smtClean="0"/>
              <a:t>Thus, the agent </a:t>
            </a:r>
            <a:r>
              <a:rPr lang="en-US" dirty="0"/>
              <a:t>will not then need to maintain an internal state to keep track of the world.</a:t>
            </a:r>
            <a:endParaRPr lang="en-US" altLang="he-IL" dirty="0" smtClean="0"/>
          </a:p>
        </p:txBody>
      </p:sp>
    </p:spTree>
    <p:extLst>
      <p:ext uri="{BB962C8B-B14F-4D97-AF65-F5344CB8AC3E}">
        <p14:creationId xmlns:p14="http://schemas.microsoft.com/office/powerpoint/2010/main" val="1065016215"/>
      </p:ext>
    </p:extLst>
  </p:cSld>
  <p:clrMapOvr>
    <a:masterClrMapping/>
  </p:clrMapOvr>
  <p:transition spd="slow"/>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normAutofit fontScale="90000"/>
          </a:bodyPr>
          <a:lstStyle/>
          <a:p>
            <a:r>
              <a:rPr lang="en-US" b="1" dirty="0"/>
              <a:t>Deterministic vs. Non-deterministic</a:t>
            </a:r>
            <a:endParaRPr lang="en-US" altLang="he-IL" dirty="0" smtClean="0"/>
          </a:p>
        </p:txBody>
      </p:sp>
      <p:sp>
        <p:nvSpPr>
          <p:cNvPr id="36867" name="Rectangle 3"/>
          <p:cNvSpPr>
            <a:spLocks noGrp="1" noChangeArrowheads="1"/>
          </p:cNvSpPr>
          <p:nvPr>
            <p:ph type="body" idx="1"/>
          </p:nvPr>
        </p:nvSpPr>
        <p:spPr>
          <a:xfrm>
            <a:off x="304800" y="1828800"/>
            <a:ext cx="8534400" cy="4525963"/>
          </a:xfrm>
        </p:spPr>
        <p:txBody>
          <a:bodyPr>
            <a:normAutofit/>
          </a:bodyPr>
          <a:lstStyle/>
          <a:p>
            <a:r>
              <a:rPr lang="en-US" dirty="0"/>
              <a:t>The environment is </a:t>
            </a:r>
            <a:r>
              <a:rPr lang="en-US" b="1" i="1" dirty="0"/>
              <a:t>deterministic </a:t>
            </a:r>
            <a:r>
              <a:rPr lang="en-US" dirty="0"/>
              <a:t>if its </a:t>
            </a:r>
            <a:r>
              <a:rPr lang="en-US" dirty="0" smtClean="0"/>
              <a:t>next state </a:t>
            </a:r>
            <a:r>
              <a:rPr lang="en-US" dirty="0"/>
              <a:t>is determined completely by its current state and the actions of its agents. </a:t>
            </a:r>
            <a:r>
              <a:rPr lang="en-US" dirty="0" smtClean="0"/>
              <a:t>A deterministic </a:t>
            </a:r>
            <a:r>
              <a:rPr lang="en-US" dirty="0"/>
              <a:t>but inaccessible environment may </a:t>
            </a:r>
            <a:r>
              <a:rPr lang="en-US" i="1" dirty="0"/>
              <a:t>appear </a:t>
            </a:r>
            <a:r>
              <a:rPr lang="en-US" dirty="0"/>
              <a:t>non-deterministic to </a:t>
            </a:r>
            <a:r>
              <a:rPr lang="en-US" dirty="0" smtClean="0"/>
              <a:t>the agent</a:t>
            </a:r>
            <a:r>
              <a:rPr lang="en-US" dirty="0"/>
              <a:t>. </a:t>
            </a:r>
            <a:endParaRPr lang="en-US" dirty="0" smtClean="0"/>
          </a:p>
          <a:p>
            <a:r>
              <a:rPr lang="en-US" dirty="0" smtClean="0"/>
              <a:t>Most </a:t>
            </a:r>
            <a:r>
              <a:rPr lang="en-US" dirty="0"/>
              <a:t>real environments are so complex that, in practice, they have to </a:t>
            </a:r>
            <a:r>
              <a:rPr lang="en-US" dirty="0" smtClean="0"/>
              <a:t>be treated </a:t>
            </a:r>
            <a:r>
              <a:rPr lang="en-US" dirty="0"/>
              <a:t>as non-deterministic.</a:t>
            </a:r>
            <a:endParaRPr lang="en-US" altLang="he-IL" dirty="0" smtClean="0"/>
          </a:p>
        </p:txBody>
      </p:sp>
    </p:spTree>
    <p:extLst>
      <p:ext uri="{BB962C8B-B14F-4D97-AF65-F5344CB8AC3E}">
        <p14:creationId xmlns:p14="http://schemas.microsoft.com/office/powerpoint/2010/main" val="2625580598"/>
      </p:ext>
    </p:extLst>
  </p:cSld>
  <p:clrMapOvr>
    <a:masterClrMapping/>
  </p:clrMapOvr>
  <p:transition spd="slow"/>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normAutofit/>
          </a:bodyPr>
          <a:lstStyle/>
          <a:p>
            <a:r>
              <a:rPr lang="en-US" b="1" dirty="0"/>
              <a:t>Discrete vs. Continuous</a:t>
            </a:r>
            <a:endParaRPr lang="en-US" altLang="he-IL" dirty="0" smtClean="0"/>
          </a:p>
        </p:txBody>
      </p:sp>
      <p:sp>
        <p:nvSpPr>
          <p:cNvPr id="36867" name="Rectangle 3"/>
          <p:cNvSpPr>
            <a:spLocks noGrp="1" noChangeArrowheads="1"/>
          </p:cNvSpPr>
          <p:nvPr>
            <p:ph type="body" idx="1"/>
          </p:nvPr>
        </p:nvSpPr>
        <p:spPr>
          <a:xfrm>
            <a:off x="304800" y="1828800"/>
            <a:ext cx="8534400" cy="4525963"/>
          </a:xfrm>
        </p:spPr>
        <p:txBody>
          <a:bodyPr>
            <a:normAutofit/>
          </a:bodyPr>
          <a:lstStyle/>
          <a:p>
            <a:r>
              <a:rPr lang="en-US" dirty="0"/>
              <a:t>A </a:t>
            </a:r>
            <a:r>
              <a:rPr lang="en-US" b="1" i="1" dirty="0"/>
              <a:t>discrete </a:t>
            </a:r>
            <a:r>
              <a:rPr lang="en-US" dirty="0"/>
              <a:t>environment has a limited/finite number </a:t>
            </a:r>
            <a:r>
              <a:rPr lang="en-US" dirty="0" smtClean="0"/>
              <a:t>of distinct</a:t>
            </a:r>
            <a:r>
              <a:rPr lang="en-US" dirty="0"/>
              <a:t>, clearly defined percepts and actions.</a:t>
            </a:r>
            <a:endParaRPr lang="en-US" altLang="he-IL" dirty="0" smtClean="0"/>
          </a:p>
        </p:txBody>
      </p:sp>
    </p:spTree>
    <p:extLst>
      <p:ext uri="{BB962C8B-B14F-4D97-AF65-F5344CB8AC3E}">
        <p14:creationId xmlns:p14="http://schemas.microsoft.com/office/powerpoint/2010/main" val="134402262"/>
      </p:ext>
    </p:extLst>
  </p:cSld>
  <p:clrMapOvr>
    <a:masterClrMapping/>
  </p:clrMapOvr>
  <p:transition spd="slow"/>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normAutofit/>
          </a:bodyPr>
          <a:lstStyle/>
          <a:p>
            <a:r>
              <a:rPr lang="en-US" b="1" dirty="0"/>
              <a:t>Episodic vs. Non-episodic</a:t>
            </a:r>
            <a:endParaRPr lang="en-US" altLang="he-IL" dirty="0" smtClean="0"/>
          </a:p>
        </p:txBody>
      </p:sp>
      <p:sp>
        <p:nvSpPr>
          <p:cNvPr id="36867" name="Rectangle 3"/>
          <p:cNvSpPr>
            <a:spLocks noGrp="1" noChangeArrowheads="1"/>
          </p:cNvSpPr>
          <p:nvPr>
            <p:ph type="body" idx="1"/>
          </p:nvPr>
        </p:nvSpPr>
        <p:spPr>
          <a:xfrm>
            <a:off x="304800" y="1828800"/>
            <a:ext cx="8534400" cy="4525963"/>
          </a:xfrm>
        </p:spPr>
        <p:txBody>
          <a:bodyPr>
            <a:normAutofit/>
          </a:bodyPr>
          <a:lstStyle/>
          <a:p>
            <a:r>
              <a:rPr lang="en-US" dirty="0" smtClean="0"/>
              <a:t>In </a:t>
            </a:r>
            <a:r>
              <a:rPr lang="en-US" dirty="0"/>
              <a:t>an </a:t>
            </a:r>
            <a:r>
              <a:rPr lang="en-US" b="1" i="1" dirty="0"/>
              <a:t>episodic </a:t>
            </a:r>
            <a:r>
              <a:rPr lang="en-US" dirty="0"/>
              <a:t>environment the agent’s experience </a:t>
            </a:r>
            <a:r>
              <a:rPr lang="en-US" dirty="0" smtClean="0"/>
              <a:t>can be </a:t>
            </a:r>
            <a:r>
              <a:rPr lang="en-US" dirty="0"/>
              <a:t>divided into “episodes” consisting of the agent perceiving and then </a:t>
            </a:r>
            <a:r>
              <a:rPr lang="en-US" dirty="0" smtClean="0"/>
              <a:t>producing actions </a:t>
            </a:r>
            <a:r>
              <a:rPr lang="en-US" dirty="0"/>
              <a:t>that depend only on that episode. </a:t>
            </a:r>
            <a:endParaRPr lang="en-US" dirty="0" smtClean="0"/>
          </a:p>
          <a:p>
            <a:r>
              <a:rPr lang="en-US" dirty="0" smtClean="0"/>
              <a:t>Non-episodic (subsequent episodes) </a:t>
            </a:r>
            <a:r>
              <a:rPr lang="en-US" dirty="0"/>
              <a:t>do not depend </a:t>
            </a:r>
            <a:r>
              <a:rPr lang="en-US" dirty="0" smtClean="0"/>
              <a:t>on previous </a:t>
            </a:r>
            <a:r>
              <a:rPr lang="en-US" dirty="0"/>
              <a:t>episodes, and so the agent can limit how far it needs to think ahead.</a:t>
            </a:r>
            <a:endParaRPr lang="en-US" altLang="he-IL" dirty="0" smtClean="0"/>
          </a:p>
        </p:txBody>
      </p:sp>
    </p:spTree>
    <p:extLst>
      <p:ext uri="{BB962C8B-B14F-4D97-AF65-F5344CB8AC3E}">
        <p14:creationId xmlns:p14="http://schemas.microsoft.com/office/powerpoint/2010/main" val="1866792272"/>
      </p:ext>
    </p:extLst>
  </p:cSld>
  <p:clrMapOvr>
    <a:masterClrMapping/>
  </p:clrMapOvr>
  <p:transition spd="slow"/>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normAutofit/>
          </a:bodyPr>
          <a:lstStyle/>
          <a:p>
            <a:r>
              <a:rPr lang="en-US" b="1" dirty="0"/>
              <a:t>Static vs. Dynamic</a:t>
            </a:r>
            <a:endParaRPr lang="en-US" altLang="he-IL" dirty="0" smtClean="0"/>
          </a:p>
        </p:txBody>
      </p:sp>
      <p:sp>
        <p:nvSpPr>
          <p:cNvPr id="36867" name="Rectangle 3"/>
          <p:cNvSpPr>
            <a:spLocks noGrp="1" noChangeArrowheads="1"/>
          </p:cNvSpPr>
          <p:nvPr>
            <p:ph type="body" idx="1"/>
          </p:nvPr>
        </p:nvSpPr>
        <p:spPr>
          <a:xfrm>
            <a:off x="304800" y="1828800"/>
            <a:ext cx="8534400" cy="4525963"/>
          </a:xfrm>
        </p:spPr>
        <p:txBody>
          <a:bodyPr>
            <a:normAutofit/>
          </a:bodyPr>
          <a:lstStyle/>
          <a:p>
            <a:r>
              <a:rPr lang="en-US" dirty="0"/>
              <a:t>A </a:t>
            </a:r>
            <a:r>
              <a:rPr lang="en-US" b="1" i="1" dirty="0"/>
              <a:t>static </a:t>
            </a:r>
            <a:r>
              <a:rPr lang="en-US" dirty="0"/>
              <a:t>environment does not change while an agent </a:t>
            </a:r>
            <a:r>
              <a:rPr lang="en-US" dirty="0" smtClean="0"/>
              <a:t>is deliberating</a:t>
            </a:r>
            <a:r>
              <a:rPr lang="en-US" dirty="0"/>
              <a:t>. The agent will then have no need to keep checking the world </a:t>
            </a:r>
            <a:r>
              <a:rPr lang="en-US" dirty="0" smtClean="0"/>
              <a:t>while it </a:t>
            </a:r>
            <a:r>
              <a:rPr lang="en-US" dirty="0"/>
              <a:t>is deciding on an action, nor worry about the passage of time.</a:t>
            </a:r>
            <a:endParaRPr lang="en-US" altLang="he-IL" dirty="0" smtClean="0"/>
          </a:p>
        </p:txBody>
      </p:sp>
    </p:spTree>
    <p:extLst>
      <p:ext uri="{BB962C8B-B14F-4D97-AF65-F5344CB8AC3E}">
        <p14:creationId xmlns:p14="http://schemas.microsoft.com/office/powerpoint/2010/main" val="3560677456"/>
      </p:ext>
    </p:extLst>
  </p:cSld>
  <p:clrMapOvr>
    <a:masterClrMapping/>
  </p:clrMapOvr>
  <p:transition spd="slow"/>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normAutofit/>
          </a:bodyPr>
          <a:lstStyle/>
          <a:p>
            <a:r>
              <a:rPr lang="en-US" b="1" dirty="0"/>
              <a:t>Components of an AI Agent</a:t>
            </a:r>
            <a:endParaRPr lang="en-US" altLang="he-IL" dirty="0" smtClean="0"/>
          </a:p>
        </p:txBody>
      </p:sp>
      <p:sp>
        <p:nvSpPr>
          <p:cNvPr id="36867" name="Rectangle 3"/>
          <p:cNvSpPr>
            <a:spLocks noGrp="1" noChangeArrowheads="1"/>
          </p:cNvSpPr>
          <p:nvPr>
            <p:ph type="body" idx="1"/>
          </p:nvPr>
        </p:nvSpPr>
        <p:spPr>
          <a:xfrm>
            <a:off x="0" y="1417638"/>
            <a:ext cx="8458200" cy="4525963"/>
          </a:xfrm>
        </p:spPr>
        <p:txBody>
          <a:bodyPr>
            <a:noAutofit/>
          </a:bodyPr>
          <a:lstStyle/>
          <a:p>
            <a:r>
              <a:rPr lang="en-US" sz="2400" dirty="0"/>
              <a:t>We now have a good idea of the components that need to be built into an AI agent:</a:t>
            </a:r>
          </a:p>
          <a:p>
            <a:pPr marL="798513" indent="-457200">
              <a:buFont typeface="+mj-lt"/>
              <a:buAutoNum type="arabicParenR"/>
            </a:pPr>
            <a:r>
              <a:rPr lang="en-US" sz="2200" dirty="0" smtClean="0"/>
              <a:t>A </a:t>
            </a:r>
            <a:r>
              <a:rPr lang="en-US" sz="2200" dirty="0"/>
              <a:t>means to infer properties of the world from its percepts.</a:t>
            </a:r>
          </a:p>
          <a:p>
            <a:pPr marL="798513" indent="-457200">
              <a:buFont typeface="+mj-lt"/>
              <a:buAutoNum type="arabicParenR"/>
            </a:pPr>
            <a:r>
              <a:rPr lang="en-US" sz="2200" dirty="0" smtClean="0"/>
              <a:t>Information </a:t>
            </a:r>
            <a:r>
              <a:rPr lang="en-US" sz="2200" dirty="0"/>
              <a:t>about the way the world evolves.</a:t>
            </a:r>
          </a:p>
          <a:p>
            <a:pPr marL="798513" indent="-457200">
              <a:buFont typeface="+mj-lt"/>
              <a:buAutoNum type="arabicParenR"/>
            </a:pPr>
            <a:r>
              <a:rPr lang="en-US" sz="2200" dirty="0" smtClean="0"/>
              <a:t>Information </a:t>
            </a:r>
            <a:r>
              <a:rPr lang="en-US" sz="2200" dirty="0"/>
              <a:t>about what will happen as a result of its possible actions.</a:t>
            </a:r>
          </a:p>
          <a:p>
            <a:pPr marL="798513" indent="-457200">
              <a:buFont typeface="+mj-lt"/>
              <a:buAutoNum type="arabicParenR"/>
            </a:pPr>
            <a:r>
              <a:rPr lang="en-US" sz="2200" dirty="0" smtClean="0"/>
              <a:t>Utility </a:t>
            </a:r>
            <a:r>
              <a:rPr lang="en-US" sz="2200" dirty="0"/>
              <a:t>information indicating the desirability of possible world states and </a:t>
            </a:r>
            <a:r>
              <a:rPr lang="en-US" sz="2200" dirty="0" smtClean="0"/>
              <a:t>the actions </a:t>
            </a:r>
            <a:r>
              <a:rPr lang="en-US" sz="2200" dirty="0"/>
              <a:t>that lead to them.</a:t>
            </a:r>
          </a:p>
          <a:p>
            <a:pPr marL="798513" indent="-457200">
              <a:buFont typeface="+mj-lt"/>
              <a:buAutoNum type="arabicParenR"/>
            </a:pPr>
            <a:r>
              <a:rPr lang="en-US" sz="2200" dirty="0" smtClean="0"/>
              <a:t>Goals </a:t>
            </a:r>
            <a:r>
              <a:rPr lang="en-US" sz="2200" dirty="0"/>
              <a:t>that describe the classes of states whose achievement </a:t>
            </a:r>
            <a:r>
              <a:rPr lang="en-US" sz="2200" dirty="0" err="1"/>
              <a:t>maximises</a:t>
            </a:r>
            <a:r>
              <a:rPr lang="en-US" sz="2200" dirty="0"/>
              <a:t> </a:t>
            </a:r>
            <a:r>
              <a:rPr lang="en-US" sz="2200" dirty="0" smtClean="0"/>
              <a:t>the agent’s </a:t>
            </a:r>
            <a:r>
              <a:rPr lang="en-US" sz="2200" dirty="0"/>
              <a:t>utility.</a:t>
            </a:r>
          </a:p>
          <a:p>
            <a:pPr marL="798513" indent="-457200">
              <a:buFont typeface="+mj-lt"/>
              <a:buAutoNum type="arabicParenR"/>
            </a:pPr>
            <a:r>
              <a:rPr lang="en-US" sz="2200" dirty="0" smtClean="0"/>
              <a:t>A </a:t>
            </a:r>
            <a:r>
              <a:rPr lang="en-US" sz="2200" dirty="0"/>
              <a:t>mapping from the above forms of knowledge to its actions.</a:t>
            </a:r>
          </a:p>
          <a:p>
            <a:pPr marL="798513" indent="-457200">
              <a:buFont typeface="+mj-lt"/>
              <a:buAutoNum type="arabicParenR"/>
            </a:pPr>
            <a:r>
              <a:rPr lang="en-US" sz="2200" dirty="0" smtClean="0"/>
              <a:t>An </a:t>
            </a:r>
            <a:r>
              <a:rPr lang="en-US" sz="2200" dirty="0"/>
              <a:t>active learning system that will improve the agents ability to </a:t>
            </a:r>
            <a:r>
              <a:rPr lang="en-US" sz="2200" dirty="0" smtClean="0"/>
              <a:t>perform well.</a:t>
            </a:r>
            <a:endParaRPr lang="en-US" sz="2200" dirty="0"/>
          </a:p>
        </p:txBody>
      </p:sp>
    </p:spTree>
    <p:extLst>
      <p:ext uri="{BB962C8B-B14F-4D97-AF65-F5344CB8AC3E}">
        <p14:creationId xmlns:p14="http://schemas.microsoft.com/office/powerpoint/2010/main" val="4078990480"/>
      </p:ext>
    </p:extLst>
  </p:cSld>
  <p:clrMapOvr>
    <a:masterClrMapping/>
  </p:clrMapOvr>
  <p:transition spd="slow"/>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4"/>
          <p:cNvSpPr>
            <a:spLocks noGrp="1" noChangeArrowheads="1"/>
          </p:cNvSpPr>
          <p:nvPr>
            <p:ph type="title"/>
          </p:nvPr>
        </p:nvSpPr>
        <p:spPr>
          <a:xfrm>
            <a:off x="762000" y="152400"/>
            <a:ext cx="7772400" cy="838200"/>
          </a:xfrm>
          <a:noFill/>
        </p:spPr>
        <p:txBody>
          <a:bodyPr anchor="b"/>
          <a:lstStyle/>
          <a:p>
            <a:pPr eaLnBrk="1" hangingPunct="1"/>
            <a:r>
              <a:rPr lang="en-US" altLang="he-IL" dirty="0" smtClean="0"/>
              <a:t>Summary: Intelligent Agents</a:t>
            </a:r>
          </a:p>
        </p:txBody>
      </p:sp>
      <p:sp>
        <p:nvSpPr>
          <p:cNvPr id="49157" name="Rectangle 5" descr="Rectangle: Click to edit Master text styles&#10;Second level&#10;Third level&#10;Fourth level&#10;Fifth level"/>
          <p:cNvSpPr>
            <a:spLocks noGrp="1" noChangeArrowheads="1"/>
          </p:cNvSpPr>
          <p:nvPr>
            <p:ph type="body" idx="1"/>
          </p:nvPr>
        </p:nvSpPr>
        <p:spPr>
          <a:xfrm>
            <a:off x="762000" y="1981200"/>
            <a:ext cx="7239000" cy="2743200"/>
          </a:xfrm>
          <a:noFill/>
        </p:spPr>
        <p:txBody>
          <a:bodyPr>
            <a:noAutofit/>
          </a:bodyPr>
          <a:lstStyle/>
          <a:p>
            <a:pPr marL="225425" indent="-225425" eaLnBrk="1" hangingPunct="1"/>
            <a:r>
              <a:rPr lang="en-US" altLang="he-IL" sz="2800" dirty="0" smtClean="0"/>
              <a:t>An </a:t>
            </a:r>
            <a:r>
              <a:rPr lang="en-US" altLang="he-IL" sz="2800" b="1" dirty="0" smtClean="0"/>
              <a:t>agent</a:t>
            </a:r>
            <a:r>
              <a:rPr lang="en-US" altLang="he-IL" sz="2800" dirty="0" smtClean="0"/>
              <a:t> perceives and acts in an environment, has an architecture, and is implemented by an agent program. </a:t>
            </a:r>
          </a:p>
          <a:p>
            <a:pPr marL="225425" indent="-225425"/>
            <a:r>
              <a:rPr lang="en-US" altLang="he-IL" sz="2800" dirty="0"/>
              <a:t>An </a:t>
            </a:r>
            <a:r>
              <a:rPr lang="en-US" altLang="he-IL" sz="2800" b="1" dirty="0"/>
              <a:t>ideal rational agent</a:t>
            </a:r>
            <a:r>
              <a:rPr lang="en-US" altLang="he-IL" sz="2800" dirty="0"/>
              <a:t> always chooses the action which maximizes its expected performance, given its percept sequence.</a:t>
            </a:r>
          </a:p>
          <a:p>
            <a:pPr marL="225425" indent="-225425" eaLnBrk="1" hangingPunct="1"/>
            <a:r>
              <a:rPr lang="en-US" altLang="he-IL" sz="2800" dirty="0" smtClean="0"/>
              <a:t>Task environment – </a:t>
            </a:r>
            <a:r>
              <a:rPr lang="en-US" altLang="he-IL" sz="2800" b="1" dirty="0" smtClean="0"/>
              <a:t>PAGE</a:t>
            </a:r>
            <a:r>
              <a:rPr lang="en-US" altLang="he-IL" sz="2800" dirty="0" smtClean="0"/>
              <a:t> (Percepts, Actions, Goals, Environment) and  </a:t>
            </a:r>
            <a:r>
              <a:rPr lang="en-US" altLang="he-IL" sz="2800" b="1" dirty="0" smtClean="0"/>
              <a:t>PEAS </a:t>
            </a:r>
            <a:r>
              <a:rPr lang="en-US" altLang="he-IL" sz="2800" dirty="0" smtClean="0"/>
              <a:t>(Performance, Environment, Actuators, Sensors)</a:t>
            </a:r>
          </a:p>
        </p:txBody>
      </p:sp>
    </p:spTree>
    <p:extLst>
      <p:ext uri="{BB962C8B-B14F-4D97-AF65-F5344CB8AC3E}">
        <p14:creationId xmlns:p14="http://schemas.microsoft.com/office/powerpoint/2010/main" val="45578489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915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915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915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7"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4"/>
          <p:cNvSpPr>
            <a:spLocks noGrp="1" noChangeArrowheads="1"/>
          </p:cNvSpPr>
          <p:nvPr>
            <p:ph type="title"/>
          </p:nvPr>
        </p:nvSpPr>
        <p:spPr>
          <a:xfrm>
            <a:off x="762000" y="152400"/>
            <a:ext cx="7772400" cy="1143000"/>
          </a:xfrm>
          <a:noFill/>
        </p:spPr>
        <p:txBody>
          <a:bodyPr anchor="b"/>
          <a:lstStyle/>
          <a:p>
            <a:pPr eaLnBrk="1" hangingPunct="1"/>
            <a:r>
              <a:rPr lang="en-US" altLang="he-IL" smtClean="0"/>
              <a:t>Summary: Intelligent Agents</a:t>
            </a:r>
          </a:p>
        </p:txBody>
      </p:sp>
      <p:sp>
        <p:nvSpPr>
          <p:cNvPr id="49157" name="Rectangle 5" descr="Rectangle: Click to edit Master text styles&#10;Second level&#10;Third level&#10;Fourth level&#10;Fifth level"/>
          <p:cNvSpPr>
            <a:spLocks noGrp="1" noChangeArrowheads="1"/>
          </p:cNvSpPr>
          <p:nvPr>
            <p:ph type="body" idx="1"/>
          </p:nvPr>
        </p:nvSpPr>
        <p:spPr>
          <a:xfrm>
            <a:off x="533400" y="1981200"/>
            <a:ext cx="8001000" cy="3200400"/>
          </a:xfrm>
          <a:noFill/>
        </p:spPr>
        <p:txBody>
          <a:bodyPr>
            <a:noAutofit/>
          </a:bodyPr>
          <a:lstStyle/>
          <a:p>
            <a:pPr marL="225425" indent="-225425" eaLnBrk="1" hangingPunct="1"/>
            <a:r>
              <a:rPr lang="en-US" altLang="he-IL" sz="2800" dirty="0" smtClean="0"/>
              <a:t>An </a:t>
            </a:r>
            <a:r>
              <a:rPr lang="en-US" altLang="he-IL" sz="2800" b="1" dirty="0" smtClean="0"/>
              <a:t>agent program</a:t>
            </a:r>
            <a:r>
              <a:rPr lang="en-US" altLang="he-IL" sz="2800" dirty="0" smtClean="0"/>
              <a:t> maps from percept history to action and updates internal state. </a:t>
            </a:r>
          </a:p>
          <a:p>
            <a:pPr marL="225425" indent="-225425"/>
            <a:r>
              <a:rPr lang="en-US" altLang="he-IL" sz="2800" dirty="0"/>
              <a:t>Agents can improve their performance through </a:t>
            </a:r>
            <a:r>
              <a:rPr lang="en-US" altLang="he-IL" sz="2800" b="1" dirty="0"/>
              <a:t>learning.</a:t>
            </a:r>
          </a:p>
          <a:p>
            <a:pPr marL="225425" indent="-225425"/>
            <a:r>
              <a:rPr lang="en-US" altLang="he-IL" sz="2800" dirty="0" smtClean="0"/>
              <a:t>The </a:t>
            </a:r>
            <a:r>
              <a:rPr lang="en-US" altLang="he-IL" sz="2800" dirty="0"/>
              <a:t>most challenging agent </a:t>
            </a:r>
            <a:r>
              <a:rPr lang="en-US" altLang="he-IL" sz="2800" dirty="0" smtClean="0"/>
              <a:t>environments </a:t>
            </a:r>
            <a:r>
              <a:rPr lang="en-US" altLang="he-IL" sz="2800" dirty="0"/>
              <a:t>are inaccessible, nondeterministic, dynamic, and continuous.</a:t>
            </a:r>
          </a:p>
          <a:p>
            <a:pPr marL="0" indent="0">
              <a:buNone/>
            </a:pPr>
            <a:r>
              <a:rPr lang="en-US" sz="2400" dirty="0"/>
              <a:t>	</a:t>
            </a:r>
            <a:endParaRPr lang="en-US" altLang="he-IL" sz="2400" b="1" dirty="0"/>
          </a:p>
        </p:txBody>
      </p:sp>
    </p:spTree>
    <p:extLst>
      <p:ext uri="{BB962C8B-B14F-4D97-AF65-F5344CB8AC3E}">
        <p14:creationId xmlns:p14="http://schemas.microsoft.com/office/powerpoint/2010/main" val="2465658479"/>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915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915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915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915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7" grpId="0" build="p" autoUpdateAnimBg="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1036</TotalTime>
  <Words>1771</Words>
  <Application>Microsoft Office PowerPoint</Application>
  <PresentationFormat>On-screen Show (4:3)</PresentationFormat>
  <Paragraphs>206</Paragraphs>
  <Slides>33</Slides>
  <Notes>9</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33</vt:i4>
      </vt:variant>
    </vt:vector>
  </HeadingPairs>
  <TitlesOfParts>
    <vt:vector size="43" baseType="lpstr">
      <vt:lpstr>ＭＳ Ｐゴシック</vt:lpstr>
      <vt:lpstr>Arial</vt:lpstr>
      <vt:lpstr>Baskerville Old Face</vt:lpstr>
      <vt:lpstr>Calibri</vt:lpstr>
      <vt:lpstr>Monotype Corsiva</vt:lpstr>
      <vt:lpstr>Roboto</vt:lpstr>
      <vt:lpstr>Times New Roman</vt:lpstr>
      <vt:lpstr>Wingdings</vt:lpstr>
      <vt:lpstr>Office Theme</vt:lpstr>
      <vt:lpstr>Custom Design</vt:lpstr>
      <vt:lpstr>Intelligent Agents</vt:lpstr>
      <vt:lpstr>Outline</vt:lpstr>
      <vt:lpstr>Agents</vt:lpstr>
      <vt:lpstr>PowerPoint Presentation</vt:lpstr>
      <vt:lpstr>Agents and environments</vt:lpstr>
      <vt:lpstr>Vacuum-cleaner world</vt:lpstr>
      <vt:lpstr>Vacuum-cleaner function</vt:lpstr>
      <vt:lpstr>The Vacuum-cleaner world</vt:lpstr>
      <vt:lpstr>Rational agents</vt:lpstr>
      <vt:lpstr>Ideal Rational agents</vt:lpstr>
      <vt:lpstr>Intelligent Agents - PAGE</vt:lpstr>
      <vt:lpstr>Intelligent Agents - PEAS</vt:lpstr>
      <vt:lpstr>PAGE Descriptors vs. PEAS Descriptors</vt:lpstr>
      <vt:lpstr>Examples of Intelligent Agents</vt:lpstr>
      <vt:lpstr>Part-picking robot </vt:lpstr>
      <vt:lpstr>Activity</vt:lpstr>
      <vt:lpstr>Answer for Activity</vt:lpstr>
      <vt:lpstr>Agent types</vt:lpstr>
      <vt:lpstr>Simple reflex agents</vt:lpstr>
      <vt:lpstr>Model-based reflex agents</vt:lpstr>
      <vt:lpstr>Goal-based agents</vt:lpstr>
      <vt:lpstr>Utility-based agents</vt:lpstr>
      <vt:lpstr>Learning agents</vt:lpstr>
      <vt:lpstr>Learning agents</vt:lpstr>
      <vt:lpstr>Agent Environments</vt:lpstr>
      <vt:lpstr>Accessible vs. Inaccessible</vt:lpstr>
      <vt:lpstr>Deterministic vs. Non-deterministic</vt:lpstr>
      <vt:lpstr>Discrete vs. Continuous</vt:lpstr>
      <vt:lpstr>Episodic vs. Non-episodic</vt:lpstr>
      <vt:lpstr>Static vs. Dynamic</vt:lpstr>
      <vt:lpstr>Components of an AI Agent</vt:lpstr>
      <vt:lpstr>Summary: Intelligent Agents</vt:lpstr>
      <vt:lpstr>Summary: Intelligent Agents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Search Algorithms</dc:title>
  <dc:creator>ASRAFUL SYIFAA' BINTI AHMAD</dc:creator>
  <cp:lastModifiedBy>RUHAIDA</cp:lastModifiedBy>
  <cp:revision>48</cp:revision>
  <dcterms:created xsi:type="dcterms:W3CDTF">2019-09-22T05:53:42Z</dcterms:created>
  <dcterms:modified xsi:type="dcterms:W3CDTF">2019-11-23T00:23:31Z</dcterms:modified>
</cp:coreProperties>
</file>