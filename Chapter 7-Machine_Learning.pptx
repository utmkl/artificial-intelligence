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34"/>
  </p:notesMasterIdLst>
  <p:sldIdLst>
    <p:sldId id="256" r:id="rId3"/>
    <p:sldId id="361" r:id="rId4"/>
    <p:sldId id="362" r:id="rId5"/>
    <p:sldId id="363" r:id="rId6"/>
    <p:sldId id="364" r:id="rId7"/>
    <p:sldId id="365" r:id="rId8"/>
    <p:sldId id="372" r:id="rId9"/>
    <p:sldId id="366" r:id="rId10"/>
    <p:sldId id="367" r:id="rId11"/>
    <p:sldId id="369" r:id="rId12"/>
    <p:sldId id="373" r:id="rId13"/>
    <p:sldId id="368" r:id="rId14"/>
    <p:sldId id="374" r:id="rId15"/>
    <p:sldId id="375" r:id="rId16"/>
    <p:sldId id="370" r:id="rId17"/>
    <p:sldId id="371" r:id="rId18"/>
    <p:sldId id="377" r:id="rId19"/>
    <p:sldId id="376" r:id="rId20"/>
    <p:sldId id="360" r:id="rId21"/>
    <p:sldId id="258" r:id="rId22"/>
    <p:sldId id="259" r:id="rId23"/>
    <p:sldId id="260" r:id="rId24"/>
    <p:sldId id="261" r:id="rId25"/>
    <p:sldId id="262" r:id="rId26"/>
    <p:sldId id="268" r:id="rId27"/>
    <p:sldId id="263" r:id="rId28"/>
    <p:sldId id="264" r:id="rId29"/>
    <p:sldId id="265" r:id="rId30"/>
    <p:sldId id="266" r:id="rId31"/>
    <p:sldId id="269" r:id="rId32"/>
    <p:sldId id="267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70C0"/>
    <a:srgbClr val="008000"/>
    <a:srgbClr val="0099FF"/>
    <a:srgbClr val="984807"/>
    <a:srgbClr val="F79646"/>
    <a:srgbClr val="9D3B38"/>
    <a:srgbClr val="3898B2"/>
    <a:srgbClr val="358BA2"/>
    <a:srgbClr val="FFE1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43" autoAdjust="0"/>
    <p:restoredTop sz="88413" autoAdjust="0"/>
  </p:normalViewPr>
  <p:slideViewPr>
    <p:cSldViewPr>
      <p:cViewPr varScale="1">
        <p:scale>
          <a:sx n="66" d="100"/>
          <a:sy n="66" d="100"/>
        </p:scale>
        <p:origin x="11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D72AD-98F2-48AA-9584-1CD8673FAED1}" type="datetimeFigureOut">
              <a:rPr lang="en-US" smtClean="0"/>
              <a:pPr/>
              <a:t>10/25/2019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8F6A6-5BDF-41D7-9B84-3DCB4D0C04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0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heme" Target="../theme/theme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747" y="6487366"/>
            <a:ext cx="91313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3500" y="106363"/>
            <a:ext cx="11953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2376488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xmlns="" id="{5A3AE759-D010-43EB-8C5F-B95307ECC8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160" y="6021985"/>
            <a:ext cx="139223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 userDrawn="1"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Terima Kasih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atas keprihatinan anda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skerville Old Face" pitchFamily="18" charset="0"/>
                <a:ea typeface="+mn-ea"/>
                <a:cs typeface="+mn-cs"/>
              </a:rPr>
              <a:t>“I Care, You Care, We Care”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askerville Old Face" pitchFamily="18" charset="0"/>
              <a:ea typeface="+mn-ea"/>
              <a:cs typeface="+mn-cs"/>
            </a:endParaRPr>
          </a:p>
        </p:txBody>
      </p:sp>
      <p:pic>
        <p:nvPicPr>
          <p:cNvPr id="13" name="Picture 1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47" y="6487366"/>
            <a:ext cx="91313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00451"/>
            <a:ext cx="15476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2019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16416" y="6600451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C038A795-CA2C-4B96-A1E0-C7053193AE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Rectangle 19"/>
          <p:cNvSpPr>
            <a:spLocks noChangeArrowheads="1"/>
          </p:cNvSpPr>
          <p:nvPr userDrawn="1"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112" charset="-128"/>
            </a:endParaRPr>
          </a:p>
        </p:txBody>
      </p:sp>
      <p:pic>
        <p:nvPicPr>
          <p:cNvPr id="17" name="Picture 20" descr="header_UTM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500" y="106363"/>
            <a:ext cx="11953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2" descr="header_url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009650"/>
            <a:ext cx="2376488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7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73008" y="53788"/>
            <a:ext cx="580837" cy="438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8" descr="PNG_newlogo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54633" y="26894"/>
            <a:ext cx="504056" cy="477366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</p:pic>
      <p:sp>
        <p:nvSpPr>
          <p:cNvPr id="2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1520" y="6647328"/>
            <a:ext cx="4704928" cy="365125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pPr>
              <a:defRPr/>
            </a:pPr>
            <a:r>
              <a:rPr lang="en-US"/>
              <a:t>SCSJ 3353: Artificial Intelligence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4nderlu.st/assets/javascript/ViewerJS/#http://w4nderlu.st/content/3-publications/cota-improving-the-speed-and-accuracy-of-customer-support-through-ranking-and-deep-networks/cota-o-reilly-ai-conference-2018.pdf" TargetMode="External"/><Relationship Id="rId2" Type="http://schemas.openxmlformats.org/officeDocument/2006/relationships/hyperlink" Target="https://towardsdatascience.com/real-world-examples-of-applied-machine-learning-from-ai-conference-4d4678700c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s/story/spotifys-discover-weekly-how-machine-learning-finds-your-new-music-19a41ab76efe" TargetMode="External"/><Relationship Id="rId5" Type="http://schemas.openxmlformats.org/officeDocument/2006/relationships/hyperlink" Target="https://www.zocdoc.com/about/blog/tech/making-sense-of-insurance-cards-using-deep-learning/" TargetMode="External"/><Relationship Id="rId4" Type="http://schemas.openxmlformats.org/officeDocument/2006/relationships/hyperlink" Target="https://medium.com/airbnb-engineering/categorizing-listing-photos-at-airbnb-f9483f3ab7e3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220200" cy="1399324"/>
          </a:xfrm>
        </p:spPr>
        <p:txBody>
          <a:bodyPr>
            <a:normAutofit/>
          </a:bodyPr>
          <a:lstStyle/>
          <a:p>
            <a:r>
              <a:rPr lang="en-US" altLang="en-US" sz="4000" b="1" dirty="0"/>
              <a:t>Introduction to</a:t>
            </a:r>
            <a:br>
              <a:rPr lang="en-US" altLang="en-US" sz="4000" b="1" dirty="0"/>
            </a:br>
            <a:r>
              <a:rPr lang="en-US" altLang="en-US" sz="4000" b="1" dirty="0"/>
              <a:t>Computational Learning</a:t>
            </a:r>
            <a:endParaRPr lang="en-US" sz="4000" b="1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  <a:solidFill>
            <a:srgbClr val="FFE1AD"/>
          </a:solidFill>
        </p:spPr>
        <p:txBody>
          <a:bodyPr>
            <a:normAutofit lnSpcReduction="10000"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Artificial Intelligence</a:t>
            </a:r>
          </a:p>
          <a:p>
            <a:endParaRPr lang="en-US" sz="1100" b="1" dirty="0">
              <a:solidFill>
                <a:srgbClr val="0070C0"/>
              </a:solidFill>
            </a:endParaRPr>
          </a:p>
          <a:p>
            <a:pPr>
              <a:spcBef>
                <a:spcPts val="0"/>
              </a:spcBef>
            </a:pPr>
            <a:r>
              <a:rPr lang="en-US" sz="2800" i="1" spc="-150" dirty="0"/>
              <a:t>School of Computing</a:t>
            </a:r>
          </a:p>
          <a:p>
            <a:pPr>
              <a:spcBef>
                <a:spcPts val="0"/>
              </a:spcBef>
            </a:pPr>
            <a:r>
              <a:rPr lang="en-US" sz="2800" i="1" spc="-150" dirty="0"/>
              <a:t>Universiti Teknologi Malaysia</a:t>
            </a:r>
          </a:p>
        </p:txBody>
      </p:sp>
      <p:pic>
        <p:nvPicPr>
          <p:cNvPr id="5" name="Picture 2" descr="Image result for artificial intelligence icon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429" b="69497" l="10000" r="90000">
                        <a14:foregroundMark x1="65976" y1="28727" x2="65976" y2="28727"/>
                        <a14:foregroundMark x1="58293" y1="30997" x2="58293" y2="30997"/>
                        <a14:foregroundMark x1="60732" y1="35933" x2="60732" y2="35933"/>
                        <a14:foregroundMark x1="58293" y1="41165" x2="58293" y2="41165"/>
                        <a14:foregroundMark x1="65122" y1="41757" x2="65122" y2="41757"/>
                        <a14:foregroundMark x1="69634" y1="36130" x2="69634" y2="36130"/>
                        <a14:foregroundMark x1="61220" y1="48963" x2="61220" y2="48963"/>
                        <a14:foregroundMark x1="50854" y1="66732" x2="50854" y2="66732"/>
                        <a14:foregroundMark x1="51098" y1="5429" x2="51098" y2="5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92" r="15445" b="29337"/>
          <a:stretch/>
        </p:blipFill>
        <p:spPr bwMode="auto">
          <a:xfrm>
            <a:off x="1" y="3429000"/>
            <a:ext cx="2071412" cy="256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868DD-6BF8-4384-95BD-83AC40340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5FF56FE-630A-4862-8434-5BBDBA782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do we teach a machine to learn?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7865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BE45AC-03E3-4984-9A7F-959F8472E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Process</a:t>
            </a:r>
            <a:endParaRPr lang="en-M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8C4C390F-A69F-4A03-8308-574F04F21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837" y="1752600"/>
            <a:ext cx="6630325" cy="41147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B841798-0CA9-4992-B076-2CA82869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B3571A1-5223-4CD1-964E-54BACD19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4912656-F174-4088-BB87-CB60A40F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7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4E7E3A-E063-46EF-BB40-5CE64733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machine learns?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0C864D-9252-47FD-A6E8-7D3FE45B9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Machine learning utilizes techniques of understanding </a:t>
            </a:r>
            <a:r>
              <a:rPr lang="en-US" b="1" dirty="0"/>
              <a:t>patterns</a:t>
            </a:r>
            <a:r>
              <a:rPr lang="en-US" dirty="0"/>
              <a:t> from input </a:t>
            </a:r>
            <a:r>
              <a:rPr lang="en-US" b="1" dirty="0"/>
              <a:t>data</a:t>
            </a:r>
          </a:p>
          <a:p>
            <a:r>
              <a:rPr lang="en-US" dirty="0"/>
              <a:t>Data is used for </a:t>
            </a:r>
            <a:r>
              <a:rPr lang="en-US" b="1" dirty="0"/>
              <a:t>training </a:t>
            </a:r>
            <a:r>
              <a:rPr lang="en-US" dirty="0"/>
              <a:t>by learning algorithm to </a:t>
            </a:r>
            <a:r>
              <a:rPr lang="en-US" b="1" dirty="0"/>
              <a:t>learn</a:t>
            </a:r>
            <a:r>
              <a:rPr lang="en-US" dirty="0"/>
              <a:t> and develop a specific computational </a:t>
            </a:r>
            <a:r>
              <a:rPr lang="en-US" b="1" dirty="0"/>
              <a:t>model</a:t>
            </a:r>
          </a:p>
          <a:p>
            <a:r>
              <a:rPr lang="en-US" b="1" dirty="0"/>
              <a:t>Pre-processing </a:t>
            </a:r>
            <a:r>
              <a:rPr lang="en-US" dirty="0"/>
              <a:t>involves extracting important features of data</a:t>
            </a:r>
          </a:p>
          <a:p>
            <a:r>
              <a:rPr lang="en-US" b="1" dirty="0"/>
              <a:t>Model </a:t>
            </a:r>
            <a:r>
              <a:rPr lang="en-US" dirty="0"/>
              <a:t>refers to predefined prototype problem solver, produced based on patterns of input data</a:t>
            </a:r>
            <a:endParaRPr lang="en-US" b="1" dirty="0"/>
          </a:p>
          <a:p>
            <a:endParaRPr lang="en-MY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B2E7572-5BE8-482A-8A30-5055A99B6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7608691-3F54-43D4-9AF1-1A0AE5884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E777E8-7FF3-45B8-90D6-6D82D7E7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6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5F615C-FF1A-4195-AA10-D73F24D3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good is the learning model?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06F155-2B45-45E8-9FE2-922EC0EFF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aim of a model is to be able to produce good results</a:t>
            </a:r>
          </a:p>
          <a:p>
            <a:r>
              <a:rPr lang="en-US" dirty="0"/>
              <a:t>Employ another set of data called </a:t>
            </a:r>
            <a:r>
              <a:rPr lang="en-US" b="1" dirty="0"/>
              <a:t>testing data </a:t>
            </a:r>
            <a:r>
              <a:rPr lang="en-US" dirty="0"/>
              <a:t>to </a:t>
            </a:r>
            <a:r>
              <a:rPr lang="en-US" b="1" dirty="0"/>
              <a:t>evaluate</a:t>
            </a:r>
            <a:r>
              <a:rPr lang="en-US" dirty="0"/>
              <a:t> the learning </a:t>
            </a:r>
            <a:r>
              <a:rPr lang="en-US" b="1" dirty="0"/>
              <a:t>model</a:t>
            </a:r>
          </a:p>
          <a:p>
            <a:pPr lvl="1"/>
            <a:r>
              <a:rPr lang="en-US" dirty="0"/>
              <a:t>Can be completely new</a:t>
            </a:r>
          </a:p>
          <a:p>
            <a:pPr lvl="1"/>
            <a:r>
              <a:rPr lang="en-US" dirty="0"/>
              <a:t>Blinded dataset from the same resource</a:t>
            </a:r>
          </a:p>
          <a:p>
            <a:pPr lvl="1"/>
            <a:r>
              <a:rPr lang="en-US" dirty="0"/>
              <a:t>Smaller part of training data previously separated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AD9004-6ECA-4B29-9BC3-E83AD78A1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42BEDCE-3D17-452F-8C84-46A64098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9B3BEF-CDB5-41FB-8A6C-C7A53139D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8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AA66A3-768E-425C-906A-342B051D3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types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E8D569-2840-4FFC-B3CF-539BCB357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  <a:p>
            <a:pPr lvl="1"/>
            <a:r>
              <a:rPr lang="en-US" dirty="0"/>
              <a:t>The correct classes of the training data are known</a:t>
            </a:r>
          </a:p>
          <a:p>
            <a:r>
              <a:rPr lang="en-US" dirty="0"/>
              <a:t>Unsupervised learning</a:t>
            </a:r>
          </a:p>
          <a:p>
            <a:pPr lvl="1"/>
            <a:r>
              <a:rPr lang="en-US" dirty="0"/>
              <a:t>The correct classes of the training data are NOT known</a:t>
            </a:r>
          </a:p>
          <a:p>
            <a:r>
              <a:rPr lang="en-US" dirty="0"/>
              <a:t>Reinforcement learning</a:t>
            </a:r>
          </a:p>
          <a:p>
            <a:pPr lvl="1"/>
            <a:r>
              <a:rPr lang="en-US" dirty="0"/>
              <a:t>Machine learn its behavior based on feedback from environment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480B8E-85A3-4100-A12D-6A975D89C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AAD989F-3C6C-41A2-A96D-345DB1C9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BF7C97-7566-4DF5-B9E8-03CC54F59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5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D1B7AF-A066-4614-8A28-02C30A09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types …</a:t>
            </a:r>
            <a:endParaRPr lang="en-M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6DDB5291-8510-4427-AC9A-A7B85740D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7924800" cy="41148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E520CCE-7EEC-4BD6-B7B4-B984D5D87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6319212-A8A0-460A-A730-94B17958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C84E127-27DE-4087-8EBE-D340A0BA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8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1B1CCD-CAC5-4452-8AEB-F22A82AE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F3971A-A1A3-41D3-8010-673BAAAC1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07FDCDF-CECE-47E1-9495-4FD329F8C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04B3F0A-4CDA-4E13-B5B2-64C443082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497C0A7-51AE-40AC-9973-A72055727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7349788-90ED-4CAE-831D-DAE5FCDEC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638"/>
            <a:ext cx="7772400" cy="505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08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8A38E5-124C-4346-8A59-6473AC195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A6FB181-624C-4909-8A97-C5BB5D9E8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1648940-FB89-47BC-ADC3-B80D1A142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7E0BE2-EB91-47E1-B5D2-DEE59E74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0FFC3B-84CA-4A3D-BFCC-3AB7D490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AF0A482-25D1-41D7-8967-7BA3C4FC6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39678"/>
            <a:ext cx="8077200" cy="505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4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D4F7C2-7CF2-4AD5-AD8C-F8626D24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vs unsupervised</a:t>
            </a:r>
            <a:endParaRPr lang="en-M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EFBE1970-7EFA-482F-9BBE-59E4F66E9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76400"/>
            <a:ext cx="7206083" cy="41909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210BB5D-4F0B-4C3E-9FEA-806991593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E5D4308-6241-4B52-8B1F-FDAEB85C6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AED8A9-A2D2-4659-BA80-BC7DFA46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4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0E1AD3-5495-46F4-898F-27EFAD8EC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FFC663-863E-4990-A81D-514D253DD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68421"/>
            <a:ext cx="8229600" cy="2743200"/>
          </a:xfrm>
        </p:spPr>
        <p:txBody>
          <a:bodyPr/>
          <a:lstStyle/>
          <a:p>
            <a:r>
              <a:rPr lang="en-US" dirty="0"/>
              <a:t>An agent interacts with the environment trying to take smart actions to maximize cumulative rewards</a:t>
            </a:r>
          </a:p>
          <a:p>
            <a:r>
              <a:rPr lang="en-US" dirty="0"/>
              <a:t>The environment is formulated using Markov decision process to search for solutions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25F6DF0-9780-4F65-BA19-62642EF3A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31FAAD-F054-4DCA-9918-39FD7FB7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6BF7EE-D5CA-47FA-AEC7-975A8312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F48F1FC-E2EF-455C-BB84-200EEE2AE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931" y="1496418"/>
            <a:ext cx="4772691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9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81AAF7-2CAE-4A01-A933-EB3F09ACF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Decision Process (MDP)</a:t>
            </a:r>
            <a:endParaRPr lang="en-M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95BFD337-8B36-470F-B48C-DD4D74DCC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63" y="2510442"/>
            <a:ext cx="7154273" cy="270547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C19F747-B150-43C2-A8B5-3F8FEB366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9DF4E0-F946-4BA0-AEFB-6CF3C06B8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BCDD87-D52A-45AC-A821-F5464A4D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BE932E51-5A99-4E62-813F-462F3626AA75}"/>
              </a:ext>
            </a:extLst>
          </p:cNvPr>
          <p:cNvSpPr/>
          <p:nvPr/>
        </p:nvSpPr>
        <p:spPr>
          <a:xfrm>
            <a:off x="4114800" y="5215920"/>
            <a:ext cx="2133600" cy="8292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Physical world in which the agent operates</a:t>
            </a:r>
            <a:endParaRPr lang="en-MY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7936E0DD-F0FE-4F44-90DE-B12271E9578A}"/>
              </a:ext>
            </a:extLst>
          </p:cNvPr>
          <p:cNvSpPr/>
          <p:nvPr/>
        </p:nvSpPr>
        <p:spPr>
          <a:xfrm>
            <a:off x="78583" y="4180271"/>
            <a:ext cx="1517606" cy="8292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situation of the agent</a:t>
            </a:r>
            <a:endParaRPr lang="en-MY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4A1A6ACE-28B0-4052-AD5D-98BE08C79282}"/>
              </a:ext>
            </a:extLst>
          </p:cNvPr>
          <p:cNvSpPr/>
          <p:nvPr/>
        </p:nvSpPr>
        <p:spPr>
          <a:xfrm>
            <a:off x="1402977" y="1909344"/>
            <a:ext cx="2133600" cy="8292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Feedback from the environment</a:t>
            </a:r>
            <a:endParaRPr lang="en-MY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1C30E6E1-2FB8-4CD5-9AA8-00170C50FAA6}"/>
              </a:ext>
            </a:extLst>
          </p:cNvPr>
          <p:cNvSpPr/>
          <p:nvPr/>
        </p:nvSpPr>
        <p:spPr>
          <a:xfrm>
            <a:off x="6565232" y="2038766"/>
            <a:ext cx="2133600" cy="8292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Action that agent performs in environment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428200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FCAE3C-AF69-4373-909F-490D6E5AF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Decision Process (MDP)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2EA126-5276-47DB-AD6A-261BD94B6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agent is acting in an </a:t>
            </a:r>
            <a:r>
              <a:rPr lang="en-US" b="1" dirty="0"/>
              <a:t>environment</a:t>
            </a:r>
          </a:p>
          <a:p>
            <a:r>
              <a:rPr lang="en-US" dirty="0"/>
              <a:t>How the environment reacts to certain actions is defined by a </a:t>
            </a:r>
            <a:r>
              <a:rPr lang="en-US" b="1" dirty="0"/>
              <a:t>model</a:t>
            </a:r>
            <a:r>
              <a:rPr lang="en-US" dirty="0"/>
              <a:t> which we may or may not know</a:t>
            </a:r>
          </a:p>
          <a:p>
            <a:r>
              <a:rPr lang="en-US" dirty="0"/>
              <a:t>The agent can stay in one of the many </a:t>
            </a:r>
            <a:r>
              <a:rPr lang="en-US" b="1" dirty="0"/>
              <a:t>states</a:t>
            </a:r>
            <a:r>
              <a:rPr lang="en-US" dirty="0"/>
              <a:t> S of the environment and choose to take one of the many </a:t>
            </a:r>
            <a:r>
              <a:rPr lang="en-US" b="1" dirty="0"/>
              <a:t>actions</a:t>
            </a:r>
            <a:r>
              <a:rPr lang="en-US" dirty="0"/>
              <a:t> A so that it can switch from one state to another</a:t>
            </a:r>
          </a:p>
          <a:p>
            <a:r>
              <a:rPr lang="en-US" dirty="0"/>
              <a:t>Which state the agent will arrive is determined by transition </a:t>
            </a:r>
            <a:r>
              <a:rPr lang="en-US" b="1" dirty="0"/>
              <a:t>probabilities</a:t>
            </a:r>
            <a:r>
              <a:rPr lang="en-US" dirty="0"/>
              <a:t> P between states </a:t>
            </a:r>
          </a:p>
          <a:p>
            <a:r>
              <a:rPr lang="en-US" dirty="0"/>
              <a:t>Once an action is taken, a </a:t>
            </a:r>
            <a:r>
              <a:rPr lang="en-US" b="1" dirty="0"/>
              <a:t>reward</a:t>
            </a:r>
            <a:r>
              <a:rPr lang="en-US" dirty="0"/>
              <a:t> R is delivered by the environment as feedback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5157480-51AB-4C89-91A0-A99116A63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7719E2D-13F6-4F9F-8CA7-A765338E2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84F4F85-8F16-4C67-A3B9-3E48CA4B8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8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A035A1-5CB7-4E5B-8980-3453AD88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in real world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7B169D-5181-458D-8E36-92D66CD71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/>
          <a:lstStyle/>
          <a:p>
            <a:r>
              <a:rPr lang="en-US" dirty="0"/>
              <a:t>Games</a:t>
            </a:r>
          </a:p>
          <a:p>
            <a:pPr lvl="1"/>
            <a:r>
              <a:rPr lang="en-US" dirty="0"/>
              <a:t>AlphaGo, AlphaGo Zero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Robotic </a:t>
            </a:r>
          </a:p>
          <a:p>
            <a:pPr lvl="1"/>
            <a:r>
              <a:rPr lang="en-US" dirty="0"/>
              <a:t>(remember Spot from </a:t>
            </a:r>
            <a:r>
              <a:rPr lang="en-US" dirty="0" err="1"/>
              <a:t>BostonDynamics</a:t>
            </a:r>
            <a:r>
              <a:rPr lang="en-US" dirty="0"/>
              <a:t>?)</a:t>
            </a:r>
          </a:p>
          <a:p>
            <a:r>
              <a:rPr lang="en-US" dirty="0"/>
              <a:t>Traffic light control</a:t>
            </a:r>
          </a:p>
          <a:p>
            <a:r>
              <a:rPr lang="en-US" dirty="0"/>
              <a:t>Web system configuration</a:t>
            </a:r>
          </a:p>
          <a:p>
            <a:r>
              <a:rPr lang="en-US" dirty="0"/>
              <a:t>And many more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E83E6F-1F74-4FC8-B37B-9A7D62938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C720A40-F688-4475-A03D-2F235086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9D3535C-0172-49E9-9DDD-AAEC3021F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7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B1176E-471D-4416-A38F-CD369E73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techniques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883731-916B-45DE-B9AB-15469DFF1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5EC9AD-20F4-4522-BC67-4EE37E8D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0C78A1-4F78-44D3-B96B-05499149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0387B3B9-7077-4DF5-8A2D-4294A36F1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  <a:p>
            <a:pPr lvl="1"/>
            <a:r>
              <a:rPr lang="en-US" dirty="0"/>
              <a:t>Predict class from observation</a:t>
            </a:r>
          </a:p>
          <a:p>
            <a:r>
              <a:rPr lang="en-US" dirty="0"/>
              <a:t>Clustering</a:t>
            </a:r>
          </a:p>
          <a:p>
            <a:pPr lvl="1"/>
            <a:r>
              <a:rPr lang="en-US" dirty="0"/>
              <a:t>Group observations into ‘’meaningful” groups</a:t>
            </a:r>
          </a:p>
          <a:p>
            <a:r>
              <a:rPr lang="en-US" dirty="0"/>
              <a:t>Regression</a:t>
            </a:r>
          </a:p>
          <a:p>
            <a:pPr lvl="1"/>
            <a:r>
              <a:rPr lang="en-US" dirty="0"/>
              <a:t>Predict value from observations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535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B66880-4BDA-48C1-B73F-05FED420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and clustering</a:t>
            </a:r>
            <a:endParaRPr lang="en-M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8AA539BF-F94C-4C51-A960-023A117F7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62919"/>
            <a:ext cx="8229600" cy="420052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F1D3F63-AD0A-45B7-B2FB-A9FDCA22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7CAF6A0-E15A-4F34-8CCE-3176AF9C4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889483C-B487-4E61-A5A9-E1FA7205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3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471459-2E97-428A-B707-49EEED660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real world use ML?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F73EA5-5858-4C1A-AAA4-1ADA853B2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MY" dirty="0">
                <a:hlinkClick r:id="rId2"/>
              </a:rPr>
              <a:t>https://towardsdatascience.com/real-world-examples-of-applied-machine-learning-from-ai-conference-4d4678700c6</a:t>
            </a:r>
            <a:endParaRPr lang="en-MY" dirty="0"/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r>
              <a:rPr lang="en-MY" b="1" dirty="0"/>
              <a:t>Real world examples</a:t>
            </a:r>
          </a:p>
          <a:p>
            <a:r>
              <a:rPr lang="en-MY" dirty="0"/>
              <a:t>Uber COTA (Customer Obsession Ticket Assistant)</a:t>
            </a:r>
          </a:p>
          <a:p>
            <a:pPr marL="0" indent="0">
              <a:buNone/>
            </a:pPr>
            <a:r>
              <a:rPr lang="en-MY" dirty="0">
                <a:hlinkClick r:id="rId3"/>
              </a:rPr>
              <a:t>http://w4nderlu.st/assets/javascript/ViewerJS/#http://w4nderlu.st/content/3-publications/cota-improving-the-speed-and-accuracy-of-customer-support-through-ranking-and-deep-networks/cota-o-reilly-ai-conference-2018.pdf</a:t>
            </a:r>
            <a:endParaRPr lang="en-MY" dirty="0"/>
          </a:p>
          <a:p>
            <a:r>
              <a:rPr lang="en-MY" dirty="0" err="1"/>
              <a:t>AirBNB</a:t>
            </a:r>
            <a:r>
              <a:rPr lang="en-MY" dirty="0"/>
              <a:t> ; categorizing listing photos</a:t>
            </a:r>
          </a:p>
          <a:p>
            <a:pPr marL="0" indent="0">
              <a:buNone/>
            </a:pPr>
            <a:r>
              <a:rPr lang="en-MY" dirty="0">
                <a:hlinkClick r:id="rId4"/>
              </a:rPr>
              <a:t>https://medium.com/airbnb-engineering/categorizing-listing-photos-at-airbnb-f9483f3ab7e3</a:t>
            </a:r>
            <a:endParaRPr lang="en-MY" dirty="0"/>
          </a:p>
          <a:p>
            <a:r>
              <a:rPr lang="en-MY" dirty="0" err="1"/>
              <a:t>ZocDoc</a:t>
            </a:r>
            <a:r>
              <a:rPr lang="en-MY" dirty="0"/>
              <a:t> ; finding in network physicians from insurance cards</a:t>
            </a:r>
          </a:p>
          <a:p>
            <a:pPr marL="0" indent="0">
              <a:buNone/>
            </a:pPr>
            <a:r>
              <a:rPr lang="en-MY" dirty="0">
                <a:hlinkClick r:id="rId5"/>
              </a:rPr>
              <a:t>https://www.zocdoc.com/about/blog/tech/making-sense-of-insurance-cards-using-deep-learning/</a:t>
            </a:r>
            <a:endParaRPr lang="en-MY" dirty="0"/>
          </a:p>
          <a:p>
            <a:r>
              <a:rPr lang="en-MY" dirty="0"/>
              <a:t>Spotify ; How does it know your kind of music?</a:t>
            </a:r>
          </a:p>
          <a:p>
            <a:pPr marL="0" indent="0">
              <a:buNone/>
            </a:pPr>
            <a:r>
              <a:rPr lang="en-MY" dirty="0">
                <a:hlinkClick r:id="rId6"/>
              </a:rPr>
              <a:t>https://medium.com/s/story/spotifys-discover-weekly-how-machine-learning-finds-your-new-music-19a41ab76efe</a:t>
            </a:r>
            <a:endParaRPr lang="en-MY" dirty="0"/>
          </a:p>
          <a:p>
            <a:pPr marL="0" indent="0">
              <a:buNone/>
            </a:pPr>
            <a:endParaRPr lang="en-MY" dirty="0"/>
          </a:p>
          <a:p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4AC1B55-6326-4B5A-9C18-2A514B4C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BC6C57D-7C0B-4FE4-932A-8617A8DF4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SCSJ 3353: Artificial Intelligence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E72AB1-FEFF-4D5D-AD30-3429EAFF6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6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8637AE-B4C2-470B-8239-CE19864562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Computational Intelligence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D1B6324-16C1-43FC-9CAC-249584BDD4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methods machines use to learn?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04300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xmlns="" id="{7AFE24AA-DFB2-4F83-A4D2-7EB267477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xmlns="" id="{4A019FB6-5458-4631-9C1D-BB364BBED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What is AI?</a:t>
            </a:r>
          </a:p>
          <a:p>
            <a:r>
              <a:rPr lang="en-US" altLang="en-US"/>
              <a:t>Now, come Computational Intelligence (CI)</a:t>
            </a:r>
          </a:p>
          <a:p>
            <a:r>
              <a:rPr lang="en-US" altLang="en-US"/>
              <a:t>Scope of CI</a:t>
            </a:r>
          </a:p>
          <a:p>
            <a:r>
              <a:rPr lang="en-US" altLang="en-US"/>
              <a:t>Importance of CI</a:t>
            </a:r>
          </a:p>
          <a:p>
            <a:r>
              <a:rPr lang="en-US" altLang="en-US"/>
              <a:t>CI Techniques</a:t>
            </a:r>
          </a:p>
          <a:p>
            <a:pPr lvl="1"/>
            <a:r>
              <a:rPr lang="en-US" altLang="en-US"/>
              <a:t>Artificial Neural Network</a:t>
            </a:r>
          </a:p>
          <a:p>
            <a:pPr lvl="1"/>
            <a:r>
              <a:rPr lang="en-US" altLang="en-US"/>
              <a:t>Genetic Algorithm</a:t>
            </a:r>
          </a:p>
          <a:p>
            <a:pPr lvl="1"/>
            <a:r>
              <a:rPr lang="en-US" altLang="en-US"/>
              <a:t>Fuzzy Logic</a:t>
            </a:r>
          </a:p>
        </p:txBody>
      </p:sp>
    </p:spTree>
    <p:extLst>
      <p:ext uri="{BB962C8B-B14F-4D97-AF65-F5344CB8AC3E}">
        <p14:creationId xmlns:p14="http://schemas.microsoft.com/office/powerpoint/2010/main" val="368385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xmlns="" id="{B94A67A6-727C-4B2B-93E5-3440A46E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AI?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xmlns="" id="{C3CF11D6-3EDF-4D80-9CF8-FE4103CF0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Ability to interact with the real world</a:t>
            </a:r>
          </a:p>
          <a:p>
            <a:r>
              <a:rPr lang="en-US" altLang="en-US"/>
              <a:t>Reasoning and Planning</a:t>
            </a:r>
          </a:p>
          <a:p>
            <a:r>
              <a:rPr lang="en-US" altLang="en-US"/>
              <a:t>Learning and Adaptation</a:t>
            </a:r>
          </a:p>
          <a:p>
            <a:endParaRPr lang="en-US" altLang="en-US"/>
          </a:p>
        </p:txBody>
      </p:sp>
      <p:pic>
        <p:nvPicPr>
          <p:cNvPr id="4100" name="Picture 2">
            <a:extLst>
              <a:ext uri="{FF2B5EF4-FFF2-40B4-BE49-F238E27FC236}">
                <a16:creationId xmlns:a16="http://schemas.microsoft.com/office/drawing/2014/main" xmlns="" id="{583DD0DB-58C8-438D-86DD-12C95EB0E61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581400"/>
            <a:ext cx="2971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646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9FB536-D364-4AF7-BE52-5DAA0540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Now, come Computational Intelligence (CI)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AAEE03-1E36-4D05-9807-6C9DB7FAA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A methodology involving computing that exhibits an ability to learn and/or to deal with new situations, such that the system is perceived to possess one or more attributes of reason, such as generalization, discovery, association and abstraction (</a:t>
            </a:r>
            <a:r>
              <a:rPr lang="en-US" dirty="0" err="1"/>
              <a:t>Russel</a:t>
            </a:r>
            <a:r>
              <a:rPr lang="en-US" dirty="0"/>
              <a:t> et al, 1998).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CI is the field of computing that draws from the successes of natural systems to develop new ways of solving computational problems in the real world.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71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xmlns="" id="{CF4D6DEF-C1C3-4AA4-A440-12B23048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Scope of CI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xmlns="" id="{691173DF-8CC3-4C5A-A33D-D0FD55733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practical adaptation concepts, paradigms, algorithms and implementations that enable or facilitate appropriate actions (intelligent behavior) in complex and changing environments.</a:t>
            </a:r>
          </a:p>
          <a:p>
            <a:endParaRPr lang="en-US" altLang="en-US"/>
          </a:p>
        </p:txBody>
      </p:sp>
      <p:pic>
        <p:nvPicPr>
          <p:cNvPr id="6148" name="Picture 2">
            <a:extLst>
              <a:ext uri="{FF2B5EF4-FFF2-40B4-BE49-F238E27FC236}">
                <a16:creationId xmlns:a16="http://schemas.microsoft.com/office/drawing/2014/main" xmlns="" id="{33E768A8-A05F-4EA5-87A9-58D00477B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038600"/>
            <a:ext cx="34290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3">
            <a:extLst>
              <a:ext uri="{FF2B5EF4-FFF2-40B4-BE49-F238E27FC236}">
                <a16:creationId xmlns:a16="http://schemas.microsoft.com/office/drawing/2014/main" xmlns="" id="{E5E75EAE-4980-4D7E-966C-2C4828DC6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038600"/>
            <a:ext cx="337185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442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xmlns="" id="{B8C4AD99-4537-466A-9038-5E1D27146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Scope of 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2018D0-EF64-4211-A331-C9D96117E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Fuzzy, imprecise or imperfect data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No available mathematical algorithm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Optimal solution unknown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Rapid prototyping required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Only domain experts available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Robust system required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Learning capability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More recently: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DNA Computing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Quantum Computing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172" name="Picture 2">
            <a:extLst>
              <a:ext uri="{FF2B5EF4-FFF2-40B4-BE49-F238E27FC236}">
                <a16:creationId xmlns:a16="http://schemas.microsoft.com/office/drawing/2014/main" xmlns="" id="{27C1E86F-97CA-41A9-AFA7-2CD14227F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63" y="2514600"/>
            <a:ext cx="4110037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56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xmlns="" id="{D3C191FE-5061-460F-9125-73CFEBF81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Importance of CI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xmlns="" id="{F69FD473-E1AC-49C1-81D5-77C5301F9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Solve the problems in realistic situation ( not ideal) such as fuzzy, imperfect or incomplete, only domain experts available.</a:t>
            </a:r>
          </a:p>
          <a:p>
            <a:r>
              <a:rPr lang="en-US" altLang="en-US"/>
              <a:t>Complementary approaches with mathematical based algorithm solutions</a:t>
            </a:r>
          </a:p>
          <a:p>
            <a:r>
              <a:rPr lang="en-US" altLang="en-US"/>
              <a:t>Encourage new technology development especially in Quantum and DNA computing.  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78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xmlns="" id="{4623EC55-DB51-47E0-AB9E-4B24F2CD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Importance of CI</a:t>
            </a:r>
          </a:p>
        </p:txBody>
      </p:sp>
      <p:pic>
        <p:nvPicPr>
          <p:cNvPr id="9219" name="Picture 2">
            <a:extLst>
              <a:ext uri="{FF2B5EF4-FFF2-40B4-BE49-F238E27FC236}">
                <a16:creationId xmlns:a16="http://schemas.microsoft.com/office/drawing/2014/main" xmlns="" id="{1B237C3A-EAFC-47D4-ABEA-A53D2ED7D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95400"/>
            <a:ext cx="23098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6">
            <a:extLst>
              <a:ext uri="{FF2B5EF4-FFF2-40B4-BE49-F238E27FC236}">
                <a16:creationId xmlns:a16="http://schemas.microsoft.com/office/drawing/2014/main" xmlns="" id="{132F423A-DAC7-4CAE-9497-CA289F11F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295400"/>
            <a:ext cx="4419600" cy="346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>
            <a:extLst>
              <a:ext uri="{FF2B5EF4-FFF2-40B4-BE49-F238E27FC236}">
                <a16:creationId xmlns:a16="http://schemas.microsoft.com/office/drawing/2014/main" xmlns="" id="{65929773-EA59-4140-BBD6-705E5D861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91000"/>
            <a:ext cx="3267075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3">
            <a:extLst>
              <a:ext uri="{FF2B5EF4-FFF2-40B4-BE49-F238E27FC236}">
                <a16:creationId xmlns:a16="http://schemas.microsoft.com/office/drawing/2014/main" xmlns="" id="{19209848-0C61-4EF1-ADF8-975AE8B90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4724400"/>
            <a:ext cx="333375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8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xmlns="" id="{12814C97-2422-4984-9312-8EBFE8F1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 Techniques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xmlns="" id="{6474682B-B208-46B4-BE89-B35090BE5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Artificial Neural Network</a:t>
            </a:r>
          </a:p>
          <a:p>
            <a:r>
              <a:rPr lang="en-US" altLang="en-US"/>
              <a:t>Genetic Algorithm</a:t>
            </a:r>
          </a:p>
          <a:p>
            <a:r>
              <a:rPr lang="en-US" altLang="en-US"/>
              <a:t>Fuzzy Logic</a:t>
            </a:r>
          </a:p>
        </p:txBody>
      </p:sp>
      <p:pic>
        <p:nvPicPr>
          <p:cNvPr id="10244" name="Picture 5">
            <a:extLst>
              <a:ext uri="{FF2B5EF4-FFF2-40B4-BE49-F238E27FC236}">
                <a16:creationId xmlns:a16="http://schemas.microsoft.com/office/drawing/2014/main" xmlns="" id="{648D2D5F-3A13-43A0-9635-C2CFF37E5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05200"/>
            <a:ext cx="1958975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2">
            <a:extLst>
              <a:ext uri="{FF2B5EF4-FFF2-40B4-BE49-F238E27FC236}">
                <a16:creationId xmlns:a16="http://schemas.microsoft.com/office/drawing/2014/main" xmlns="" id="{E5FF910F-DE15-4836-9D2B-6B8869374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505200"/>
            <a:ext cx="2895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3">
            <a:extLst>
              <a:ext uri="{FF2B5EF4-FFF2-40B4-BE49-F238E27FC236}">
                <a16:creationId xmlns:a16="http://schemas.microsoft.com/office/drawing/2014/main" xmlns="" id="{D3837E26-24B6-45DB-AB51-AECF3A7D3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352800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786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xmlns="" id="{0ADE89D9-5294-47D6-A776-562EB62B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Artificial Neural Network</a:t>
            </a:r>
          </a:p>
        </p:txBody>
      </p:sp>
      <p:pic>
        <p:nvPicPr>
          <p:cNvPr id="11267" name="Picture 3">
            <a:extLst>
              <a:ext uri="{FF2B5EF4-FFF2-40B4-BE49-F238E27FC236}">
                <a16:creationId xmlns:a16="http://schemas.microsoft.com/office/drawing/2014/main" xmlns="" id="{881A3CD1-A561-4373-A2FE-2C04C54FA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888" y="3352800"/>
            <a:ext cx="5091112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xmlns="" id="{9A4A097C-340B-4741-A320-FEDAB39FD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3648075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>
            <a:extLst>
              <a:ext uri="{FF2B5EF4-FFF2-40B4-BE49-F238E27FC236}">
                <a16:creationId xmlns:a16="http://schemas.microsoft.com/office/drawing/2014/main" xmlns="" id="{370C7983-EAD9-4A09-A7E2-C4F9B677A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295400"/>
            <a:ext cx="1958975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2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xmlns="" id="{1BD8A82F-D485-442D-9A56-41E300D0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Genetic Algorithm</a:t>
            </a:r>
          </a:p>
        </p:txBody>
      </p:sp>
      <p:pic>
        <p:nvPicPr>
          <p:cNvPr id="12291" name="Picture 2">
            <a:extLst>
              <a:ext uri="{FF2B5EF4-FFF2-40B4-BE49-F238E27FC236}">
                <a16:creationId xmlns:a16="http://schemas.microsoft.com/office/drawing/2014/main" xmlns="" id="{BFAAAE58-6205-41C4-9027-15642A462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362585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3">
            <a:extLst>
              <a:ext uri="{FF2B5EF4-FFF2-40B4-BE49-F238E27FC236}">
                <a16:creationId xmlns:a16="http://schemas.microsoft.com/office/drawing/2014/main" xmlns="" id="{EA680714-1B4C-429C-A340-ABF29852C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600200"/>
            <a:ext cx="4165600" cy="271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2">
            <a:extLst>
              <a:ext uri="{FF2B5EF4-FFF2-40B4-BE49-F238E27FC236}">
                <a16:creationId xmlns:a16="http://schemas.microsoft.com/office/drawing/2014/main" xmlns="" id="{567B98AD-0ECF-4C79-9255-99FB5E587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181600"/>
            <a:ext cx="211613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001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xmlns="" id="{DCD30358-5C68-42F1-A660-A13B0423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Fuzzy Logic</a:t>
            </a:r>
          </a:p>
        </p:txBody>
      </p:sp>
      <p:pic>
        <p:nvPicPr>
          <p:cNvPr id="13315" name="Picture 2">
            <a:extLst>
              <a:ext uri="{FF2B5EF4-FFF2-40B4-BE49-F238E27FC236}">
                <a16:creationId xmlns:a16="http://schemas.microsoft.com/office/drawing/2014/main" xmlns="" id="{4AD29E0C-4FDC-4BBB-9DE0-C4516282C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4267200" cy="363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3">
            <a:extLst>
              <a:ext uri="{FF2B5EF4-FFF2-40B4-BE49-F238E27FC236}">
                <a16:creationId xmlns:a16="http://schemas.microsoft.com/office/drawing/2014/main" xmlns="" id="{6B2EC32F-D798-41D1-93B3-7A55C6470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743200"/>
            <a:ext cx="3862388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351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xmlns="" id="{A98BA195-4E8D-4185-8DBC-AE1054BE2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Fuzzy Logic</a:t>
            </a:r>
          </a:p>
        </p:txBody>
      </p:sp>
      <p:pic>
        <p:nvPicPr>
          <p:cNvPr id="14339" name="Picture 2">
            <a:extLst>
              <a:ext uri="{FF2B5EF4-FFF2-40B4-BE49-F238E27FC236}">
                <a16:creationId xmlns:a16="http://schemas.microsoft.com/office/drawing/2014/main" xmlns="" id="{17427E16-CFDB-44AC-B705-8B0DBBDF2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7839075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871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xmlns="" id="{7C629994-B55C-4506-8A44-67C64EE97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 &amp; A</a:t>
            </a:r>
          </a:p>
        </p:txBody>
      </p:sp>
      <p:pic>
        <p:nvPicPr>
          <p:cNvPr id="15363" name="Picture 2">
            <a:extLst>
              <a:ext uri="{FF2B5EF4-FFF2-40B4-BE49-F238E27FC236}">
                <a16:creationId xmlns:a16="http://schemas.microsoft.com/office/drawing/2014/main" xmlns="" id="{D7A26C98-47F9-41DF-831E-D7FDD2C80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00200"/>
            <a:ext cx="4572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0089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2981</TotalTime>
  <Words>810</Words>
  <Application>Microsoft Office PowerPoint</Application>
  <PresentationFormat>On-screen Show (4:3)</PresentationFormat>
  <Paragraphs>163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ＭＳ Ｐゴシック</vt:lpstr>
      <vt:lpstr>Arial</vt:lpstr>
      <vt:lpstr>Baskerville Old Face</vt:lpstr>
      <vt:lpstr>Calibri</vt:lpstr>
      <vt:lpstr>Roboto</vt:lpstr>
      <vt:lpstr>Office Theme</vt:lpstr>
      <vt:lpstr>Custom Design</vt:lpstr>
      <vt:lpstr>Introduction to Computational Learning</vt:lpstr>
      <vt:lpstr>Machine Learning</vt:lpstr>
      <vt:lpstr>Machine Learning Process</vt:lpstr>
      <vt:lpstr>How machine learns?</vt:lpstr>
      <vt:lpstr>How good is the learning model?</vt:lpstr>
      <vt:lpstr>Learning types</vt:lpstr>
      <vt:lpstr>Learning types …</vt:lpstr>
      <vt:lpstr>Supervised Learning</vt:lpstr>
      <vt:lpstr>Unsupervised Learning</vt:lpstr>
      <vt:lpstr>Supervised vs unsupervised</vt:lpstr>
      <vt:lpstr>Reinforcement learning</vt:lpstr>
      <vt:lpstr>Markov Decision Process (MDP)</vt:lpstr>
      <vt:lpstr>Markov Decision Process (MDP)</vt:lpstr>
      <vt:lpstr>RL in real world</vt:lpstr>
      <vt:lpstr>Machine learning techniques</vt:lpstr>
      <vt:lpstr>Classification and clustering</vt:lpstr>
      <vt:lpstr>How real world use ML?</vt:lpstr>
      <vt:lpstr>Computational Intelligence</vt:lpstr>
      <vt:lpstr>Outline</vt:lpstr>
      <vt:lpstr>What is AI?</vt:lpstr>
      <vt:lpstr>Now, come Computational Intelligence (CI)</vt:lpstr>
      <vt:lpstr>Scope of CI</vt:lpstr>
      <vt:lpstr>Scope of CI</vt:lpstr>
      <vt:lpstr>Importance of CI</vt:lpstr>
      <vt:lpstr>Importance of CI</vt:lpstr>
      <vt:lpstr>CI Techniques</vt:lpstr>
      <vt:lpstr>Artificial Neural Network</vt:lpstr>
      <vt:lpstr>Genetic Algorithm</vt:lpstr>
      <vt:lpstr>Fuzzy Logic</vt:lpstr>
      <vt:lpstr>Fuzzy Logic</vt:lpstr>
      <vt:lpstr>Q &amp; 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Referee</dc:creator>
  <cp:lastModifiedBy>RUHAIDA</cp:lastModifiedBy>
  <cp:revision>355</cp:revision>
  <dcterms:created xsi:type="dcterms:W3CDTF">2012-07-30T02:22:03Z</dcterms:created>
  <dcterms:modified xsi:type="dcterms:W3CDTF">2019-10-25T14:41:55Z</dcterms:modified>
</cp:coreProperties>
</file>