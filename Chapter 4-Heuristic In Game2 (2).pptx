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58"/>
  </p:notesMasterIdLst>
  <p:sldIdLst>
    <p:sldId id="327" r:id="rId3"/>
    <p:sldId id="328" r:id="rId4"/>
    <p:sldId id="329" r:id="rId5"/>
    <p:sldId id="330" r:id="rId6"/>
    <p:sldId id="331" r:id="rId7"/>
    <p:sldId id="332" r:id="rId8"/>
    <p:sldId id="333" r:id="rId9"/>
    <p:sldId id="334" r:id="rId10"/>
    <p:sldId id="335" r:id="rId11"/>
    <p:sldId id="336" r:id="rId12"/>
    <p:sldId id="337" r:id="rId13"/>
    <p:sldId id="338" r:id="rId14"/>
    <p:sldId id="339" r:id="rId15"/>
    <p:sldId id="341" r:id="rId16"/>
    <p:sldId id="342" r:id="rId17"/>
    <p:sldId id="398" r:id="rId18"/>
    <p:sldId id="399" r:id="rId19"/>
    <p:sldId id="343" r:id="rId20"/>
    <p:sldId id="344" r:id="rId21"/>
    <p:sldId id="345" r:id="rId22"/>
    <p:sldId id="346" r:id="rId23"/>
    <p:sldId id="347" r:id="rId24"/>
    <p:sldId id="348" r:id="rId25"/>
    <p:sldId id="349" r:id="rId26"/>
    <p:sldId id="350" r:id="rId27"/>
    <p:sldId id="352" r:id="rId28"/>
    <p:sldId id="353" r:id="rId29"/>
    <p:sldId id="354" r:id="rId30"/>
    <p:sldId id="355" r:id="rId31"/>
    <p:sldId id="356" r:id="rId32"/>
    <p:sldId id="403" r:id="rId33"/>
    <p:sldId id="386" r:id="rId34"/>
    <p:sldId id="387" r:id="rId35"/>
    <p:sldId id="388" r:id="rId36"/>
    <p:sldId id="389" r:id="rId37"/>
    <p:sldId id="407" r:id="rId38"/>
    <p:sldId id="390" r:id="rId39"/>
    <p:sldId id="408" r:id="rId40"/>
    <p:sldId id="404" r:id="rId41"/>
    <p:sldId id="391" r:id="rId42"/>
    <p:sldId id="392" r:id="rId43"/>
    <p:sldId id="393" r:id="rId44"/>
    <p:sldId id="405" r:id="rId45"/>
    <p:sldId id="394" r:id="rId46"/>
    <p:sldId id="395" r:id="rId47"/>
    <p:sldId id="396" r:id="rId48"/>
    <p:sldId id="406" r:id="rId49"/>
    <p:sldId id="411" r:id="rId50"/>
    <p:sldId id="412" r:id="rId51"/>
    <p:sldId id="413" r:id="rId52"/>
    <p:sldId id="400" r:id="rId53"/>
    <p:sldId id="401" r:id="rId54"/>
    <p:sldId id="383" r:id="rId55"/>
    <p:sldId id="384" r:id="rId56"/>
    <p:sldId id="409"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42" d="100"/>
          <a:sy n="42" d="100"/>
        </p:scale>
        <p:origin x="444"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ED72AD-98F2-48AA-9584-1CD8673FAED1}" type="datetimeFigureOut">
              <a:rPr lang="en-US" smtClean="0"/>
              <a:pPr/>
              <a:t>4/13/2018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18F6A6-5BDF-41D7-9B84-3DCB4D0C04F4}" type="slidenum">
              <a:rPr lang="en-US" smtClean="0"/>
              <a:pPr/>
              <a:t>‹#›</a:t>
            </a:fld>
            <a:endParaRPr lang="en-US"/>
          </a:p>
        </p:txBody>
      </p:sp>
    </p:spTree>
    <p:extLst>
      <p:ext uri="{BB962C8B-B14F-4D97-AF65-F5344CB8AC3E}">
        <p14:creationId xmlns:p14="http://schemas.microsoft.com/office/powerpoint/2010/main" val="3387300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C1891-BD52-412C-9566-8CE1B16C36B4}" type="slidenum">
              <a:rPr lang="en-US" altLang="en-US"/>
              <a:pPr/>
              <a:t>10</a:t>
            </a:fld>
            <a:endParaRPr lang="en-US" alt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a:xfrm>
            <a:off x="914400" y="4724202"/>
            <a:ext cx="5029200" cy="4475560"/>
          </a:xfrm>
        </p:spPr>
        <p:txBody>
          <a:bodyPr/>
          <a:lstStyle/>
          <a:p>
            <a:endParaRPr lang="en-US" altLang="en-US"/>
          </a:p>
        </p:txBody>
      </p:sp>
    </p:spTree>
    <p:extLst>
      <p:ext uri="{BB962C8B-B14F-4D97-AF65-F5344CB8AC3E}">
        <p14:creationId xmlns:p14="http://schemas.microsoft.com/office/powerpoint/2010/main" val="3838919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A1AC0A-88A8-4198-91A5-3F6CE9133636}" type="slidenum">
              <a:rPr lang="en-US" altLang="en-US"/>
              <a:pPr/>
              <a:t>12</a:t>
            </a:fld>
            <a:endParaRPr lang="en-US" altLang="en-US"/>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a:xfrm>
            <a:off x="914400" y="4724202"/>
            <a:ext cx="5029200" cy="4475560"/>
          </a:xfrm>
        </p:spPr>
        <p:txBody>
          <a:bodyPr/>
          <a:lstStyle/>
          <a:p>
            <a:endParaRPr lang="en-US" altLang="en-US"/>
          </a:p>
        </p:txBody>
      </p:sp>
    </p:spTree>
    <p:extLst>
      <p:ext uri="{BB962C8B-B14F-4D97-AF65-F5344CB8AC3E}">
        <p14:creationId xmlns:p14="http://schemas.microsoft.com/office/powerpoint/2010/main" val="22299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0714EE2-9BA8-4B90-898D-C954FE562031}" type="slidenum">
              <a:rPr lang="en-US" altLang="en-US"/>
              <a:pPr/>
              <a:t>15</a:t>
            </a:fld>
            <a:endParaRPr lang="en-US" alt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a:xfrm>
            <a:off x="914400" y="4724202"/>
            <a:ext cx="5029200" cy="4475560"/>
          </a:xfrm>
        </p:spPr>
        <p:txBody>
          <a:bodyPr/>
          <a:lstStyle/>
          <a:p>
            <a:endParaRPr lang="en-US" altLang="en-US"/>
          </a:p>
        </p:txBody>
      </p:sp>
    </p:spTree>
    <p:extLst>
      <p:ext uri="{BB962C8B-B14F-4D97-AF65-F5344CB8AC3E}">
        <p14:creationId xmlns:p14="http://schemas.microsoft.com/office/powerpoint/2010/main" val="999979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A76B76-7EF2-402E-A217-D4F2233DA033}" type="slidenum">
              <a:rPr lang="en-US" altLang="en-US"/>
              <a:pPr/>
              <a:t>18</a:t>
            </a:fld>
            <a:endParaRPr lang="en-US" altLang="en-US"/>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xfrm>
            <a:off x="914400" y="4724202"/>
            <a:ext cx="5029200" cy="4475560"/>
          </a:xfrm>
        </p:spPr>
        <p:txBody>
          <a:bodyPr/>
          <a:lstStyle/>
          <a:p>
            <a:endParaRPr lang="en-US" altLang="en-US"/>
          </a:p>
        </p:txBody>
      </p:sp>
    </p:spTree>
    <p:extLst>
      <p:ext uri="{BB962C8B-B14F-4D97-AF65-F5344CB8AC3E}">
        <p14:creationId xmlns:p14="http://schemas.microsoft.com/office/powerpoint/2010/main" val="550076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F00180-A1DB-4276-B6FA-D624FC147920}" type="slidenum">
              <a:rPr lang="en-CA" altLang="en-US"/>
              <a:pPr/>
              <a:t>26</a:t>
            </a:fld>
            <a:endParaRPr lang="en-CA" altLang="en-US"/>
          </a:p>
        </p:txBody>
      </p:sp>
      <p:sp>
        <p:nvSpPr>
          <p:cNvPr id="371714" name="Rectangle 2"/>
          <p:cNvSpPr>
            <a:spLocks noGrp="1" noRot="1" noChangeAspect="1" noChangeArrowheads="1" noTextEdit="1"/>
          </p:cNvSpPr>
          <p:nvPr>
            <p:ph type="sldImg"/>
          </p:nvPr>
        </p:nvSpPr>
        <p:spPr>
          <a:ln/>
        </p:spPr>
      </p:sp>
      <p:sp>
        <p:nvSpPr>
          <p:cNvPr id="3717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88631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CC6DA1-0CE6-4597-9123-37329E316EB5}" type="slidenum">
              <a:rPr lang="en-CA" altLang="en-US"/>
              <a:pPr/>
              <a:t>27</a:t>
            </a:fld>
            <a:endParaRPr lang="en-CA" altLang="en-US"/>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89999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51625A-258C-4CEE-9121-4430438F9A7F}" type="slidenum">
              <a:rPr lang="en-CA" altLang="en-US"/>
              <a:pPr/>
              <a:t>28</a:t>
            </a:fld>
            <a:endParaRPr lang="en-CA" altLang="en-US"/>
          </a:p>
        </p:txBody>
      </p:sp>
      <p:sp>
        <p:nvSpPr>
          <p:cNvPr id="373762" name="Rectangle 2"/>
          <p:cNvSpPr>
            <a:spLocks noGrp="1" noRot="1" noChangeAspect="1" noChangeArrowheads="1" noTextEdit="1"/>
          </p:cNvSpPr>
          <p:nvPr>
            <p:ph type="sldImg"/>
          </p:nvPr>
        </p:nvSpPr>
        <p:spPr>
          <a:ln/>
        </p:spPr>
      </p:sp>
      <p:sp>
        <p:nvSpPr>
          <p:cNvPr id="3737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7759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95ECF2-151A-4C92-9615-A7160716832D}" type="slidenum">
              <a:rPr lang="en-CA" altLang="en-US"/>
              <a:pPr/>
              <a:t>29</a:t>
            </a:fld>
            <a:endParaRPr lang="en-CA" altLang="en-US"/>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67299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30</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94766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31</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500694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32</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34602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33</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31555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34</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75321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35</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882355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36</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568701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37</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18662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38</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6187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39</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895920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40</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342279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41</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31554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42</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78596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43</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445034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44</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74956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45</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253083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46</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003358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47</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807310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48</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29882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49</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20974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532846-E9CF-484A-8272-28FD2051F616}" type="slidenum">
              <a:rPr lang="en-CA" altLang="en-US"/>
              <a:pPr/>
              <a:t>50</a:t>
            </a:fld>
            <a:endParaRPr lang="en-CA" alt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69201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eaLnBrk="1" hangingPunct="1"/>
            <a:fld id="{04014317-39E3-4E51-BD1A-A3956B21897C}" type="slidenum">
              <a:rPr lang="en-US" altLang="en-US"/>
              <a:pPr eaLnBrk="1" hangingPunct="1"/>
              <a:t>51</a:t>
            </a:fld>
            <a:endParaRPr lang="en-US" altLang="en-US"/>
          </a:p>
        </p:txBody>
      </p:sp>
    </p:spTree>
    <p:extLst>
      <p:ext uri="{BB962C8B-B14F-4D97-AF65-F5344CB8AC3E}">
        <p14:creationId xmlns:p14="http://schemas.microsoft.com/office/powerpoint/2010/main" val="2361856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smtClean="0"/>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eaLnBrk="1" hangingPunct="1"/>
            <a:fld id="{401773F3-DF55-44BD-BDDE-C23546FEADC7}" type="slidenum">
              <a:rPr lang="en-US" altLang="en-US"/>
              <a:pPr eaLnBrk="1" hangingPunct="1"/>
              <a:t>52</a:t>
            </a:fld>
            <a:endParaRPr lang="en-US" altLang="en-US"/>
          </a:p>
        </p:txBody>
      </p:sp>
    </p:spTree>
    <p:extLst>
      <p:ext uri="{BB962C8B-B14F-4D97-AF65-F5344CB8AC3E}">
        <p14:creationId xmlns:p14="http://schemas.microsoft.com/office/powerpoint/2010/main" val="1736575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2016</a:t>
            </a:r>
            <a:endParaRPr lang="en-US"/>
          </a:p>
        </p:txBody>
      </p:sp>
      <p:sp>
        <p:nvSpPr>
          <p:cNvPr id="5" name="Footer Placeholder 4"/>
          <p:cNvSpPr>
            <a:spLocks noGrp="1"/>
          </p:cNvSpPr>
          <p:nvPr>
            <p:ph type="ftr" sz="quarter" idx="11"/>
          </p:nvPr>
        </p:nvSpPr>
        <p:spPr/>
        <p:txBody>
          <a:bodyPr/>
          <a:lstStyle/>
          <a:p>
            <a:r>
              <a:rPr lang="en-US" smtClean="0"/>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2016</a:t>
            </a:r>
            <a:endParaRPr lang="en-US"/>
          </a:p>
        </p:txBody>
      </p:sp>
      <p:sp>
        <p:nvSpPr>
          <p:cNvPr id="5" name="Footer Placeholder 4"/>
          <p:cNvSpPr>
            <a:spLocks noGrp="1"/>
          </p:cNvSpPr>
          <p:nvPr>
            <p:ph type="ftr" sz="quarter" idx="11"/>
          </p:nvPr>
        </p:nvSpPr>
        <p:spPr/>
        <p:txBody>
          <a:bodyPr/>
          <a:lstStyle/>
          <a:p>
            <a:r>
              <a:rPr lang="en-US" smtClean="0"/>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2016</a:t>
            </a:r>
            <a:endParaRPr lang="en-US"/>
          </a:p>
        </p:txBody>
      </p:sp>
      <p:sp>
        <p:nvSpPr>
          <p:cNvPr id="5" name="Footer Placeholder 4"/>
          <p:cNvSpPr>
            <a:spLocks noGrp="1"/>
          </p:cNvSpPr>
          <p:nvPr>
            <p:ph type="ftr" sz="quarter" idx="11"/>
          </p:nvPr>
        </p:nvSpPr>
        <p:spPr/>
        <p:txBody>
          <a:bodyPr/>
          <a:lstStyle/>
          <a:p>
            <a:r>
              <a:rPr lang="en-US" smtClean="0"/>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2016</a:t>
            </a:r>
            <a:endParaRPr lang="en-US"/>
          </a:p>
        </p:txBody>
      </p:sp>
      <p:sp>
        <p:nvSpPr>
          <p:cNvPr id="6" name="Footer Placeholder 5"/>
          <p:cNvSpPr>
            <a:spLocks noGrp="1"/>
          </p:cNvSpPr>
          <p:nvPr>
            <p:ph type="ftr" sz="quarter" idx="11"/>
          </p:nvPr>
        </p:nvSpPr>
        <p:spPr/>
        <p:txBody>
          <a:bodyPr/>
          <a:lstStyle/>
          <a:p>
            <a:r>
              <a:rPr lang="en-US" smtClean="0"/>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2016</a:t>
            </a:r>
            <a:endParaRPr lang="en-US"/>
          </a:p>
        </p:txBody>
      </p:sp>
      <p:sp>
        <p:nvSpPr>
          <p:cNvPr id="8" name="Footer Placeholder 7"/>
          <p:cNvSpPr>
            <a:spLocks noGrp="1"/>
          </p:cNvSpPr>
          <p:nvPr>
            <p:ph type="ftr" sz="quarter" idx="11"/>
          </p:nvPr>
        </p:nvSpPr>
        <p:spPr/>
        <p:txBody>
          <a:bodyPr/>
          <a:lstStyle/>
          <a:p>
            <a:r>
              <a:rPr lang="en-US" smtClean="0"/>
              <a:t>Software Engineering</a:t>
            </a:r>
            <a:endParaRPr lang="en-US"/>
          </a:p>
        </p:txBody>
      </p:sp>
      <p:sp>
        <p:nvSpPr>
          <p:cNvPr id="9" name="Slide Number Placeholder 8"/>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2016</a:t>
            </a:r>
            <a:endParaRPr lang="en-US"/>
          </a:p>
        </p:txBody>
      </p:sp>
      <p:sp>
        <p:nvSpPr>
          <p:cNvPr id="4" name="Footer Placeholder 3"/>
          <p:cNvSpPr>
            <a:spLocks noGrp="1"/>
          </p:cNvSpPr>
          <p:nvPr>
            <p:ph type="ftr" sz="quarter" idx="11"/>
          </p:nvPr>
        </p:nvSpPr>
        <p:spPr/>
        <p:txBody>
          <a:bodyPr/>
          <a:lstStyle/>
          <a:p>
            <a:r>
              <a:rPr lang="en-US" smtClean="0"/>
              <a:t>Software Engineering</a:t>
            </a:r>
            <a:endParaRPr lang="en-US"/>
          </a:p>
        </p:txBody>
      </p:sp>
      <p:sp>
        <p:nvSpPr>
          <p:cNvPr id="5" name="Slide Number Placeholder 4"/>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2016</a:t>
            </a:r>
            <a:endParaRPr lang="en-US"/>
          </a:p>
        </p:txBody>
      </p:sp>
      <p:sp>
        <p:nvSpPr>
          <p:cNvPr id="3" name="Footer Placeholder 2"/>
          <p:cNvSpPr>
            <a:spLocks noGrp="1"/>
          </p:cNvSpPr>
          <p:nvPr>
            <p:ph type="ftr" sz="quarter" idx="11"/>
          </p:nvPr>
        </p:nvSpPr>
        <p:spPr/>
        <p:txBody>
          <a:bodyPr/>
          <a:lstStyle/>
          <a:p>
            <a:r>
              <a:rPr lang="en-US" smtClean="0"/>
              <a:t>Software Engineering</a:t>
            </a:r>
            <a:endParaRPr lang="en-US"/>
          </a:p>
        </p:txBody>
      </p:sp>
      <p:sp>
        <p:nvSpPr>
          <p:cNvPr id="4" name="Slide Number Placeholder 3"/>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2016</a:t>
            </a:r>
            <a:endParaRPr lang="en-US"/>
          </a:p>
        </p:txBody>
      </p:sp>
      <p:sp>
        <p:nvSpPr>
          <p:cNvPr id="6" name="Footer Placeholder 5"/>
          <p:cNvSpPr>
            <a:spLocks noGrp="1"/>
          </p:cNvSpPr>
          <p:nvPr>
            <p:ph type="ftr" sz="quarter" idx="11"/>
          </p:nvPr>
        </p:nvSpPr>
        <p:spPr/>
        <p:txBody>
          <a:bodyPr/>
          <a:lstStyle/>
          <a:p>
            <a:r>
              <a:rPr lang="en-US" smtClean="0"/>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2016</a:t>
            </a:r>
            <a:endParaRPr lang="en-US"/>
          </a:p>
        </p:txBody>
      </p:sp>
      <p:sp>
        <p:nvSpPr>
          <p:cNvPr id="6" name="Footer Placeholder 5"/>
          <p:cNvSpPr>
            <a:spLocks noGrp="1"/>
          </p:cNvSpPr>
          <p:nvPr>
            <p:ph type="ftr" sz="quarter" idx="11"/>
          </p:nvPr>
        </p:nvSpPr>
        <p:spPr/>
        <p:txBody>
          <a:bodyPr/>
          <a:lstStyle/>
          <a:p>
            <a:r>
              <a:rPr lang="en-US" smtClean="0"/>
              <a:t>Software Engineering</a:t>
            </a:r>
            <a:endParaRPr lang="en-US"/>
          </a:p>
        </p:txBody>
      </p:sp>
      <p:sp>
        <p:nvSpPr>
          <p:cNvPr id="7" name="Slide Number Placeholder 6"/>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2016</a:t>
            </a:r>
            <a:endParaRPr lang="en-US"/>
          </a:p>
        </p:txBody>
      </p:sp>
      <p:sp>
        <p:nvSpPr>
          <p:cNvPr id="5" name="Footer Placeholder 4"/>
          <p:cNvSpPr>
            <a:spLocks noGrp="1"/>
          </p:cNvSpPr>
          <p:nvPr>
            <p:ph type="ftr" sz="quarter" idx="11"/>
          </p:nvPr>
        </p:nvSpPr>
        <p:spPr/>
        <p:txBody>
          <a:bodyPr/>
          <a:lstStyle/>
          <a:p>
            <a:r>
              <a:rPr lang="en-US" smtClean="0"/>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2016</a:t>
            </a:r>
            <a:endParaRPr lang="en-US"/>
          </a:p>
        </p:txBody>
      </p:sp>
      <p:sp>
        <p:nvSpPr>
          <p:cNvPr id="5" name="Footer Placeholder 4"/>
          <p:cNvSpPr>
            <a:spLocks noGrp="1"/>
          </p:cNvSpPr>
          <p:nvPr>
            <p:ph type="ftr" sz="quarter" idx="11"/>
          </p:nvPr>
        </p:nvSpPr>
        <p:spPr/>
        <p:txBody>
          <a:bodyPr/>
          <a:lstStyle/>
          <a:p>
            <a:r>
              <a:rPr lang="en-US" smtClean="0"/>
              <a:t>Software Engineering</a:t>
            </a:r>
            <a:endParaRPr lang="en-US"/>
          </a:p>
        </p:txBody>
      </p:sp>
      <p:sp>
        <p:nvSpPr>
          <p:cNvPr id="6" name="Slide Number Placeholder 5"/>
          <p:cNvSpPr>
            <a:spLocks noGrp="1"/>
          </p:cNvSpPr>
          <p:nvPr>
            <p:ph type="sldNum" sz="quarter" idx="12"/>
          </p:nvPr>
        </p:nvSpPr>
        <p:spPr/>
        <p:txBody>
          <a:bodyPr/>
          <a:lstStyle/>
          <a:p>
            <a:fld id="{0362C787-829C-4B6B-B21B-90D8981190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0"/>
          <p:cNvPicPr>
            <a:picLocks noChangeAspect="1" noChangeArrowheads="1"/>
          </p:cNvPicPr>
          <p:nvPr userDrawn="1"/>
        </p:nvPicPr>
        <p:blipFill>
          <a:blip r:embed="rId13" cstate="print"/>
          <a:srcRect/>
          <a:stretch>
            <a:fillRect/>
          </a:stretch>
        </p:blipFill>
        <p:spPr bwMode="auto">
          <a:xfrm>
            <a:off x="-747" y="6487366"/>
            <a:ext cx="9131300" cy="357187"/>
          </a:xfrm>
          <a:prstGeom prst="rect">
            <a:avLst/>
          </a:prstGeom>
          <a:noFill/>
          <a:ln w="9525">
            <a:noFill/>
            <a:miter lim="800000"/>
            <a:headEnd/>
            <a:tailEnd/>
          </a:ln>
        </p:spPr>
      </p:pic>
      <p:sp>
        <p:nvSpPr>
          <p:cNvPr id="9"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pic>
        <p:nvPicPr>
          <p:cNvPr id="10" name="Picture 20" descr="header_UTM"/>
          <p:cNvPicPr>
            <a:picLocks noChangeAspect="1" noChangeArrowheads="1"/>
          </p:cNvPicPr>
          <p:nvPr userDrawn="1"/>
        </p:nvPicPr>
        <p:blipFill>
          <a:blip r:embed="rId14" cstate="print"/>
          <a:srcRect/>
          <a:stretch>
            <a:fillRect/>
          </a:stretch>
        </p:blipFill>
        <p:spPr bwMode="auto">
          <a:xfrm>
            <a:off x="63500" y="106363"/>
            <a:ext cx="1195388" cy="395287"/>
          </a:xfrm>
          <a:prstGeom prst="rect">
            <a:avLst/>
          </a:prstGeom>
          <a:noFill/>
          <a:ln w="9525">
            <a:noFill/>
            <a:miter lim="800000"/>
            <a:headEnd/>
            <a:tailEnd/>
          </a:ln>
        </p:spPr>
      </p:pic>
      <p:pic>
        <p:nvPicPr>
          <p:cNvPr id="11" name="Picture 22" descr="header_url"/>
          <p:cNvPicPr>
            <a:picLocks noChangeAspect="1" noChangeArrowheads="1"/>
          </p:cNvPicPr>
          <p:nvPr userDrawn="1"/>
        </p:nvPicPr>
        <p:blipFill>
          <a:blip r:embed="rId15" cstate="print"/>
          <a:srcRect/>
          <a:stretch>
            <a:fillRect/>
          </a:stretch>
        </p:blipFill>
        <p:spPr bwMode="auto">
          <a:xfrm>
            <a:off x="0" y="1169894"/>
            <a:ext cx="2376488" cy="255588"/>
          </a:xfrm>
          <a:prstGeom prst="rect">
            <a:avLst/>
          </a:prstGeom>
          <a:noFill/>
          <a:ln w="9525">
            <a:noFill/>
            <a:miter lim="800000"/>
            <a:headEnd/>
            <a:tailEnd/>
          </a:ln>
        </p:spPr>
      </p:pic>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598396"/>
            <a:ext cx="2133600" cy="365125"/>
          </a:xfrm>
          <a:prstGeom prst="rect">
            <a:avLst/>
          </a:prstGeom>
        </p:spPr>
        <p:txBody>
          <a:bodyPr vert="horz" lIns="91440" tIns="45720" rIns="91440" bIns="45720" rtlCol="0" anchor="ctr"/>
          <a:lstStyle>
            <a:lvl1pPr algn="l">
              <a:defRPr sz="1200">
                <a:solidFill>
                  <a:sysClr val="windowText" lastClr="000000"/>
                </a:solidFill>
              </a:defRPr>
            </a:lvl1pPr>
          </a:lstStyle>
          <a:p>
            <a:r>
              <a:rPr lang="en-US" smtClean="0"/>
              <a:t>2016</a:t>
            </a:r>
            <a:endParaRPr lang="en-US"/>
          </a:p>
        </p:txBody>
      </p:sp>
      <p:sp>
        <p:nvSpPr>
          <p:cNvPr id="5" name="Footer Placeholder 4"/>
          <p:cNvSpPr>
            <a:spLocks noGrp="1"/>
          </p:cNvSpPr>
          <p:nvPr>
            <p:ph type="ftr" sz="quarter" idx="3"/>
          </p:nvPr>
        </p:nvSpPr>
        <p:spPr>
          <a:xfrm>
            <a:off x="2469777" y="6620436"/>
            <a:ext cx="4191000" cy="304800"/>
          </a:xfrm>
          <a:prstGeom prst="rect">
            <a:avLst/>
          </a:prstGeom>
        </p:spPr>
        <p:txBody>
          <a:bodyPr vert="horz" lIns="91440" tIns="45720" rIns="91440" bIns="45720" rtlCol="0" anchor="ctr"/>
          <a:lstStyle>
            <a:lvl1pPr algn="ctr">
              <a:defRPr sz="1200">
                <a:solidFill>
                  <a:sysClr val="windowText" lastClr="000000"/>
                </a:solidFill>
              </a:defRPr>
            </a:lvl1pPr>
          </a:lstStyle>
          <a:p>
            <a:r>
              <a:rPr lang="en-US" smtClean="0"/>
              <a:t>Software Engineering</a:t>
            </a:r>
            <a:endParaRPr lang="en-US"/>
          </a:p>
        </p:txBody>
      </p:sp>
      <p:sp>
        <p:nvSpPr>
          <p:cNvPr id="6" name="Slide Number Placeholder 5"/>
          <p:cNvSpPr>
            <a:spLocks noGrp="1"/>
          </p:cNvSpPr>
          <p:nvPr>
            <p:ph type="sldNum" sz="quarter" idx="4"/>
          </p:nvPr>
        </p:nvSpPr>
        <p:spPr>
          <a:xfrm>
            <a:off x="6553200" y="6598396"/>
            <a:ext cx="2133600" cy="365125"/>
          </a:xfrm>
          <a:prstGeom prst="rect">
            <a:avLst/>
          </a:prstGeom>
        </p:spPr>
        <p:txBody>
          <a:bodyPr vert="horz" lIns="91440" tIns="45720" rIns="91440" bIns="45720" rtlCol="0" anchor="ctr"/>
          <a:lstStyle>
            <a:lvl1pPr algn="r">
              <a:defRPr sz="1200">
                <a:solidFill>
                  <a:sysClr val="windowText" lastClr="000000"/>
                </a:solidFill>
              </a:defRPr>
            </a:lvl1pPr>
          </a:lstStyle>
          <a:p>
            <a:fld id="{0362C787-829C-4B6B-B21B-90D8981190F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ontent Placeholder 2"/>
          <p:cNvSpPr txBox="1">
            <a:spLocks/>
          </p:cNvSpPr>
          <p:nvPr userDrawn="1"/>
        </p:nvSpPr>
        <p:spPr>
          <a:xfrm>
            <a:off x="457200" y="1600200"/>
            <a:ext cx="8229600" cy="4525963"/>
          </a:xfrm>
          <a:prstGeom prst="rect">
            <a:avLst/>
          </a:prstGeom>
        </p:spPr>
        <p:txBody>
          <a:bodyPr/>
          <a:lstStyle/>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5400" b="0" i="0" u="none" strike="noStrike" kern="1200" cap="none" spc="0" normalizeH="0" baseline="0" noProof="0" smtClean="0">
              <a:ln>
                <a:noFill/>
              </a:ln>
              <a:solidFill>
                <a:schemeClr val="tx1"/>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5400" b="1" i="0" u="none" strike="noStrike" kern="1200" cap="none" spc="0" normalizeH="0" baseline="0" noProof="0" smtClean="0">
                <a:ln>
                  <a:noFill/>
                </a:ln>
                <a:solidFill>
                  <a:schemeClr val="tx1"/>
                </a:solidFill>
                <a:effectLst/>
                <a:uLnTx/>
                <a:uFillTx/>
                <a:latin typeface="+mn-lt"/>
                <a:ea typeface="+mn-ea"/>
                <a:cs typeface="+mn-cs"/>
              </a:rPr>
              <a:t>Terima Kasih</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2800" b="0" i="0" u="none" strike="noStrike" kern="1200" cap="none" spc="0" normalizeH="0" baseline="0" noProof="0" smtClean="0">
                <a:ln>
                  <a:noFill/>
                </a:ln>
                <a:solidFill>
                  <a:srgbClr val="C00000"/>
                </a:solidFill>
                <a:effectLst/>
                <a:uLnTx/>
                <a:uFillTx/>
                <a:latin typeface="+mn-lt"/>
                <a:ea typeface="+mn-ea"/>
                <a:cs typeface="+mn-cs"/>
              </a:rPr>
              <a:t>atas keprihatinan anda</a:t>
            </a: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endParaRPr kumimoji="0" lang="en-US" sz="2800" b="0" i="0" u="none" strike="noStrike" kern="1200" cap="none" spc="0" normalizeH="0" baseline="0" noProof="0" smtClean="0">
              <a:ln>
                <a:noFill/>
              </a:ln>
              <a:solidFill>
                <a:srgbClr val="C00000"/>
              </a:solidFill>
              <a:effectLst/>
              <a:uLnTx/>
              <a:uFillTx/>
              <a:latin typeface="+mn-lt"/>
              <a:ea typeface="+mn-ea"/>
              <a:cs typeface="+mn-cs"/>
            </a:endParaRPr>
          </a:p>
          <a:p>
            <a:pPr marL="342900" marR="0" lvl="0" indent="-342900" algn="ctr" defTabSz="914400" rtl="0" eaLnBrk="0" fontAlgn="base" latinLnBrk="0" hangingPunct="0">
              <a:lnSpc>
                <a:spcPct val="100000"/>
              </a:lnSpc>
              <a:spcBef>
                <a:spcPct val="20000"/>
              </a:spcBef>
              <a:spcAft>
                <a:spcPct val="0"/>
              </a:spcAft>
              <a:buClrTx/>
              <a:buSzTx/>
              <a:buFont typeface="Arial" pitchFamily="34" charset="0"/>
              <a:buNone/>
              <a:tabLst/>
              <a:defRPr/>
            </a:pPr>
            <a:r>
              <a:rPr kumimoji="0" lang="en-US" sz="3600" b="1" i="0" u="none" strike="noStrike" kern="1200" cap="none" spc="0" normalizeH="0" baseline="0" noProof="0" smtClean="0">
                <a:ln>
                  <a:noFill/>
                </a:ln>
                <a:solidFill>
                  <a:srgbClr val="002060"/>
                </a:solidFill>
                <a:effectLst/>
                <a:uLnTx/>
                <a:uFillTx/>
                <a:latin typeface="Baskerville Old Face" pitchFamily="18" charset="0"/>
                <a:ea typeface="+mn-ea"/>
                <a:cs typeface="+mn-cs"/>
              </a:rPr>
              <a:t>“I Care, You Care, We Care”</a:t>
            </a:r>
            <a:endParaRPr kumimoji="0" lang="en-US" sz="3600" b="1" i="0" u="none" strike="noStrike" kern="1200" cap="none" spc="0" normalizeH="0" baseline="0" noProof="0" dirty="0" smtClean="0">
              <a:ln>
                <a:noFill/>
              </a:ln>
              <a:solidFill>
                <a:srgbClr val="002060"/>
              </a:solidFill>
              <a:effectLst/>
              <a:uLnTx/>
              <a:uFillTx/>
              <a:latin typeface="Baskerville Old Face" pitchFamily="18" charset="0"/>
              <a:ea typeface="+mn-ea"/>
              <a:cs typeface="+mn-cs"/>
            </a:endParaRPr>
          </a:p>
        </p:txBody>
      </p:sp>
      <p:pic>
        <p:nvPicPr>
          <p:cNvPr id="13" name="Picture 10"/>
          <p:cNvPicPr>
            <a:picLocks noChangeAspect="1" noChangeArrowheads="1"/>
          </p:cNvPicPr>
          <p:nvPr userDrawn="1"/>
        </p:nvPicPr>
        <p:blipFill>
          <a:blip r:embed="rId2" cstate="print"/>
          <a:srcRect/>
          <a:stretch>
            <a:fillRect/>
          </a:stretch>
        </p:blipFill>
        <p:spPr bwMode="auto">
          <a:xfrm>
            <a:off x="-747" y="6487366"/>
            <a:ext cx="9131300" cy="357187"/>
          </a:xfrm>
          <a:prstGeom prst="rect">
            <a:avLst/>
          </a:prstGeom>
          <a:noFill/>
          <a:ln w="9525">
            <a:noFill/>
            <a:miter lim="800000"/>
            <a:headEnd/>
            <a:tailEnd/>
          </a:ln>
        </p:spPr>
      </p:pic>
      <p:sp>
        <p:nvSpPr>
          <p:cNvPr id="14" name="Date Placeholder 3"/>
          <p:cNvSpPr>
            <a:spLocks noGrp="1"/>
          </p:cNvSpPr>
          <p:nvPr>
            <p:ph type="dt" sz="half" idx="2"/>
          </p:nvPr>
        </p:nvSpPr>
        <p:spPr>
          <a:xfrm>
            <a:off x="0" y="6600451"/>
            <a:ext cx="1547664"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solidFill>
                <a:latin typeface="+mn-lt"/>
              </a:defRPr>
            </a:lvl1pPr>
          </a:lstStyle>
          <a:p>
            <a:pPr>
              <a:defRPr/>
            </a:pPr>
            <a:r>
              <a:rPr lang="en-US" smtClean="0"/>
              <a:t>2016</a:t>
            </a:r>
            <a:endParaRPr lang="en-US" dirty="0"/>
          </a:p>
        </p:txBody>
      </p:sp>
      <p:sp>
        <p:nvSpPr>
          <p:cNvPr id="15" name="Slide Number Placeholder 5"/>
          <p:cNvSpPr>
            <a:spLocks noGrp="1"/>
          </p:cNvSpPr>
          <p:nvPr>
            <p:ph type="sldNum" sz="quarter" idx="4"/>
          </p:nvPr>
        </p:nvSpPr>
        <p:spPr>
          <a:xfrm>
            <a:off x="8316416" y="6600451"/>
            <a:ext cx="4572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solidFill>
                <a:latin typeface="+mn-lt"/>
              </a:defRPr>
            </a:lvl1pPr>
          </a:lstStyle>
          <a:p>
            <a:pPr>
              <a:defRPr/>
            </a:pPr>
            <a:fld id="{C038A795-CA2C-4B96-A1E0-C7053193AEE8}" type="slidenum">
              <a:rPr lang="en-US"/>
              <a:pPr>
                <a:defRPr/>
              </a:pPr>
              <a:t>‹#›</a:t>
            </a:fld>
            <a:endParaRPr lang="en-US"/>
          </a:p>
        </p:txBody>
      </p:sp>
      <p:sp>
        <p:nvSpPr>
          <p:cNvPr id="16" name="Rectangle 19"/>
          <p:cNvSpPr>
            <a:spLocks noChangeArrowheads="1"/>
          </p:cNvSpPr>
          <p:nvPr userDrawn="1"/>
        </p:nvSpPr>
        <p:spPr bwMode="auto">
          <a:xfrm>
            <a:off x="0" y="0"/>
            <a:ext cx="9144000" cy="1417638"/>
          </a:xfrm>
          <a:prstGeom prst="rect">
            <a:avLst/>
          </a:prstGeom>
          <a:solidFill>
            <a:srgbClr val="FFE1AD"/>
          </a:solidFill>
          <a:ln w="9525">
            <a:noFill/>
            <a:miter lim="800000"/>
            <a:headEnd/>
            <a:tailEnd/>
          </a:ln>
          <a:effectLst/>
        </p:spPr>
        <p:txBody>
          <a:bodyPr wrap="none" anchor="ctr"/>
          <a:lstStyle/>
          <a:p>
            <a:pPr>
              <a:defRPr/>
            </a:pPr>
            <a:endParaRPr lang="en-US">
              <a:ea typeface="ＭＳ Ｐゴシック" pitchFamily="-112" charset="-128"/>
            </a:endParaRPr>
          </a:p>
        </p:txBody>
      </p:sp>
      <p:pic>
        <p:nvPicPr>
          <p:cNvPr id="17" name="Picture 20" descr="header_UTM"/>
          <p:cNvPicPr>
            <a:picLocks noChangeAspect="1" noChangeArrowheads="1"/>
          </p:cNvPicPr>
          <p:nvPr userDrawn="1"/>
        </p:nvPicPr>
        <p:blipFill>
          <a:blip r:embed="rId3" cstate="print"/>
          <a:srcRect/>
          <a:stretch>
            <a:fillRect/>
          </a:stretch>
        </p:blipFill>
        <p:spPr bwMode="auto">
          <a:xfrm>
            <a:off x="63500" y="106363"/>
            <a:ext cx="1195388" cy="395287"/>
          </a:xfrm>
          <a:prstGeom prst="rect">
            <a:avLst/>
          </a:prstGeom>
          <a:noFill/>
          <a:ln w="9525">
            <a:noFill/>
            <a:miter lim="800000"/>
            <a:headEnd/>
            <a:tailEnd/>
          </a:ln>
        </p:spPr>
      </p:pic>
      <p:pic>
        <p:nvPicPr>
          <p:cNvPr id="18" name="Picture 22" descr="header_url"/>
          <p:cNvPicPr>
            <a:picLocks noChangeAspect="1" noChangeArrowheads="1"/>
          </p:cNvPicPr>
          <p:nvPr userDrawn="1"/>
        </p:nvPicPr>
        <p:blipFill>
          <a:blip r:embed="rId4" cstate="print"/>
          <a:srcRect/>
          <a:stretch>
            <a:fillRect/>
          </a:stretch>
        </p:blipFill>
        <p:spPr bwMode="auto">
          <a:xfrm>
            <a:off x="0" y="1009650"/>
            <a:ext cx="2376488" cy="388938"/>
          </a:xfrm>
          <a:prstGeom prst="rect">
            <a:avLst/>
          </a:prstGeom>
          <a:noFill/>
          <a:ln w="9525">
            <a:noFill/>
            <a:miter lim="800000"/>
            <a:headEnd/>
            <a:tailEnd/>
          </a:ln>
        </p:spPr>
      </p:pic>
      <p:pic>
        <p:nvPicPr>
          <p:cNvPr id="19" name="Picture 7"/>
          <p:cNvPicPr>
            <a:picLocks noChangeAspect="1" noChangeArrowheads="1"/>
          </p:cNvPicPr>
          <p:nvPr userDrawn="1"/>
        </p:nvPicPr>
        <p:blipFill>
          <a:blip r:embed="rId5" cstate="print"/>
          <a:srcRect/>
          <a:stretch>
            <a:fillRect/>
          </a:stretch>
        </p:blipFill>
        <p:spPr bwMode="auto">
          <a:xfrm>
            <a:off x="1873008" y="53788"/>
            <a:ext cx="580837" cy="438130"/>
          </a:xfrm>
          <a:prstGeom prst="rect">
            <a:avLst/>
          </a:prstGeom>
          <a:noFill/>
          <a:ln w="9525">
            <a:noFill/>
            <a:miter lim="800000"/>
            <a:headEnd/>
            <a:tailEnd/>
          </a:ln>
        </p:spPr>
      </p:pic>
      <p:pic>
        <p:nvPicPr>
          <p:cNvPr id="20" name="Picture 8" descr="PNG_newlogo"/>
          <p:cNvPicPr>
            <a:picLocks noChangeAspect="1" noChangeArrowheads="1"/>
          </p:cNvPicPr>
          <p:nvPr userDrawn="1"/>
        </p:nvPicPr>
        <p:blipFill>
          <a:blip r:embed="rId6" cstate="print"/>
          <a:srcRect/>
          <a:stretch>
            <a:fillRect/>
          </a:stretch>
        </p:blipFill>
        <p:spPr bwMode="auto">
          <a:xfrm>
            <a:off x="1354633" y="26894"/>
            <a:ext cx="504056" cy="477366"/>
          </a:xfrm>
          <a:prstGeom prst="rect">
            <a:avLst/>
          </a:prstGeom>
          <a:noFill/>
          <a:ln w="9525" algn="in">
            <a:noFill/>
            <a:miter lim="800000"/>
            <a:headEnd/>
            <a:tailEnd/>
          </a:ln>
        </p:spPr>
      </p:pic>
      <p:sp>
        <p:nvSpPr>
          <p:cNvPr id="21" name="Footer Placeholder 4"/>
          <p:cNvSpPr>
            <a:spLocks noGrp="1"/>
          </p:cNvSpPr>
          <p:nvPr>
            <p:ph type="ftr" sz="quarter" idx="3"/>
          </p:nvPr>
        </p:nvSpPr>
        <p:spPr>
          <a:xfrm>
            <a:off x="2281520" y="6647328"/>
            <a:ext cx="4704928" cy="365125"/>
          </a:xfrm>
          <a:prstGeom prst="rect">
            <a:avLst/>
          </a:prstGeom>
        </p:spPr>
        <p:txBody>
          <a:bodyPr/>
          <a:lstStyle>
            <a:lvl1pPr algn="ctr">
              <a:defRPr sz="1100"/>
            </a:lvl1pPr>
          </a:lstStyle>
          <a:p>
            <a:pPr>
              <a:defRPr/>
            </a:pPr>
            <a:r>
              <a:rPr lang="en-US" smtClean="0"/>
              <a:t>Software Engineering</a:t>
            </a:r>
            <a:endParaRPr lang="en-US" dirty="0" smtClean="0"/>
          </a:p>
        </p:txBody>
      </p:sp>
    </p:spTree>
  </p:cSld>
  <p:clrMap bg1="lt1" tx1="dk1" bg2="lt2" tx2="dk2" accent1="accent1" accent2="accent2" accent3="accent3" accent4="accent4" accent5="accent5" accent6="accent6" hlink="hlink" folHlink="folHlink"/>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685800" y="457200"/>
            <a:ext cx="77724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nchorCtr="1"/>
          <a:lstStyle>
            <a:lvl1pPr>
              <a:defRPr sz="5000">
                <a:solidFill>
                  <a:schemeClr val="tx2"/>
                </a:solidFill>
                <a:latin typeface="Garamond" panose="02020404030301010803" pitchFamily="18" charset="0"/>
                <a:cs typeface="Arial" panose="020B0604020202020204" pitchFamily="34" charset="0"/>
              </a:defRPr>
            </a:lvl1pPr>
            <a:lvl2pPr>
              <a:defRPr sz="5000">
                <a:solidFill>
                  <a:schemeClr val="tx2"/>
                </a:solidFill>
                <a:latin typeface="Garamond" panose="02020404030301010803" pitchFamily="18" charset="0"/>
                <a:cs typeface="Arial" panose="020B0604020202020204" pitchFamily="34" charset="0"/>
              </a:defRPr>
            </a:lvl2pPr>
            <a:lvl3pPr>
              <a:defRPr sz="5000">
                <a:solidFill>
                  <a:schemeClr val="tx2"/>
                </a:solidFill>
                <a:latin typeface="Garamond" panose="02020404030301010803" pitchFamily="18" charset="0"/>
                <a:cs typeface="Arial" panose="020B0604020202020204" pitchFamily="34" charset="0"/>
              </a:defRPr>
            </a:lvl3pPr>
            <a:lvl4pPr>
              <a:defRPr sz="5000">
                <a:solidFill>
                  <a:schemeClr val="tx2"/>
                </a:solidFill>
                <a:latin typeface="Garamond" panose="02020404030301010803" pitchFamily="18" charset="0"/>
                <a:cs typeface="Arial" panose="020B0604020202020204" pitchFamily="34" charset="0"/>
              </a:defRPr>
            </a:lvl4pPr>
            <a:lvl5pPr>
              <a:defRPr sz="5000">
                <a:solidFill>
                  <a:schemeClr val="tx2"/>
                </a:solidFill>
                <a:latin typeface="Garamond" panose="02020404030301010803" pitchFamily="18" charset="0"/>
                <a:cs typeface="Arial" panose="020B0604020202020204" pitchFamily="34" charset="0"/>
              </a:defRPr>
            </a:lvl5pPr>
            <a:lvl6pPr marL="457200" fontAlgn="base">
              <a:spcBef>
                <a:spcPct val="0"/>
              </a:spcBef>
              <a:spcAft>
                <a:spcPct val="0"/>
              </a:spcAft>
              <a:defRPr sz="5000">
                <a:solidFill>
                  <a:schemeClr val="tx2"/>
                </a:solidFill>
                <a:latin typeface="Garamond" panose="02020404030301010803" pitchFamily="18" charset="0"/>
                <a:cs typeface="Arial" panose="020B0604020202020204" pitchFamily="34" charset="0"/>
              </a:defRPr>
            </a:lvl6pPr>
            <a:lvl7pPr marL="914400" fontAlgn="base">
              <a:spcBef>
                <a:spcPct val="0"/>
              </a:spcBef>
              <a:spcAft>
                <a:spcPct val="0"/>
              </a:spcAft>
              <a:defRPr sz="5000">
                <a:solidFill>
                  <a:schemeClr val="tx2"/>
                </a:solidFill>
                <a:latin typeface="Garamond" panose="02020404030301010803" pitchFamily="18" charset="0"/>
                <a:cs typeface="Arial" panose="020B0604020202020204" pitchFamily="34" charset="0"/>
              </a:defRPr>
            </a:lvl7pPr>
            <a:lvl8pPr marL="1371600" fontAlgn="base">
              <a:spcBef>
                <a:spcPct val="0"/>
              </a:spcBef>
              <a:spcAft>
                <a:spcPct val="0"/>
              </a:spcAft>
              <a:defRPr sz="5000">
                <a:solidFill>
                  <a:schemeClr val="tx2"/>
                </a:solidFill>
                <a:latin typeface="Garamond" panose="02020404030301010803" pitchFamily="18" charset="0"/>
                <a:cs typeface="Arial" panose="020B0604020202020204" pitchFamily="34" charset="0"/>
              </a:defRPr>
            </a:lvl8pPr>
            <a:lvl9pPr marL="1828800" fontAlgn="base">
              <a:spcBef>
                <a:spcPct val="0"/>
              </a:spcBef>
              <a:spcAft>
                <a:spcPct val="0"/>
              </a:spcAft>
              <a:defRPr sz="5000">
                <a:solidFill>
                  <a:schemeClr val="tx2"/>
                </a:solidFill>
                <a:latin typeface="Garamond" panose="02020404030301010803" pitchFamily="18" charset="0"/>
                <a:cs typeface="Arial" panose="020B0604020202020204" pitchFamily="34" charset="0"/>
              </a:defRPr>
            </a:lvl9pPr>
          </a:lstStyle>
          <a:p>
            <a:pPr algn="ctr"/>
            <a:r>
              <a:rPr lang="en-US" altLang="en-US" sz="4600" dirty="0"/>
              <a:t> </a:t>
            </a:r>
            <a:r>
              <a:rPr lang="en-US" altLang="en-US" sz="4600" b="1" dirty="0">
                <a:solidFill>
                  <a:srgbClr val="FF33CC"/>
                </a:solidFill>
              </a:rPr>
              <a:t>Artificial Intelligence</a:t>
            </a:r>
            <a:r>
              <a:rPr lang="en-US" altLang="en-US" sz="4600" dirty="0"/>
              <a:t> </a:t>
            </a:r>
            <a:br>
              <a:rPr lang="en-US" altLang="en-US" sz="4600" dirty="0"/>
            </a:br>
            <a:r>
              <a:rPr lang="en-US" altLang="en-US" sz="4600" dirty="0"/>
              <a:t> </a:t>
            </a:r>
            <a:br>
              <a:rPr lang="en-US" altLang="en-US" sz="4600" dirty="0"/>
            </a:br>
            <a:r>
              <a:rPr lang="en-US" altLang="en-US" sz="4600" dirty="0"/>
              <a:t> </a:t>
            </a:r>
            <a:r>
              <a:rPr lang="en-US" altLang="en-US" sz="2400" dirty="0"/>
              <a:t>BEHAVIOR OF HEURISTICS EVALUATIONS</a:t>
            </a:r>
            <a:r>
              <a:rPr lang="en-GB" altLang="en-US" dirty="0"/>
              <a:t> </a:t>
            </a:r>
            <a:r>
              <a:rPr lang="en-GB" altLang="en-US" sz="4200" dirty="0">
                <a:solidFill>
                  <a:srgbClr val="FF3300"/>
                </a:solidFill>
              </a:rPr>
              <a:t/>
            </a:r>
            <a:br>
              <a:rPr lang="en-GB" altLang="en-US" sz="4200" dirty="0">
                <a:solidFill>
                  <a:srgbClr val="FF3300"/>
                </a:solidFill>
              </a:rPr>
            </a:br>
            <a:r>
              <a:rPr lang="en-US" altLang="en-US" sz="3300" dirty="0">
                <a:solidFill>
                  <a:schemeClr val="hlink"/>
                </a:solidFill>
              </a:rPr>
              <a:t>(</a:t>
            </a:r>
            <a:r>
              <a:rPr lang="en-US" altLang="en-US" sz="2000" dirty="0">
                <a:solidFill>
                  <a:schemeClr val="tx1"/>
                </a:solidFill>
              </a:rPr>
              <a:t>USING HEURISTICS IN GAMES</a:t>
            </a:r>
            <a:r>
              <a:rPr lang="en-US" altLang="en-US" sz="3300" dirty="0">
                <a:solidFill>
                  <a:schemeClr val="hlink"/>
                </a:solidFill>
              </a:rPr>
              <a:t>)</a:t>
            </a:r>
          </a:p>
        </p:txBody>
      </p:sp>
      <p:pic>
        <p:nvPicPr>
          <p:cNvPr id="59397" name="Picture 5" descr="talking_rob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2425" y="4221088"/>
            <a:ext cx="28956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59399" name="Picture 7" descr="ch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3733800"/>
            <a:ext cx="2743200" cy="22574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79512" y="4677484"/>
            <a:ext cx="4572000" cy="584775"/>
          </a:xfrm>
          <a:prstGeom prst="rect">
            <a:avLst/>
          </a:prstGeom>
        </p:spPr>
        <p:txBody>
          <a:bodyPr>
            <a:spAutoFit/>
          </a:bodyPr>
          <a:lstStyle/>
          <a:p>
            <a:pPr lvl="0"/>
            <a:r>
              <a:rPr lang="en-US" sz="1600" dirty="0">
                <a:solidFill>
                  <a:prstClr val="black"/>
                </a:solidFill>
              </a:rPr>
              <a:t>Faculty of Computing</a:t>
            </a:r>
          </a:p>
          <a:p>
            <a:pPr lvl="0"/>
            <a:r>
              <a:rPr lang="en-US" sz="1600" dirty="0" err="1">
                <a:solidFill>
                  <a:prstClr val="black"/>
                </a:solidFill>
              </a:rPr>
              <a:t>Universiti</a:t>
            </a:r>
            <a:r>
              <a:rPr lang="en-US" sz="1600" dirty="0">
                <a:solidFill>
                  <a:prstClr val="black"/>
                </a:solidFill>
              </a:rPr>
              <a:t> </a:t>
            </a:r>
            <a:r>
              <a:rPr lang="en-US" sz="1600" dirty="0" err="1">
                <a:solidFill>
                  <a:prstClr val="black"/>
                </a:solidFill>
              </a:rPr>
              <a:t>Teknologi</a:t>
            </a:r>
            <a:r>
              <a:rPr lang="en-US" sz="1600" dirty="0">
                <a:solidFill>
                  <a:prstClr val="black"/>
                </a:solidFill>
              </a:rPr>
              <a:t> Malaysia</a:t>
            </a:r>
          </a:p>
        </p:txBody>
      </p:sp>
    </p:spTree>
    <p:extLst>
      <p:ext uri="{BB962C8B-B14F-4D97-AF65-F5344CB8AC3E}">
        <p14:creationId xmlns:p14="http://schemas.microsoft.com/office/powerpoint/2010/main" val="1678127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4"/>
          <p:cNvSpPr>
            <a:spLocks noChangeArrowheads="1"/>
          </p:cNvSpPr>
          <p:nvPr/>
        </p:nvSpPr>
        <p:spPr bwMode="auto">
          <a:xfrm>
            <a:off x="609600" y="152400"/>
            <a:ext cx="8229600" cy="85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200">
                <a:solidFill>
                  <a:schemeClr val="tx2"/>
                </a:solidFill>
                <a:latin typeface="Garamond" panose="02020404030301010803" pitchFamily="18" charset="0"/>
                <a:cs typeface="Arial" panose="020B0604020202020204" pitchFamily="34" charset="0"/>
              </a:defRPr>
            </a:lvl1pPr>
            <a:lvl2pPr>
              <a:defRPr sz="4200">
                <a:solidFill>
                  <a:schemeClr val="tx2"/>
                </a:solidFill>
                <a:latin typeface="Garamond" panose="02020404030301010803" pitchFamily="18" charset="0"/>
                <a:cs typeface="Arial" panose="020B0604020202020204" pitchFamily="34" charset="0"/>
              </a:defRPr>
            </a:lvl2pPr>
            <a:lvl3pPr>
              <a:defRPr sz="4200">
                <a:solidFill>
                  <a:schemeClr val="tx2"/>
                </a:solidFill>
                <a:latin typeface="Garamond" panose="02020404030301010803" pitchFamily="18" charset="0"/>
                <a:cs typeface="Arial" panose="020B0604020202020204" pitchFamily="34" charset="0"/>
              </a:defRPr>
            </a:lvl3pPr>
            <a:lvl4pPr>
              <a:defRPr sz="4200">
                <a:solidFill>
                  <a:schemeClr val="tx2"/>
                </a:solidFill>
                <a:latin typeface="Garamond" panose="02020404030301010803" pitchFamily="18" charset="0"/>
                <a:cs typeface="Arial" panose="020B0604020202020204" pitchFamily="34" charset="0"/>
              </a:defRPr>
            </a:lvl4pPr>
            <a:lvl5pPr>
              <a:defRPr sz="4200">
                <a:solidFill>
                  <a:schemeClr val="tx2"/>
                </a:solidFill>
                <a:latin typeface="Garamond" panose="02020404030301010803" pitchFamily="18" charset="0"/>
                <a:cs typeface="Arial" panose="020B0604020202020204" pitchFamily="34" charset="0"/>
              </a:defRPr>
            </a:lvl5pPr>
            <a:lvl6pPr marL="4572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6pPr>
            <a:lvl7pPr marL="9144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7pPr>
            <a:lvl8pPr marL="13716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8pPr>
            <a:lvl9pPr marL="18288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9pPr>
          </a:lstStyle>
          <a:p>
            <a:r>
              <a:rPr lang="en-US" altLang="en-US" b="1">
                <a:solidFill>
                  <a:srgbClr val="0000CC"/>
                </a:solidFill>
                <a:latin typeface="Bookman Old Style" panose="02050604050505020204" pitchFamily="18" charset="0"/>
              </a:rPr>
              <a:t>Course Contents</a:t>
            </a:r>
          </a:p>
        </p:txBody>
      </p:sp>
      <p:sp>
        <p:nvSpPr>
          <p:cNvPr id="63493" name="Rectangle 5"/>
          <p:cNvSpPr>
            <a:spLocks noChangeArrowheads="1"/>
          </p:cNvSpPr>
          <p:nvPr/>
        </p:nvSpPr>
        <p:spPr bwMode="auto">
          <a:xfrm>
            <a:off x="762000" y="1143000"/>
            <a:ext cx="8382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8572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20015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nSpc>
                <a:spcPct val="80000"/>
              </a:lnSpc>
              <a:buFont typeface="Wingdings" panose="05000000000000000000" pitchFamily="2" charset="2"/>
              <a:buNone/>
            </a:pPr>
            <a:r>
              <a:rPr lang="en-US" altLang="en-US" sz="2100"/>
              <a:t>Again..Selected topics for our course. Covering all of AI is impossible!</a:t>
            </a:r>
          </a:p>
          <a:p>
            <a:pPr>
              <a:lnSpc>
                <a:spcPct val="80000"/>
              </a:lnSpc>
              <a:buFont typeface="Wingdings" panose="05000000000000000000" pitchFamily="2" charset="2"/>
              <a:buNone/>
            </a:pPr>
            <a:endParaRPr lang="en-US" altLang="en-US" sz="2100"/>
          </a:p>
          <a:p>
            <a:pPr>
              <a:lnSpc>
                <a:spcPct val="80000"/>
              </a:lnSpc>
              <a:buFont typeface="Wingdings" panose="05000000000000000000" pitchFamily="2" charset="2"/>
              <a:buNone/>
            </a:pPr>
            <a:r>
              <a:rPr lang="en-US" altLang="en-US" sz="2100"/>
              <a:t>Key topics include:</a:t>
            </a:r>
          </a:p>
          <a:p>
            <a:pPr>
              <a:lnSpc>
                <a:spcPct val="80000"/>
              </a:lnSpc>
              <a:buClr>
                <a:schemeClr val="tx1"/>
              </a:buClr>
              <a:buFont typeface="Wingdings" panose="05000000000000000000" pitchFamily="2" charset="2"/>
              <a:buBlip>
                <a:blip r:embed="rId2"/>
              </a:buBlip>
            </a:pPr>
            <a:r>
              <a:rPr lang="en-GB" altLang="en-US" sz="2100"/>
              <a:t>  Introduction to Artificial Intelligence (AI) </a:t>
            </a:r>
          </a:p>
          <a:p>
            <a:pPr>
              <a:lnSpc>
                <a:spcPct val="80000"/>
              </a:lnSpc>
              <a:buClr>
                <a:schemeClr val="tx1"/>
              </a:buClr>
              <a:buFont typeface="Wingdings" panose="05000000000000000000" pitchFamily="2" charset="2"/>
              <a:buBlip>
                <a:blip r:embed="rId2"/>
              </a:buBlip>
            </a:pPr>
            <a:r>
              <a:rPr lang="en-GB" altLang="en-US" sz="2100"/>
              <a:t>  Knowledge Representation and Search</a:t>
            </a:r>
          </a:p>
          <a:p>
            <a:pPr>
              <a:lnSpc>
                <a:spcPct val="80000"/>
              </a:lnSpc>
              <a:buClr>
                <a:schemeClr val="tx1"/>
              </a:buClr>
              <a:buFont typeface="Wingdings" panose="05000000000000000000" pitchFamily="2" charset="2"/>
              <a:buBlip>
                <a:blip r:embed="rId2"/>
              </a:buBlip>
            </a:pPr>
            <a:r>
              <a:rPr lang="en-GB" altLang="en-US" sz="2100"/>
              <a:t>  Introduction to AI Programming</a:t>
            </a:r>
          </a:p>
          <a:p>
            <a:pPr>
              <a:lnSpc>
                <a:spcPct val="80000"/>
              </a:lnSpc>
              <a:buClr>
                <a:schemeClr val="tx1"/>
              </a:buClr>
              <a:buFont typeface="Wingdings" panose="05000000000000000000" pitchFamily="2" charset="2"/>
              <a:buBlip>
                <a:blip r:embed="rId2"/>
              </a:buBlip>
            </a:pPr>
            <a:r>
              <a:rPr lang="en-GB" altLang="en-US" sz="2100"/>
              <a:t>  Problem Solving Using Search</a:t>
            </a:r>
          </a:p>
          <a:p>
            <a:pPr>
              <a:lnSpc>
                <a:spcPct val="80000"/>
              </a:lnSpc>
              <a:buClr>
                <a:schemeClr val="tx1"/>
              </a:buClr>
              <a:buFont typeface="Wingdings" panose="05000000000000000000" pitchFamily="2" charset="2"/>
              <a:buBlip>
                <a:blip r:embed="rId2"/>
              </a:buBlip>
            </a:pPr>
            <a:r>
              <a:rPr lang="en-GB" altLang="en-US" sz="2100"/>
              <a:t>  Exhaustive Search Algorithm</a:t>
            </a:r>
            <a:r>
              <a:rPr lang="en-US" altLang="en-US" sz="2100"/>
              <a:t> </a:t>
            </a:r>
            <a:endParaRPr lang="en-GB" altLang="en-US" sz="2100"/>
          </a:p>
          <a:p>
            <a:pPr>
              <a:lnSpc>
                <a:spcPct val="80000"/>
              </a:lnSpc>
              <a:buClr>
                <a:schemeClr val="tx1"/>
              </a:buClr>
              <a:buFont typeface="Wingdings" panose="05000000000000000000" pitchFamily="2" charset="2"/>
              <a:buBlip>
                <a:blip r:embed="rId2"/>
              </a:buBlip>
            </a:pPr>
            <a:r>
              <a:rPr lang="en-GB" altLang="en-US" sz="2100"/>
              <a:t>  </a:t>
            </a:r>
            <a:r>
              <a:rPr lang="en-GB" altLang="en-US" sz="2100">
                <a:solidFill>
                  <a:srgbClr val="FF0066"/>
                </a:solidFill>
              </a:rPr>
              <a:t>Heuristic Search</a:t>
            </a:r>
          </a:p>
          <a:p>
            <a:pPr>
              <a:lnSpc>
                <a:spcPct val="80000"/>
              </a:lnSpc>
              <a:buClr>
                <a:schemeClr val="tx1"/>
              </a:buClr>
              <a:buFont typeface="Wingdings" panose="05000000000000000000" pitchFamily="2" charset="2"/>
              <a:buBlip>
                <a:blip r:embed="rId2"/>
              </a:buBlip>
            </a:pPr>
            <a:r>
              <a:rPr lang="en-GB" altLang="en-US" sz="2100"/>
              <a:t>  Techniques and Mechanisms of Search Algorithm</a:t>
            </a:r>
          </a:p>
          <a:p>
            <a:pPr>
              <a:lnSpc>
                <a:spcPct val="80000"/>
              </a:lnSpc>
              <a:buClr>
                <a:schemeClr val="tx1"/>
              </a:buClr>
              <a:buFont typeface="Wingdings" panose="05000000000000000000" pitchFamily="2" charset="2"/>
              <a:buBlip>
                <a:blip r:embed="rId2"/>
              </a:buBlip>
            </a:pPr>
            <a:r>
              <a:rPr lang="en-GB" altLang="en-US" sz="2100"/>
              <a:t>  Knowledge Representation Issues and Concepts</a:t>
            </a:r>
          </a:p>
          <a:p>
            <a:pPr>
              <a:lnSpc>
                <a:spcPct val="80000"/>
              </a:lnSpc>
              <a:buClr>
                <a:schemeClr val="tx1"/>
              </a:buClr>
              <a:buFont typeface="Wingdings" panose="05000000000000000000" pitchFamily="2" charset="2"/>
              <a:buBlip>
                <a:blip r:embed="rId2"/>
              </a:buBlip>
            </a:pPr>
            <a:r>
              <a:rPr lang="en-GB" altLang="en-US" sz="2100"/>
              <a:t>  Strong Method Problem Solving</a:t>
            </a:r>
          </a:p>
          <a:p>
            <a:pPr>
              <a:lnSpc>
                <a:spcPct val="80000"/>
              </a:lnSpc>
              <a:buClr>
                <a:schemeClr val="tx1"/>
              </a:buClr>
              <a:buFont typeface="Wingdings" panose="05000000000000000000" pitchFamily="2" charset="2"/>
              <a:buBlip>
                <a:blip r:embed="rId2"/>
              </a:buBlip>
            </a:pPr>
            <a:r>
              <a:rPr lang="en-GB" altLang="en-US" sz="2100"/>
              <a:t>  Reasoning in Uncertain Situations</a:t>
            </a:r>
          </a:p>
          <a:p>
            <a:pPr>
              <a:lnSpc>
                <a:spcPct val="80000"/>
              </a:lnSpc>
              <a:buClr>
                <a:schemeClr val="tx1"/>
              </a:buClr>
              <a:buFont typeface="Wingdings" panose="05000000000000000000" pitchFamily="2" charset="2"/>
              <a:buBlip>
                <a:blip r:embed="rId2"/>
              </a:buBlip>
            </a:pPr>
            <a:r>
              <a:rPr lang="en-GB" altLang="en-US" sz="2100"/>
              <a:t>  Soft Computing and Machine Learning</a:t>
            </a:r>
            <a:endParaRPr lang="en-US" altLang="en-US" sz="2100"/>
          </a:p>
        </p:txBody>
      </p:sp>
    </p:spTree>
    <p:extLst>
      <p:ext uri="{BB962C8B-B14F-4D97-AF65-F5344CB8AC3E}">
        <p14:creationId xmlns:p14="http://schemas.microsoft.com/office/powerpoint/2010/main" val="5109161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0"/>
            <a:ext cx="9144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4200">
                <a:solidFill>
                  <a:schemeClr val="tx2"/>
                </a:solidFill>
                <a:latin typeface="Garamond" panose="02020404030301010803" pitchFamily="18" charset="0"/>
                <a:cs typeface="Arial" panose="020B0604020202020204" pitchFamily="34" charset="0"/>
              </a:defRPr>
            </a:lvl1pPr>
            <a:lvl2pPr>
              <a:defRPr sz="4200">
                <a:solidFill>
                  <a:schemeClr val="tx2"/>
                </a:solidFill>
                <a:latin typeface="Garamond" panose="02020404030301010803" pitchFamily="18" charset="0"/>
                <a:cs typeface="Arial" panose="020B0604020202020204" pitchFamily="34" charset="0"/>
              </a:defRPr>
            </a:lvl2pPr>
            <a:lvl3pPr>
              <a:defRPr sz="4200">
                <a:solidFill>
                  <a:schemeClr val="tx2"/>
                </a:solidFill>
                <a:latin typeface="Garamond" panose="02020404030301010803" pitchFamily="18" charset="0"/>
                <a:cs typeface="Arial" panose="020B0604020202020204" pitchFamily="34" charset="0"/>
              </a:defRPr>
            </a:lvl3pPr>
            <a:lvl4pPr>
              <a:defRPr sz="4200">
                <a:solidFill>
                  <a:schemeClr val="tx2"/>
                </a:solidFill>
                <a:latin typeface="Garamond" panose="02020404030301010803" pitchFamily="18" charset="0"/>
                <a:cs typeface="Arial" panose="020B0604020202020204" pitchFamily="34" charset="0"/>
              </a:defRPr>
            </a:lvl4pPr>
            <a:lvl5pPr>
              <a:defRPr sz="4200">
                <a:solidFill>
                  <a:schemeClr val="tx2"/>
                </a:solidFill>
                <a:latin typeface="Garamond" panose="02020404030301010803" pitchFamily="18" charset="0"/>
                <a:cs typeface="Arial" panose="020B0604020202020204" pitchFamily="34" charset="0"/>
              </a:defRPr>
            </a:lvl5pPr>
            <a:lvl6pPr marL="4572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6pPr>
            <a:lvl7pPr marL="9144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7pPr>
            <a:lvl8pPr marL="13716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8pPr>
            <a:lvl9pPr marL="18288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9pPr>
          </a:lstStyle>
          <a:p>
            <a:pPr algn="ctr"/>
            <a:r>
              <a:rPr lang="en-US" altLang="en-US" sz="3800"/>
              <a:t>HEURISTICS EVALUATIONS: </a:t>
            </a:r>
            <a:r>
              <a:rPr lang="en-US" altLang="en-US"/>
              <a:t/>
            </a:r>
            <a:br>
              <a:rPr lang="en-US" altLang="en-US"/>
            </a:br>
            <a:r>
              <a:rPr lang="en-US" altLang="en-US" sz="3800"/>
              <a:t>(Admissibility,Monotonicity and Informedness)</a:t>
            </a:r>
          </a:p>
        </p:txBody>
      </p:sp>
      <p:sp>
        <p:nvSpPr>
          <p:cNvPr id="3075" name="Rectangle 3"/>
          <p:cNvSpPr>
            <a:spLocks noChangeArrowheads="1"/>
          </p:cNvSpPr>
          <p:nvPr/>
        </p:nvSpPr>
        <p:spPr bwMode="auto">
          <a:xfrm>
            <a:off x="228600" y="1905000"/>
            <a:ext cx="8515350" cy="260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669925" indent="-325438">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339850" indent="-315913">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1383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5955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0527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509963"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nSpc>
                <a:spcPct val="90000"/>
              </a:lnSpc>
            </a:pPr>
            <a:r>
              <a:rPr lang="en-US" altLang="en-US"/>
              <a:t>Admissibility Measures</a:t>
            </a:r>
          </a:p>
          <a:p>
            <a:pPr lvl="1">
              <a:lnSpc>
                <a:spcPct val="90000"/>
              </a:lnSpc>
            </a:pPr>
            <a:r>
              <a:rPr lang="en-US" altLang="en-US" i="1"/>
              <a:t>A search is admissible if it is guaranteed to find a minimal path to a solution whenever such a path exists</a:t>
            </a:r>
          </a:p>
          <a:p>
            <a:pPr lvl="1">
              <a:lnSpc>
                <a:spcPct val="90000"/>
              </a:lnSpc>
              <a:buFont typeface="Wingdings" panose="05000000000000000000" pitchFamily="2" charset="2"/>
              <a:buNone/>
            </a:pPr>
            <a:r>
              <a:rPr lang="en-US" altLang="en-US" i="1">
                <a:solidFill>
                  <a:srgbClr val="FF0066"/>
                </a:solidFill>
              </a:rPr>
              <a:t>Recall…</a:t>
            </a:r>
          </a:p>
          <a:p>
            <a:pPr lvl="1">
              <a:lnSpc>
                <a:spcPct val="90000"/>
              </a:lnSpc>
            </a:pPr>
            <a:r>
              <a:rPr lang="en-US" altLang="en-US" i="1"/>
              <a:t>f(n) = g(n) + h(n) estimates the total cost of path from start state through n to the goal state</a:t>
            </a:r>
          </a:p>
          <a:p>
            <a:pPr>
              <a:lnSpc>
                <a:spcPct val="90000"/>
              </a:lnSpc>
            </a:pPr>
            <a:endParaRPr lang="en-US" altLang="en-US" i="1"/>
          </a:p>
          <a:p>
            <a:pPr>
              <a:lnSpc>
                <a:spcPct val="90000"/>
              </a:lnSpc>
            </a:pPr>
            <a:endParaRPr lang="en-US" altLang="en-US" i="1"/>
          </a:p>
        </p:txBody>
      </p:sp>
      <p:grpSp>
        <p:nvGrpSpPr>
          <p:cNvPr id="3076" name="Group 4"/>
          <p:cNvGrpSpPr>
            <a:grpSpLocks/>
          </p:cNvGrpSpPr>
          <p:nvPr/>
        </p:nvGrpSpPr>
        <p:grpSpPr bwMode="auto">
          <a:xfrm>
            <a:off x="1123950" y="4953000"/>
            <a:ext cx="6896100" cy="1216025"/>
            <a:chOff x="708" y="3084"/>
            <a:chExt cx="4344" cy="766"/>
          </a:xfrm>
        </p:grpSpPr>
        <p:sp>
          <p:nvSpPr>
            <p:cNvPr id="3077" name="Line 5"/>
            <p:cNvSpPr>
              <a:spLocks noChangeShapeType="1"/>
            </p:cNvSpPr>
            <p:nvPr/>
          </p:nvSpPr>
          <p:spPr bwMode="auto">
            <a:xfrm>
              <a:off x="1992" y="3372"/>
              <a:ext cx="171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078" name="Text Box 6"/>
            <p:cNvSpPr txBox="1">
              <a:spLocks noChangeArrowheads="1"/>
            </p:cNvSpPr>
            <p:nvPr/>
          </p:nvSpPr>
          <p:spPr bwMode="auto">
            <a:xfrm>
              <a:off x="2004" y="3096"/>
              <a:ext cx="4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a:effectLst>
                    <a:outerShdw blurRad="38100" dist="38100" dir="2700000" algn="tl">
                      <a:srgbClr val="C0C0C0"/>
                    </a:outerShdw>
                  </a:effectLst>
                </a:rPr>
                <a:t>g(n)</a:t>
              </a:r>
            </a:p>
          </p:txBody>
        </p:sp>
        <p:sp>
          <p:nvSpPr>
            <p:cNvPr id="3079" name="Oval 7"/>
            <p:cNvSpPr>
              <a:spLocks noChangeArrowheads="1"/>
            </p:cNvSpPr>
            <p:nvPr/>
          </p:nvSpPr>
          <p:spPr bwMode="auto">
            <a:xfrm>
              <a:off x="708" y="3120"/>
              <a:ext cx="1296" cy="5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3600">
                  <a:effectLst>
                    <a:outerShdw blurRad="38100" dist="38100" dir="2700000" algn="tl">
                      <a:srgbClr val="FFFFFF"/>
                    </a:outerShdw>
                  </a:effectLst>
                </a:rPr>
                <a:t>start</a:t>
              </a:r>
            </a:p>
          </p:txBody>
        </p:sp>
        <p:sp>
          <p:nvSpPr>
            <p:cNvPr id="3080" name="Oval 8"/>
            <p:cNvSpPr>
              <a:spLocks noChangeArrowheads="1"/>
            </p:cNvSpPr>
            <p:nvPr/>
          </p:nvSpPr>
          <p:spPr bwMode="auto">
            <a:xfrm>
              <a:off x="3708" y="3180"/>
              <a:ext cx="1344" cy="49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3600">
                  <a:effectLst>
                    <a:outerShdw blurRad="38100" dist="38100" dir="2700000" algn="tl">
                      <a:srgbClr val="FFFFFF"/>
                    </a:outerShdw>
                  </a:effectLst>
                </a:rPr>
                <a:t>goal</a:t>
              </a:r>
            </a:p>
          </p:txBody>
        </p:sp>
        <p:sp>
          <p:nvSpPr>
            <p:cNvPr id="3081" name="Text Box 9"/>
            <p:cNvSpPr txBox="1">
              <a:spLocks noChangeArrowheads="1"/>
            </p:cNvSpPr>
            <p:nvPr/>
          </p:nvSpPr>
          <p:spPr bwMode="auto">
            <a:xfrm>
              <a:off x="2124" y="3600"/>
              <a:ext cx="11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a:effectLst>
                    <a:outerShdw blurRad="38100" dist="38100" dir="2700000" algn="tl">
                      <a:srgbClr val="C0C0C0"/>
                    </a:outerShdw>
                  </a:effectLst>
                </a:rPr>
                <a:t>f(n)=total cost</a:t>
              </a:r>
            </a:p>
          </p:txBody>
        </p:sp>
        <p:sp>
          <p:nvSpPr>
            <p:cNvPr id="3082" name="Oval 10"/>
            <p:cNvSpPr>
              <a:spLocks noChangeArrowheads="1"/>
            </p:cNvSpPr>
            <p:nvPr/>
          </p:nvSpPr>
          <p:spPr bwMode="auto">
            <a:xfrm>
              <a:off x="2628" y="3240"/>
              <a:ext cx="240" cy="27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US" sz="3600">
                  <a:effectLst>
                    <a:outerShdw blurRad="38100" dist="38100" dir="2700000" algn="tl">
                      <a:srgbClr val="FFFFFF"/>
                    </a:outerShdw>
                  </a:effectLst>
                </a:rPr>
                <a:t>n</a:t>
              </a:r>
            </a:p>
          </p:txBody>
        </p:sp>
        <p:sp>
          <p:nvSpPr>
            <p:cNvPr id="3083" name="Text Box 11"/>
            <p:cNvSpPr txBox="1">
              <a:spLocks noChangeArrowheads="1"/>
            </p:cNvSpPr>
            <p:nvPr/>
          </p:nvSpPr>
          <p:spPr bwMode="auto">
            <a:xfrm>
              <a:off x="3012" y="3084"/>
              <a:ext cx="4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a:effectLst>
                    <a:outerShdw blurRad="38100" dist="38100" dir="2700000" algn="tl">
                      <a:srgbClr val="C0C0C0"/>
                    </a:outerShdw>
                  </a:effectLst>
                </a:rPr>
                <a:t>h(n)</a:t>
              </a:r>
            </a:p>
          </p:txBody>
        </p:sp>
      </p:grpSp>
    </p:spTree>
    <p:extLst>
      <p:ext uri="{BB962C8B-B14F-4D97-AF65-F5344CB8AC3E}">
        <p14:creationId xmlns:p14="http://schemas.microsoft.com/office/powerpoint/2010/main" val="3836147224"/>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179388"/>
            <a:ext cx="8229600" cy="800100"/>
          </a:xfrm>
        </p:spPr>
        <p:txBody>
          <a:bodyPr/>
          <a:lstStyle/>
          <a:p>
            <a:r>
              <a:rPr lang="en-US" altLang="en-US"/>
              <a:t>Admissibility</a:t>
            </a:r>
          </a:p>
        </p:txBody>
      </p:sp>
      <p:sp>
        <p:nvSpPr>
          <p:cNvPr id="4099" name="Rectangle 3"/>
          <p:cNvSpPr>
            <a:spLocks noGrp="1" noChangeArrowheads="1"/>
          </p:cNvSpPr>
          <p:nvPr>
            <p:ph type="body" idx="1"/>
          </p:nvPr>
        </p:nvSpPr>
        <p:spPr>
          <a:xfrm>
            <a:off x="0" y="1104900"/>
            <a:ext cx="9144000" cy="5753100"/>
          </a:xfrm>
        </p:spPr>
        <p:txBody>
          <a:bodyPr/>
          <a:lstStyle/>
          <a:p>
            <a:r>
              <a:rPr lang="en-US" altLang="en-US" sz="2600" dirty="0"/>
              <a:t>A heuristic </a:t>
            </a:r>
            <a:r>
              <a:rPr lang="en-US" altLang="en-US" sz="2600" i="1" dirty="0"/>
              <a:t>h(n)</a:t>
            </a:r>
            <a:r>
              <a:rPr lang="en-US" altLang="en-US" sz="2600" dirty="0"/>
              <a:t> is </a:t>
            </a:r>
            <a:r>
              <a:rPr lang="en-US" altLang="en-US" sz="2600" dirty="0">
                <a:solidFill>
                  <a:srgbClr val="FF0000"/>
                </a:solidFill>
              </a:rPr>
              <a:t>admissible</a:t>
            </a:r>
            <a:r>
              <a:rPr lang="en-US" altLang="en-US" sz="2600" dirty="0"/>
              <a:t> if for every node </a:t>
            </a:r>
            <a:r>
              <a:rPr lang="en-US" altLang="en-US" sz="2600" i="1" dirty="0"/>
              <a:t>n</a:t>
            </a:r>
            <a:r>
              <a:rPr lang="en-US" altLang="en-US" sz="2600" dirty="0"/>
              <a:t>,</a:t>
            </a:r>
          </a:p>
          <a:p>
            <a:pPr>
              <a:buFont typeface="Wingdings" panose="05000000000000000000" pitchFamily="2" charset="2"/>
              <a:buNone/>
            </a:pPr>
            <a:r>
              <a:rPr lang="en-US" altLang="en-US" sz="2600" i="1" dirty="0"/>
              <a:t>	h(n) ≤ h</a:t>
            </a:r>
            <a:r>
              <a:rPr lang="en-US" altLang="en-US" sz="2600" i="1" baseline="30000" dirty="0"/>
              <a:t>*</a:t>
            </a:r>
            <a:r>
              <a:rPr lang="en-US" altLang="en-US" sz="2600" i="1" dirty="0"/>
              <a:t>(n), </a:t>
            </a:r>
            <a:r>
              <a:rPr lang="en-US" altLang="en-US" sz="2600" dirty="0"/>
              <a:t>where </a:t>
            </a:r>
            <a:r>
              <a:rPr lang="en-US" altLang="en-US" sz="2600" i="1" dirty="0"/>
              <a:t>h</a:t>
            </a:r>
            <a:r>
              <a:rPr lang="en-US" altLang="en-US" sz="2600" i="1" baseline="30000" dirty="0"/>
              <a:t>*</a:t>
            </a:r>
            <a:r>
              <a:rPr lang="en-US" altLang="en-US" sz="2600" i="1" dirty="0"/>
              <a:t>(n)</a:t>
            </a:r>
            <a:r>
              <a:rPr lang="en-US" altLang="en-US" sz="2600" dirty="0"/>
              <a:t> is the </a:t>
            </a:r>
            <a:r>
              <a:rPr lang="en-US" altLang="en-US" sz="2600" dirty="0">
                <a:solidFill>
                  <a:srgbClr val="FF0000"/>
                </a:solidFill>
              </a:rPr>
              <a:t>true </a:t>
            </a:r>
            <a:r>
              <a:rPr lang="en-US" altLang="en-US" sz="2600" dirty="0"/>
              <a:t>cost to reach the goal state from </a:t>
            </a:r>
            <a:r>
              <a:rPr lang="en-US" altLang="en-US" sz="2600" i="1" dirty="0"/>
              <a:t>n</a:t>
            </a:r>
            <a:r>
              <a:rPr lang="en-US" altLang="en-US" sz="2600" dirty="0"/>
              <a:t>.</a:t>
            </a:r>
          </a:p>
          <a:p>
            <a:r>
              <a:rPr lang="en-US" altLang="en-US" sz="2600" dirty="0"/>
              <a:t>An admissible heuristic </a:t>
            </a:r>
            <a:r>
              <a:rPr lang="en-US" altLang="en-US" sz="2600" dirty="0">
                <a:solidFill>
                  <a:srgbClr val="FF0000"/>
                </a:solidFill>
              </a:rPr>
              <a:t>never overestimates</a:t>
            </a:r>
            <a:r>
              <a:rPr lang="en-US" altLang="en-US" sz="2600" dirty="0"/>
              <a:t> the cost to reach the goal, i.e., it is </a:t>
            </a:r>
            <a:r>
              <a:rPr lang="en-US" altLang="en-US" sz="2600" dirty="0">
                <a:solidFill>
                  <a:srgbClr val="FF0000"/>
                </a:solidFill>
              </a:rPr>
              <a:t>optimistic</a:t>
            </a:r>
            <a:r>
              <a:rPr lang="en-US" altLang="en-US" sz="2600" dirty="0"/>
              <a:t>.</a:t>
            </a:r>
          </a:p>
          <a:p>
            <a:r>
              <a:rPr lang="en-US" altLang="en-US" sz="2600" dirty="0" err="1">
                <a:solidFill>
                  <a:srgbClr val="FF0066"/>
                </a:solidFill>
              </a:rPr>
              <a:t>eg</a:t>
            </a:r>
            <a:r>
              <a:rPr lang="en-US" altLang="en-US" sz="2600" dirty="0">
                <a:solidFill>
                  <a:srgbClr val="FF0066"/>
                </a:solidFill>
              </a:rPr>
              <a:t>. In 8-puzzle</a:t>
            </a:r>
            <a:r>
              <a:rPr lang="en-US" altLang="en-US" sz="2600" dirty="0"/>
              <a:t>, heuristic of counting # of tiles out of place certainly </a:t>
            </a:r>
            <a:r>
              <a:rPr lang="en-US" altLang="en-US" sz="2600" dirty="0">
                <a:solidFill>
                  <a:srgbClr val="FF0066"/>
                </a:solidFill>
              </a:rPr>
              <a:t>≤</a:t>
            </a:r>
            <a:r>
              <a:rPr lang="en-US" altLang="en-US" sz="2600" dirty="0"/>
              <a:t> # of moves required to move to the goal, hence this heuristic is admissible.</a:t>
            </a:r>
          </a:p>
          <a:p>
            <a:r>
              <a:rPr lang="en-US" altLang="en-US" sz="2600" dirty="0" err="1"/>
              <a:t>Best_First_Search</a:t>
            </a:r>
            <a:r>
              <a:rPr lang="en-US" altLang="en-US" sz="2600" dirty="0"/>
              <a:t> + evaluation function   Algorithm A</a:t>
            </a:r>
          </a:p>
          <a:p>
            <a:r>
              <a:rPr lang="en-US" altLang="en-US" sz="2600" dirty="0"/>
              <a:t>If h(n) &lt;= h(n)*(cost of minimal path)    Algorithm A*</a:t>
            </a:r>
          </a:p>
          <a:p>
            <a:r>
              <a:rPr lang="en-US" altLang="en-US" sz="2600" dirty="0"/>
              <a:t>Therefore, All A* algorithms are ADMISSIBLE.</a:t>
            </a:r>
          </a:p>
          <a:p>
            <a:endParaRPr lang="en-US" altLang="en-US" sz="2600" dirty="0"/>
          </a:p>
        </p:txBody>
      </p:sp>
    </p:spTree>
    <p:extLst>
      <p:ext uri="{BB962C8B-B14F-4D97-AF65-F5344CB8AC3E}">
        <p14:creationId xmlns:p14="http://schemas.microsoft.com/office/powerpoint/2010/main" val="344610110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Text Box 4"/>
          <p:cNvSpPr txBox="1">
            <a:spLocks noChangeArrowheads="1"/>
          </p:cNvSpPr>
          <p:nvPr/>
        </p:nvSpPr>
        <p:spPr bwMode="auto">
          <a:xfrm rot="-5400000">
            <a:off x="5507832" y="3229768"/>
            <a:ext cx="6859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663700">
              <a:defRPr>
                <a:solidFill>
                  <a:schemeClr val="tx1"/>
                </a:solidFill>
                <a:latin typeface="Arial" panose="020B0604020202020204" pitchFamily="34" charset="0"/>
                <a:cs typeface="Arial" panose="020B0604020202020204" pitchFamily="34" charset="0"/>
              </a:defRPr>
            </a:lvl2pPr>
            <a:lvl3pPr marL="1778000">
              <a:defRPr>
                <a:solidFill>
                  <a:schemeClr val="tx1"/>
                </a:solidFill>
                <a:latin typeface="Arial" panose="020B0604020202020204" pitchFamily="34" charset="0"/>
                <a:cs typeface="Arial" panose="020B0604020202020204" pitchFamily="34" charset="0"/>
              </a:defRPr>
            </a:lvl3pPr>
            <a:lvl4pPr marL="1892300">
              <a:defRPr>
                <a:solidFill>
                  <a:schemeClr val="tx1"/>
                </a:solidFill>
                <a:latin typeface="Arial" panose="020B0604020202020204" pitchFamily="34" charset="0"/>
                <a:cs typeface="Arial" panose="020B0604020202020204" pitchFamily="34" charset="0"/>
              </a:defRPr>
            </a:lvl4pPr>
            <a:lvl5pPr marL="2006600">
              <a:defRPr>
                <a:solidFill>
                  <a:schemeClr val="tx1"/>
                </a:solidFill>
                <a:latin typeface="Arial" panose="020B0604020202020204" pitchFamily="34" charset="0"/>
                <a:cs typeface="Arial" panose="020B0604020202020204" pitchFamily="34" charset="0"/>
              </a:defRPr>
            </a:lvl5pPr>
            <a:lvl6pPr marL="24638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210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3782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354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a:t>State space generated in heuristic search of the 8-puzzle graph</a:t>
            </a:r>
            <a:r>
              <a:rPr lang="en-US" altLang="en-US" sz="2000"/>
              <a:t>.</a:t>
            </a:r>
            <a:endParaRPr lang="en-US" altLang="en-US" sz="2400"/>
          </a:p>
        </p:txBody>
      </p:sp>
      <p:pic>
        <p:nvPicPr>
          <p:cNvPr id="62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0"/>
            <a:ext cx="8321675" cy="6858000"/>
          </a:xfrm>
          <a:prstGeom prst="rect">
            <a:avLst/>
          </a:prstGeom>
          <a:noFill/>
          <a:extLst>
            <a:ext uri="{909E8E84-426E-40DD-AFC4-6F175D3DCCD1}">
              <a14:hiddenFill xmlns:a14="http://schemas.microsoft.com/office/drawing/2010/main">
                <a:solidFill>
                  <a:srgbClr val="FFFFFF"/>
                </a:solidFill>
              </a14:hiddenFill>
            </a:ext>
          </a:extLst>
        </p:spPr>
      </p:pic>
      <p:sp>
        <p:nvSpPr>
          <p:cNvPr id="62470" name="Text Box 6"/>
          <p:cNvSpPr txBox="1">
            <a:spLocks noChangeArrowheads="1"/>
          </p:cNvSpPr>
          <p:nvPr/>
        </p:nvSpPr>
        <p:spPr bwMode="auto">
          <a:xfrm>
            <a:off x="0" y="0"/>
            <a:ext cx="29718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a:solidFill>
                  <a:srgbClr val="FF99FF"/>
                </a:solidFill>
                <a:effectLst>
                  <a:outerShdw blurRad="38100" dist="38100" dir="2700000" algn="tl">
                    <a:srgbClr val="C0C0C0"/>
                  </a:outerShdw>
                </a:effectLst>
              </a:rPr>
              <a:t>f(n)=g(n)+h(n)</a:t>
            </a:r>
          </a:p>
          <a:p>
            <a:pPr eaLnBrk="0" hangingPunct="0">
              <a:spcBef>
                <a:spcPct val="50000"/>
              </a:spcBef>
            </a:pPr>
            <a:r>
              <a:rPr lang="en-US" altLang="en-US" sz="2000">
                <a:solidFill>
                  <a:srgbClr val="FF99FF"/>
                </a:solidFill>
                <a:effectLst>
                  <a:outerShdw blurRad="38100" dist="38100" dir="2700000" algn="tl">
                    <a:srgbClr val="C0C0C0"/>
                  </a:outerShdw>
                </a:effectLst>
              </a:rPr>
              <a:t>g(n)=actual dist. From n to start</a:t>
            </a:r>
          </a:p>
          <a:p>
            <a:pPr eaLnBrk="0" hangingPunct="0">
              <a:spcBef>
                <a:spcPct val="50000"/>
              </a:spcBef>
            </a:pPr>
            <a:r>
              <a:rPr lang="en-US" altLang="en-US" sz="2000">
                <a:solidFill>
                  <a:srgbClr val="FF99FF"/>
                </a:solidFill>
                <a:effectLst>
                  <a:outerShdw blurRad="38100" dist="38100" dir="2700000" algn="tl">
                    <a:srgbClr val="C0C0C0"/>
                  </a:outerShdw>
                </a:effectLst>
              </a:rPr>
              <a:t>h(n)=no. of tiles in wrong position</a:t>
            </a:r>
          </a:p>
        </p:txBody>
      </p:sp>
      <p:sp>
        <p:nvSpPr>
          <p:cNvPr id="62471" name="Text Box 7"/>
          <p:cNvSpPr txBox="1">
            <a:spLocks noChangeArrowheads="1"/>
          </p:cNvSpPr>
          <p:nvPr/>
        </p:nvSpPr>
        <p:spPr bwMode="auto">
          <a:xfrm>
            <a:off x="0" y="5886450"/>
            <a:ext cx="22669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2000">
                <a:solidFill>
                  <a:srgbClr val="FF99FF"/>
                </a:solidFill>
                <a:effectLst>
                  <a:outerShdw blurRad="38100" dist="38100" dir="2700000" algn="tl">
                    <a:srgbClr val="C0C0C0"/>
                  </a:outerShdw>
                </a:effectLst>
              </a:rPr>
              <a:t>Full best-first-search of 8 puzzle</a:t>
            </a:r>
            <a:r>
              <a:rPr lang="en-US" altLang="en-US" sz="2000">
                <a:effectLst>
                  <a:outerShdw blurRad="38100" dist="38100" dir="2700000" algn="tl">
                    <a:srgbClr val="C0C0C0"/>
                  </a:outerShdw>
                </a:effectLst>
              </a:rPr>
              <a:t> </a:t>
            </a:r>
          </a:p>
        </p:txBody>
      </p:sp>
    </p:spTree>
    <p:extLst>
      <p:ext uri="{BB962C8B-B14F-4D97-AF65-F5344CB8AC3E}">
        <p14:creationId xmlns:p14="http://schemas.microsoft.com/office/powerpoint/2010/main" val="21904845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234950"/>
            <a:ext cx="8528050" cy="5549900"/>
          </a:xfrm>
          <a:prstGeom prst="rect">
            <a:avLst/>
          </a:prstGeom>
          <a:noFill/>
          <a:extLst>
            <a:ext uri="{909E8E84-426E-40DD-AFC4-6F175D3DCCD1}">
              <a14:hiddenFill xmlns:a14="http://schemas.microsoft.com/office/drawing/2010/main">
                <a:solidFill>
                  <a:srgbClr val="FFFFFF"/>
                </a:solidFill>
              </a14:hiddenFill>
            </a:ext>
          </a:extLst>
        </p:spPr>
      </p:pic>
      <p:sp>
        <p:nvSpPr>
          <p:cNvPr id="5123" name="Oval 3"/>
          <p:cNvSpPr>
            <a:spLocks noChangeArrowheads="1"/>
          </p:cNvSpPr>
          <p:nvPr/>
        </p:nvSpPr>
        <p:spPr bwMode="auto">
          <a:xfrm>
            <a:off x="3657600" y="2895600"/>
            <a:ext cx="1295400" cy="38100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5124" name="Oval 4"/>
          <p:cNvSpPr>
            <a:spLocks noChangeArrowheads="1"/>
          </p:cNvSpPr>
          <p:nvPr/>
        </p:nvSpPr>
        <p:spPr bwMode="auto">
          <a:xfrm>
            <a:off x="1295400" y="4572000"/>
            <a:ext cx="1371600" cy="45720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9971473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mph" presetSubtype="0" fill="hold" grpId="0" nodeType="clickEffect">
                                  <p:stCondLst>
                                    <p:cond delay="0"/>
                                  </p:stCondLst>
                                  <p:childTnLst>
                                    <p:animRot by="21600000">
                                      <p:cBhvr>
                                        <p:cTn id="6" dur="500" fill="hold"/>
                                        <p:tgtEl>
                                          <p:spTgt spid="5123"/>
                                        </p:tgtEl>
                                        <p:attrNameLst>
                                          <p:attrName>r</p:attrName>
                                        </p:attrNameLst>
                                      </p:cBhvr>
                                    </p:animRot>
                                  </p:childTnLst>
                                </p:cTn>
                              </p:par>
                            </p:childTnLst>
                          </p:cTn>
                        </p:par>
                      </p:childTnLst>
                    </p:cTn>
                  </p:par>
                  <p:par>
                    <p:cTn id="7" fill="hold" nodeType="clickPar">
                      <p:stCondLst>
                        <p:cond delay="indefinite"/>
                      </p:stCondLst>
                      <p:childTnLst>
                        <p:par>
                          <p:cTn id="8" fill="hold" nodeType="withGroup">
                            <p:stCondLst>
                              <p:cond delay="0"/>
                            </p:stCondLst>
                            <p:childTnLst>
                              <p:par>
                                <p:cTn id="9" presetID="8" presetClass="entr" presetSubtype="16" fill="hold" grpId="0" nodeType="clickEffect">
                                  <p:stCondLst>
                                    <p:cond delay="0"/>
                                  </p:stCondLst>
                                  <p:childTnLst>
                                    <p:set>
                                      <p:cBhvr>
                                        <p:cTn id="10" dur="1" fill="hold">
                                          <p:stCondLst>
                                            <p:cond delay="0"/>
                                          </p:stCondLst>
                                        </p:cTn>
                                        <p:tgtEl>
                                          <p:spTgt spid="5124"/>
                                        </p:tgtEl>
                                        <p:attrNameLst>
                                          <p:attrName>style.visibility</p:attrName>
                                        </p:attrNameLst>
                                      </p:cBhvr>
                                      <p:to>
                                        <p:strVal val="visible"/>
                                      </p:to>
                                    </p:set>
                                    <p:animEffect transition="in" filter="diamond(in)">
                                      <p:cBhvr>
                                        <p:cTn id="11" dur="10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nimBg="1"/>
      <p:bldP spid="51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a:r>
              <a:rPr lang="en-US" altLang="en-US"/>
              <a:t>Monotonicity</a:t>
            </a:r>
          </a:p>
        </p:txBody>
      </p:sp>
      <p:sp>
        <p:nvSpPr>
          <p:cNvPr id="6147" name="Rectangle 3"/>
          <p:cNvSpPr>
            <a:spLocks noGrp="1" noChangeArrowheads="1"/>
          </p:cNvSpPr>
          <p:nvPr>
            <p:ph type="body" idx="1"/>
          </p:nvPr>
        </p:nvSpPr>
        <p:spPr/>
        <p:txBody>
          <a:bodyPr/>
          <a:lstStyle/>
          <a:p>
            <a:r>
              <a:rPr lang="en-US" altLang="en-US"/>
              <a:t>Consistently find the minimal path to each state encountered in the search.</a:t>
            </a:r>
          </a:p>
          <a:p>
            <a:r>
              <a:rPr lang="en-US" altLang="en-US"/>
              <a:t>For best-first-search with monotonic heuristic, allows any state rediscovered to be dropped immediately without updating open and closed because heuristics always find shortest path the first time the state is visited.</a:t>
            </a:r>
          </a:p>
          <a:p>
            <a:r>
              <a:rPr lang="en-US" altLang="en-US"/>
              <a:t>Monotone heuristic h is A*and admissible</a:t>
            </a:r>
          </a:p>
          <a:p>
            <a:endParaRPr lang="en-US" altLang="en-US"/>
          </a:p>
        </p:txBody>
      </p:sp>
    </p:spTree>
    <p:extLst>
      <p:ext uri="{BB962C8B-B14F-4D97-AF65-F5344CB8AC3E}">
        <p14:creationId xmlns:p14="http://schemas.microsoft.com/office/powerpoint/2010/main" val="3833370010"/>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73175"/>
            <a:ext cx="7543800" cy="3832225"/>
          </a:xfrm>
          <a:prstGeom prst="rect">
            <a:avLst/>
          </a:prstGeom>
          <a:noFill/>
          <a:extLst>
            <a:ext uri="{909E8E84-426E-40DD-AFC4-6F175D3DCCD1}">
              <a14:hiddenFill xmlns:a14="http://schemas.microsoft.com/office/drawing/2010/main">
                <a:solidFill>
                  <a:srgbClr val="FFFFFF"/>
                </a:solidFill>
              </a14:hiddenFill>
            </a:ext>
          </a:extLst>
        </p:spPr>
      </p:pic>
      <p:sp>
        <p:nvSpPr>
          <p:cNvPr id="7171" name="Oval 3"/>
          <p:cNvSpPr>
            <a:spLocks noChangeArrowheads="1"/>
          </p:cNvSpPr>
          <p:nvPr/>
        </p:nvSpPr>
        <p:spPr bwMode="auto">
          <a:xfrm>
            <a:off x="5486400" y="4648200"/>
            <a:ext cx="685800" cy="762000"/>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7172" name="Oval 4"/>
          <p:cNvSpPr>
            <a:spLocks noChangeArrowheads="1"/>
          </p:cNvSpPr>
          <p:nvPr/>
        </p:nvSpPr>
        <p:spPr bwMode="auto">
          <a:xfrm>
            <a:off x="4038600" y="3886200"/>
            <a:ext cx="990600" cy="533400"/>
          </a:xfrm>
          <a:prstGeom prst="ellipse">
            <a:avLst/>
          </a:prstGeom>
          <a:noFill/>
          <a:ln w="9525">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7173" name="Line 5"/>
          <p:cNvSpPr>
            <a:spLocks noChangeShapeType="1"/>
          </p:cNvSpPr>
          <p:nvPr/>
        </p:nvSpPr>
        <p:spPr bwMode="auto">
          <a:xfrm flipH="1" flipV="1">
            <a:off x="3810000" y="3581400"/>
            <a:ext cx="533400" cy="304800"/>
          </a:xfrm>
          <a:prstGeom prst="line">
            <a:avLst/>
          </a:prstGeom>
          <a:noFill/>
          <a:ln w="9525">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Tree>
    <p:extLst>
      <p:ext uri="{BB962C8B-B14F-4D97-AF65-F5344CB8AC3E}">
        <p14:creationId xmlns:p14="http://schemas.microsoft.com/office/powerpoint/2010/main" val="1597502457"/>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lgn="ctr"/>
            <a:r>
              <a:rPr lang="en-US" altLang="en-US" dirty="0"/>
              <a:t>Informed Heuristics</a:t>
            </a:r>
          </a:p>
        </p:txBody>
      </p:sp>
      <p:pic>
        <p:nvPicPr>
          <p:cNvPr id="4813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66800" y="1371600"/>
            <a:ext cx="7391400" cy="2057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34" name="Text Box 6"/>
          <p:cNvSpPr txBox="1">
            <a:spLocks noChangeArrowheads="1"/>
          </p:cNvSpPr>
          <p:nvPr/>
        </p:nvSpPr>
        <p:spPr bwMode="auto">
          <a:xfrm>
            <a:off x="762000" y="3733800"/>
            <a:ext cx="7848600"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a:t>eg. Compare the heuristics proposed for solving the 8-puzzle</a:t>
            </a:r>
          </a:p>
          <a:p>
            <a:pPr>
              <a:spcBef>
                <a:spcPct val="50000"/>
              </a:spcBef>
              <a:buFontTx/>
              <a:buChar char="•"/>
            </a:pPr>
            <a:r>
              <a:rPr lang="en-US" altLang="en-US"/>
              <a:t>h1=&gt; breadth-first-search with heuristic h1(x)=0 for all states x</a:t>
            </a:r>
          </a:p>
          <a:p>
            <a:pPr>
              <a:spcBef>
                <a:spcPct val="50000"/>
              </a:spcBef>
              <a:buFontTx/>
              <a:buChar char="•"/>
            </a:pPr>
            <a:r>
              <a:rPr lang="en-US" altLang="en-US"/>
              <a:t>h2=&gt; #of tiles out of place</a:t>
            </a:r>
          </a:p>
          <a:p>
            <a:pPr>
              <a:spcBef>
                <a:spcPct val="50000"/>
              </a:spcBef>
              <a:buFontTx/>
              <a:buChar char="•"/>
            </a:pPr>
            <a:r>
              <a:rPr lang="en-US" altLang="en-US"/>
              <a:t>h1&lt;= h2 &lt;= h*, h2 is more informed and evaluates many fewer states</a:t>
            </a:r>
          </a:p>
          <a:p>
            <a:pPr>
              <a:spcBef>
                <a:spcPct val="50000"/>
              </a:spcBef>
              <a:buFontTx/>
              <a:buChar char="•"/>
            </a:pPr>
            <a:r>
              <a:rPr lang="en-US" altLang="en-US"/>
              <a:t>The more informed an A* algorithm, the less of the space it needs to expand to get the optimal solution</a:t>
            </a:r>
          </a:p>
          <a:p>
            <a:pPr>
              <a:spcBef>
                <a:spcPct val="50000"/>
              </a:spcBef>
              <a:buFontTx/>
              <a:buChar char="•"/>
            </a:pPr>
            <a:endParaRPr lang="en-US" altLang="en-US"/>
          </a:p>
        </p:txBody>
      </p:sp>
      <p:sp>
        <p:nvSpPr>
          <p:cNvPr id="48135" name="Oval 7"/>
          <p:cNvSpPr>
            <a:spLocks noChangeArrowheads="1"/>
          </p:cNvSpPr>
          <p:nvPr/>
        </p:nvSpPr>
        <p:spPr bwMode="auto">
          <a:xfrm>
            <a:off x="3810000" y="2895600"/>
            <a:ext cx="2514600" cy="7620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2895054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8135"/>
                                        </p:tgtEl>
                                        <p:attrNameLst>
                                          <p:attrName>style.visibility</p:attrName>
                                        </p:attrNameLst>
                                      </p:cBhvr>
                                      <p:to>
                                        <p:strVal val="visible"/>
                                      </p:to>
                                    </p:set>
                                    <p:animEffect transition="in" filter="checkerboard(across)">
                                      <p:cBhvr>
                                        <p:cTn id="7" dur="500"/>
                                        <p:tgtEl>
                                          <p:spTgt spid="4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28600" y="5407025"/>
            <a:ext cx="8915400" cy="126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37160" rIns="0" bIns="137160">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lnSpc>
                <a:spcPct val="90000"/>
              </a:lnSpc>
            </a:pPr>
            <a:r>
              <a:rPr lang="en-US" altLang="en-US"/>
              <a:t>Comparison of state space searched using heuristic search with space searched by </a:t>
            </a:r>
          </a:p>
          <a:p>
            <a:pPr algn="ctr" eaLnBrk="0" hangingPunct="0">
              <a:lnSpc>
                <a:spcPct val="90000"/>
              </a:lnSpc>
            </a:pPr>
            <a:r>
              <a:rPr lang="en-US" altLang="en-US"/>
              <a:t>breadth-first search. The portion of the graph searched heuristically is shaded. </a:t>
            </a:r>
          </a:p>
          <a:p>
            <a:pPr algn="ctr" eaLnBrk="0" hangingPunct="0">
              <a:lnSpc>
                <a:spcPct val="90000"/>
              </a:lnSpc>
            </a:pPr>
            <a:r>
              <a:rPr lang="en-US" altLang="en-US"/>
              <a:t>The optimal solution path is in bold. Heuristic used is </a:t>
            </a:r>
            <a:r>
              <a:rPr lang="en-US" altLang="en-US" b="1"/>
              <a:t>f(n) = g(n) + h(n)</a:t>
            </a:r>
            <a:r>
              <a:rPr lang="en-US" altLang="en-US"/>
              <a:t> where </a:t>
            </a:r>
            <a:r>
              <a:rPr lang="en-US" altLang="en-US" b="1"/>
              <a:t>h(n)</a:t>
            </a:r>
            <a:r>
              <a:rPr lang="en-US" altLang="en-US"/>
              <a:t> is</a:t>
            </a:r>
          </a:p>
          <a:p>
            <a:pPr algn="ctr" eaLnBrk="0" hangingPunct="0">
              <a:lnSpc>
                <a:spcPct val="90000"/>
              </a:lnSpc>
            </a:pPr>
            <a:r>
              <a:rPr lang="en-US" altLang="en-US"/>
              <a:t> tiles out of place.</a:t>
            </a:r>
          </a:p>
        </p:txBody>
      </p:sp>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488" y="263525"/>
            <a:ext cx="8621712" cy="514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249059"/>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457200" y="838200"/>
            <a:ext cx="8229600" cy="1139825"/>
          </a:xfrm>
        </p:spPr>
        <p:txBody>
          <a:bodyPr/>
          <a:lstStyle/>
          <a:p>
            <a:pPr algn="ctr"/>
            <a:r>
              <a:rPr lang="en-US" altLang="en-US"/>
              <a:t>Heuristics in Games</a:t>
            </a:r>
          </a:p>
        </p:txBody>
      </p:sp>
      <p:sp>
        <p:nvSpPr>
          <p:cNvPr id="50179" name="Rectangle 3"/>
          <p:cNvSpPr>
            <a:spLocks noGrp="1" noChangeArrowheads="1"/>
          </p:cNvSpPr>
          <p:nvPr>
            <p:ph type="body" idx="1"/>
          </p:nvPr>
        </p:nvSpPr>
        <p:spPr>
          <a:xfrm>
            <a:off x="1066800" y="2209800"/>
            <a:ext cx="7315200" cy="3048000"/>
          </a:xfrm>
        </p:spPr>
        <p:txBody>
          <a:bodyPr>
            <a:normAutofit lnSpcReduction="10000"/>
          </a:bodyPr>
          <a:lstStyle/>
          <a:p>
            <a:r>
              <a:rPr lang="en-US" altLang="en-US"/>
              <a:t>Game player must use heuristics to guide play along  a path to a winning state</a:t>
            </a:r>
          </a:p>
          <a:p>
            <a:r>
              <a:rPr lang="en-US" altLang="en-US"/>
              <a:t>Eg. game nim, player divide tokens into 2 piles of different size; eg. 6 token =&gt; 1-5,2-4 NOT 3-3</a:t>
            </a:r>
          </a:p>
        </p:txBody>
      </p:sp>
      <p:sp>
        <p:nvSpPr>
          <p:cNvPr id="50180" name="Oval 4"/>
          <p:cNvSpPr>
            <a:spLocks noChangeArrowheads="1"/>
          </p:cNvSpPr>
          <p:nvPr/>
        </p:nvSpPr>
        <p:spPr bwMode="auto">
          <a:xfrm>
            <a:off x="6172200" y="2590800"/>
            <a:ext cx="1828800" cy="9144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3414229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diamond(in)">
                                      <p:cBhvr>
                                        <p:cTn id="7" dur="2000"/>
                                        <p:tgtEl>
                                          <p:spTgt spid="50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flipH="1">
            <a:off x="534988" y="5851525"/>
            <a:ext cx="8380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663700">
              <a:defRPr>
                <a:solidFill>
                  <a:schemeClr val="tx1"/>
                </a:solidFill>
                <a:latin typeface="Arial" panose="020B0604020202020204" pitchFamily="34" charset="0"/>
                <a:cs typeface="Arial" panose="020B0604020202020204" pitchFamily="34" charset="0"/>
              </a:defRPr>
            </a:lvl2pPr>
            <a:lvl3pPr marL="1778000">
              <a:defRPr>
                <a:solidFill>
                  <a:schemeClr val="tx1"/>
                </a:solidFill>
                <a:latin typeface="Arial" panose="020B0604020202020204" pitchFamily="34" charset="0"/>
                <a:cs typeface="Arial" panose="020B0604020202020204" pitchFamily="34" charset="0"/>
              </a:defRPr>
            </a:lvl3pPr>
            <a:lvl4pPr marL="1892300">
              <a:defRPr>
                <a:solidFill>
                  <a:schemeClr val="tx1"/>
                </a:solidFill>
                <a:latin typeface="Arial" panose="020B0604020202020204" pitchFamily="34" charset="0"/>
                <a:cs typeface="Arial" panose="020B0604020202020204" pitchFamily="34" charset="0"/>
              </a:defRPr>
            </a:lvl4pPr>
            <a:lvl5pPr marL="2006600">
              <a:defRPr>
                <a:solidFill>
                  <a:schemeClr val="tx1"/>
                </a:solidFill>
                <a:latin typeface="Arial" panose="020B0604020202020204" pitchFamily="34" charset="0"/>
                <a:cs typeface="Arial" panose="020B0604020202020204" pitchFamily="34" charset="0"/>
              </a:defRPr>
            </a:lvl5pPr>
            <a:lvl6pPr marL="24638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9210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3782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8354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sz="2000"/>
              <a:t>State space for a variant of nim. Each state partitions the seven matches into one or more piles.</a:t>
            </a:r>
            <a:endParaRPr lang="en-US" altLang="en-US" sz="2400"/>
          </a:p>
        </p:txBody>
      </p:sp>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52400"/>
            <a:ext cx="7391400" cy="5486400"/>
          </a:xfrm>
          <a:prstGeom prst="rect">
            <a:avLst/>
          </a:prstGeom>
          <a:noFill/>
          <a:extLst>
            <a:ext uri="{909E8E84-426E-40DD-AFC4-6F175D3DCCD1}">
              <a14:hiddenFill xmlns:a14="http://schemas.microsoft.com/office/drawing/2010/main">
                <a:solidFill>
                  <a:srgbClr val="FFFFFF"/>
                </a:solidFill>
              </a14:hiddenFill>
            </a:ext>
          </a:extLst>
        </p:spPr>
      </p:pic>
      <p:sp>
        <p:nvSpPr>
          <p:cNvPr id="12292" name="Oval 4"/>
          <p:cNvSpPr>
            <a:spLocks noChangeArrowheads="1"/>
          </p:cNvSpPr>
          <p:nvPr/>
        </p:nvSpPr>
        <p:spPr bwMode="auto">
          <a:xfrm>
            <a:off x="5867400" y="1295400"/>
            <a:ext cx="5334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2293" name="Oval 5"/>
          <p:cNvSpPr>
            <a:spLocks noChangeArrowheads="1"/>
          </p:cNvSpPr>
          <p:nvPr/>
        </p:nvSpPr>
        <p:spPr bwMode="auto">
          <a:xfrm>
            <a:off x="762000" y="2286000"/>
            <a:ext cx="8382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2294" name="Oval 6"/>
          <p:cNvSpPr>
            <a:spLocks noChangeArrowheads="1"/>
          </p:cNvSpPr>
          <p:nvPr/>
        </p:nvSpPr>
        <p:spPr bwMode="auto">
          <a:xfrm>
            <a:off x="3581400" y="3352800"/>
            <a:ext cx="1066800" cy="3048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33511671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12292"/>
                                        </p:tgtEl>
                                      </p:cBhvr>
                                    </p:animEffect>
                                    <p:set>
                                      <p:cBhvr>
                                        <p:cTn id="7" dur="1" fill="hold">
                                          <p:stCondLst>
                                            <p:cond delay="499"/>
                                          </p:stCondLst>
                                        </p:cTn>
                                        <p:tgtEl>
                                          <p:spTgt spid="1229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xit" presetSubtype="16" fill="hold" grpId="0" nodeType="clickEffect">
                                  <p:stCondLst>
                                    <p:cond delay="0"/>
                                  </p:stCondLst>
                                  <p:childTnLst>
                                    <p:animEffect transition="out" filter="diamond(in)">
                                      <p:cBhvr>
                                        <p:cTn id="11" dur="2000"/>
                                        <p:tgtEl>
                                          <p:spTgt spid="12293"/>
                                        </p:tgtEl>
                                      </p:cBhvr>
                                    </p:animEffect>
                                    <p:set>
                                      <p:cBhvr>
                                        <p:cTn id="12" dur="1" fill="hold">
                                          <p:stCondLst>
                                            <p:cond delay="1999"/>
                                          </p:stCondLst>
                                        </p:cTn>
                                        <p:tgtEl>
                                          <p:spTgt spid="12293"/>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12294"/>
                                        </p:tgtEl>
                                      </p:cBhvr>
                                    </p:animEffect>
                                    <p:set>
                                      <p:cBhvr>
                                        <p:cTn id="17" dur="1" fill="hold">
                                          <p:stCondLst>
                                            <p:cond delay="499"/>
                                          </p:stCondLst>
                                        </p:cTn>
                                        <p:tgtEl>
                                          <p:spTgt spid="122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p:bldP spid="12293" grpId="0" animBg="1"/>
      <p:bldP spid="1229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ChangeArrowheads="1"/>
          </p:cNvSpPr>
          <p:nvPr/>
        </p:nvSpPr>
        <p:spPr bwMode="auto">
          <a:xfrm>
            <a:off x="0" y="277813"/>
            <a:ext cx="91440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4200">
                <a:solidFill>
                  <a:schemeClr val="tx2"/>
                </a:solidFill>
                <a:latin typeface="Garamond" panose="02020404030301010803" pitchFamily="18" charset="0"/>
                <a:cs typeface="Arial" panose="020B0604020202020204" pitchFamily="34" charset="0"/>
              </a:defRPr>
            </a:lvl1pPr>
            <a:lvl2pPr>
              <a:defRPr sz="4200">
                <a:solidFill>
                  <a:schemeClr val="tx2"/>
                </a:solidFill>
                <a:latin typeface="Garamond" panose="02020404030301010803" pitchFamily="18" charset="0"/>
                <a:cs typeface="Arial" panose="020B0604020202020204" pitchFamily="34" charset="0"/>
              </a:defRPr>
            </a:lvl2pPr>
            <a:lvl3pPr>
              <a:defRPr sz="4200">
                <a:solidFill>
                  <a:schemeClr val="tx2"/>
                </a:solidFill>
                <a:latin typeface="Garamond" panose="02020404030301010803" pitchFamily="18" charset="0"/>
                <a:cs typeface="Arial" panose="020B0604020202020204" pitchFamily="34" charset="0"/>
              </a:defRPr>
            </a:lvl3pPr>
            <a:lvl4pPr>
              <a:defRPr sz="4200">
                <a:solidFill>
                  <a:schemeClr val="tx2"/>
                </a:solidFill>
                <a:latin typeface="Garamond" panose="02020404030301010803" pitchFamily="18" charset="0"/>
                <a:cs typeface="Arial" panose="020B0604020202020204" pitchFamily="34" charset="0"/>
              </a:defRPr>
            </a:lvl4pPr>
            <a:lvl5pPr>
              <a:defRPr sz="4200">
                <a:solidFill>
                  <a:schemeClr val="tx2"/>
                </a:solidFill>
                <a:latin typeface="Garamond" panose="02020404030301010803" pitchFamily="18" charset="0"/>
                <a:cs typeface="Arial" panose="020B0604020202020204" pitchFamily="34" charset="0"/>
              </a:defRPr>
            </a:lvl5pPr>
            <a:lvl6pPr marL="4572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6pPr>
            <a:lvl7pPr marL="9144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7pPr>
            <a:lvl8pPr marL="13716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8pPr>
            <a:lvl9pPr marL="1828800" fontAlgn="base">
              <a:spcBef>
                <a:spcPct val="0"/>
              </a:spcBef>
              <a:spcAft>
                <a:spcPct val="0"/>
              </a:spcAft>
              <a:defRPr sz="4200">
                <a:solidFill>
                  <a:schemeClr val="tx2"/>
                </a:solidFill>
                <a:latin typeface="Garamond" panose="02020404030301010803" pitchFamily="18" charset="0"/>
                <a:cs typeface="Arial" panose="020B0604020202020204" pitchFamily="34" charset="0"/>
              </a:defRPr>
            </a:lvl9pPr>
          </a:lstStyle>
          <a:p>
            <a:r>
              <a:rPr lang="en-US" altLang="en-US" sz="3800"/>
              <a:t>Heuristics in Games-</a:t>
            </a:r>
            <a:r>
              <a:rPr lang="en-US" altLang="en-US" sz="3800" b="1">
                <a:solidFill>
                  <a:srgbClr val="FF0066"/>
                </a:solidFill>
              </a:rPr>
              <a:t>MINIMAX procedure </a:t>
            </a:r>
          </a:p>
        </p:txBody>
      </p:sp>
      <p:sp>
        <p:nvSpPr>
          <p:cNvPr id="52229" name="Rectangle 5"/>
          <p:cNvSpPr>
            <a:spLocks noChangeArrowheads="1"/>
          </p:cNvSpPr>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r>
              <a:rPr lang="en-US" altLang="en-US"/>
              <a:t>Predicting opponent’s behavior, use </a:t>
            </a:r>
            <a:r>
              <a:rPr lang="en-US" altLang="en-US" b="1">
                <a:solidFill>
                  <a:srgbClr val="FF0066"/>
                </a:solidFill>
              </a:rPr>
              <a:t>MINIMAX procedure </a:t>
            </a:r>
            <a:r>
              <a:rPr lang="en-US" altLang="en-US"/>
              <a:t> to search the game space</a:t>
            </a:r>
          </a:p>
          <a:p>
            <a:r>
              <a:rPr lang="en-US" altLang="en-US"/>
              <a:t>Rules of MINIMAX: </a:t>
            </a:r>
          </a:p>
          <a:p>
            <a:pPr lvl="1"/>
            <a:r>
              <a:rPr lang="en-US" altLang="en-US"/>
              <a:t>If parent state =MAX, give max value among children</a:t>
            </a:r>
          </a:p>
          <a:p>
            <a:pPr lvl="1"/>
            <a:r>
              <a:rPr lang="en-US" altLang="en-US"/>
              <a:t>If parent state=MIN, give min value of its children</a:t>
            </a:r>
          </a:p>
          <a:p>
            <a:pPr lvl="1"/>
            <a:r>
              <a:rPr lang="en-US" altLang="en-US"/>
              <a:t>Win for MAX (node=1), Win for MIN (node=0)</a:t>
            </a:r>
          </a:p>
          <a:p>
            <a:pPr lvl="1"/>
            <a:endParaRPr lang="en-US" altLang="en-US"/>
          </a:p>
          <a:p>
            <a:endParaRPr lang="en-US" altLang="en-US"/>
          </a:p>
        </p:txBody>
      </p:sp>
    </p:spTree>
    <p:extLst>
      <p:ext uri="{BB962C8B-B14F-4D97-AF65-F5344CB8AC3E}">
        <p14:creationId xmlns:p14="http://schemas.microsoft.com/office/powerpoint/2010/main" val="38858730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b="1">
                <a:solidFill>
                  <a:srgbClr val="FF0066"/>
                </a:solidFill>
              </a:rPr>
              <a:t>Minimaxing to fixed Ply depth</a:t>
            </a:r>
          </a:p>
        </p:txBody>
      </p:sp>
      <p:sp>
        <p:nvSpPr>
          <p:cNvPr id="53251" name="Rectangle 3"/>
          <p:cNvSpPr>
            <a:spLocks noGrp="1" noChangeArrowheads="1"/>
          </p:cNvSpPr>
          <p:nvPr>
            <p:ph type="body" idx="1"/>
          </p:nvPr>
        </p:nvSpPr>
        <p:spPr>
          <a:xfrm>
            <a:off x="381000" y="1066800"/>
            <a:ext cx="8763000" cy="5257800"/>
          </a:xfrm>
        </p:spPr>
        <p:txBody>
          <a:bodyPr/>
          <a:lstStyle/>
          <a:p>
            <a:pPr>
              <a:lnSpc>
                <a:spcPct val="90000"/>
              </a:lnSpc>
            </a:pPr>
            <a:r>
              <a:rPr lang="en-US" altLang="en-US"/>
              <a:t>In complicated games, it is impossible to expand the state graph out to leaf nodes.</a:t>
            </a:r>
          </a:p>
          <a:p>
            <a:pPr>
              <a:lnSpc>
                <a:spcPct val="90000"/>
              </a:lnSpc>
            </a:pPr>
            <a:r>
              <a:rPr lang="en-US" altLang="en-US"/>
              <a:t>Instead, state space is searched to predefined number of levels, called </a:t>
            </a:r>
            <a:r>
              <a:rPr lang="en-US" altLang="en-US" b="1" i="1">
                <a:solidFill>
                  <a:srgbClr val="FF0066"/>
                </a:solidFill>
              </a:rPr>
              <a:t>n-ply-look-ahead.</a:t>
            </a:r>
            <a:endParaRPr lang="en-US" altLang="en-US" b="1">
              <a:solidFill>
                <a:srgbClr val="FF0066"/>
              </a:solidFill>
            </a:endParaRPr>
          </a:p>
          <a:p>
            <a:pPr>
              <a:lnSpc>
                <a:spcPct val="90000"/>
              </a:lnSpc>
            </a:pPr>
            <a:r>
              <a:rPr lang="en-US" altLang="en-US" i="1"/>
              <a:t>Look-ahead</a:t>
            </a:r>
            <a:r>
              <a:rPr lang="en-US" altLang="en-US"/>
              <a:t> allow the heuristic to be applied over greater area of space.</a:t>
            </a:r>
          </a:p>
          <a:p>
            <a:pPr>
              <a:lnSpc>
                <a:spcPct val="90000"/>
              </a:lnSpc>
            </a:pPr>
            <a:r>
              <a:rPr lang="en-US" altLang="en-US"/>
              <a:t>How?</a:t>
            </a:r>
          </a:p>
          <a:p>
            <a:pPr lvl="1">
              <a:lnSpc>
                <a:spcPct val="90000"/>
              </a:lnSpc>
            </a:pPr>
            <a:r>
              <a:rPr lang="en-US" altLang="en-US"/>
              <a:t>States on that ply are measured heuristically,</a:t>
            </a:r>
          </a:p>
          <a:p>
            <a:pPr lvl="1">
              <a:lnSpc>
                <a:spcPct val="90000"/>
              </a:lnSpc>
            </a:pPr>
            <a:r>
              <a:rPr lang="en-US" altLang="en-US"/>
              <a:t> the values are propagated back up using minimax, </a:t>
            </a:r>
          </a:p>
          <a:p>
            <a:pPr lvl="1">
              <a:lnSpc>
                <a:spcPct val="90000"/>
              </a:lnSpc>
            </a:pPr>
            <a:r>
              <a:rPr lang="en-US" altLang="en-US"/>
              <a:t>Search algo uses these values to </a:t>
            </a:r>
            <a:r>
              <a:rPr lang="en-US" altLang="en-US">
                <a:solidFill>
                  <a:srgbClr val="FF0066"/>
                </a:solidFill>
              </a:rPr>
              <a:t>select possible next moves</a:t>
            </a:r>
          </a:p>
        </p:txBody>
      </p:sp>
      <p:sp>
        <p:nvSpPr>
          <p:cNvPr id="53252" name="Oval 4"/>
          <p:cNvSpPr>
            <a:spLocks noChangeArrowheads="1"/>
          </p:cNvSpPr>
          <p:nvPr/>
        </p:nvSpPr>
        <p:spPr bwMode="auto">
          <a:xfrm>
            <a:off x="609600" y="2743200"/>
            <a:ext cx="7924800" cy="12192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21301720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457200" y="365125"/>
            <a:ext cx="8686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0" hangingPunct="0"/>
            <a:r>
              <a:rPr lang="en-US" altLang="en-US" sz="2000"/>
              <a:t>Minimax to a hypothetical state space. Leaf states show heuristic values; internal states show backed-up values.</a:t>
            </a:r>
            <a:endParaRPr lang="en-US" altLang="en-US" sz="2400"/>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495425"/>
            <a:ext cx="8666163" cy="4068763"/>
          </a:xfrm>
          <a:prstGeom prst="rect">
            <a:avLst/>
          </a:prstGeom>
          <a:noFill/>
          <a:extLst>
            <a:ext uri="{909E8E84-426E-40DD-AFC4-6F175D3DCCD1}">
              <a14:hiddenFill xmlns:a14="http://schemas.microsoft.com/office/drawing/2010/main">
                <a:solidFill>
                  <a:srgbClr val="FFFFFF"/>
                </a:solidFill>
              </a14:hiddenFill>
            </a:ext>
          </a:extLst>
        </p:spPr>
      </p:pic>
      <p:sp>
        <p:nvSpPr>
          <p:cNvPr id="16388" name="Text Box 4"/>
          <p:cNvSpPr txBox="1">
            <a:spLocks noChangeArrowheads="1"/>
          </p:cNvSpPr>
          <p:nvPr/>
        </p:nvSpPr>
        <p:spPr bwMode="auto">
          <a:xfrm>
            <a:off x="990600" y="571500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Heuristic values</a:t>
            </a:r>
          </a:p>
        </p:txBody>
      </p:sp>
      <p:sp>
        <p:nvSpPr>
          <p:cNvPr id="16389" name="Line 5"/>
          <p:cNvSpPr>
            <a:spLocks noChangeShapeType="1"/>
          </p:cNvSpPr>
          <p:nvPr/>
        </p:nvSpPr>
        <p:spPr bwMode="auto">
          <a:xfrm flipV="1">
            <a:off x="2819400" y="5562600"/>
            <a:ext cx="1524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6390" name="Text Box 6"/>
          <p:cNvSpPr txBox="1">
            <a:spLocks noChangeArrowheads="1"/>
          </p:cNvSpPr>
          <p:nvPr/>
        </p:nvSpPr>
        <p:spPr bwMode="auto">
          <a:xfrm>
            <a:off x="7391400" y="14478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If parent =</a:t>
            </a:r>
            <a:r>
              <a:rPr lang="en-US" altLang="en-US" b="1"/>
              <a:t>MAX</a:t>
            </a:r>
            <a:r>
              <a:rPr lang="en-US" altLang="en-US"/>
              <a:t>,assign max value of its children</a:t>
            </a:r>
          </a:p>
        </p:txBody>
      </p:sp>
      <p:sp>
        <p:nvSpPr>
          <p:cNvPr id="16391" name="Line 7"/>
          <p:cNvSpPr>
            <a:spLocks noChangeShapeType="1"/>
          </p:cNvSpPr>
          <p:nvPr/>
        </p:nvSpPr>
        <p:spPr bwMode="auto">
          <a:xfrm flipH="1" flipV="1">
            <a:off x="5486400" y="1905000"/>
            <a:ext cx="1600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6392" name="Text Box 8"/>
          <p:cNvSpPr txBox="1">
            <a:spLocks noChangeArrowheads="1"/>
          </p:cNvSpPr>
          <p:nvPr/>
        </p:nvSpPr>
        <p:spPr bwMode="auto">
          <a:xfrm>
            <a:off x="1447800" y="1676400"/>
            <a:ext cx="1752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If parent =</a:t>
            </a:r>
            <a:r>
              <a:rPr lang="en-US" altLang="en-US" b="1"/>
              <a:t>MIN</a:t>
            </a:r>
            <a:r>
              <a:rPr lang="en-US" altLang="en-US"/>
              <a:t>,assign min value of its children</a:t>
            </a:r>
          </a:p>
        </p:txBody>
      </p:sp>
      <p:sp>
        <p:nvSpPr>
          <p:cNvPr id="16393" name="Line 9"/>
          <p:cNvSpPr>
            <a:spLocks noChangeShapeType="1"/>
          </p:cNvSpPr>
          <p:nvPr/>
        </p:nvSpPr>
        <p:spPr bwMode="auto">
          <a:xfrm>
            <a:off x="3048000" y="2133600"/>
            <a:ext cx="4572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6394" name="Oval 10"/>
          <p:cNvSpPr>
            <a:spLocks noChangeArrowheads="1"/>
          </p:cNvSpPr>
          <p:nvPr/>
        </p:nvSpPr>
        <p:spPr bwMode="auto">
          <a:xfrm>
            <a:off x="1981200" y="5105400"/>
            <a:ext cx="6629400" cy="6096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6395" name="Line 11"/>
          <p:cNvSpPr>
            <a:spLocks noChangeShapeType="1"/>
          </p:cNvSpPr>
          <p:nvPr/>
        </p:nvSpPr>
        <p:spPr bwMode="auto">
          <a:xfrm flipV="1">
            <a:off x="8675688" y="3429000"/>
            <a:ext cx="0" cy="1800225"/>
          </a:xfrm>
          <a:prstGeom prst="line">
            <a:avLst/>
          </a:prstGeom>
          <a:noFill/>
          <a:ln w="38100">
            <a:solidFill>
              <a:srgbClr val="FF0066"/>
            </a:solidFill>
            <a:round/>
            <a:headEnd type="oval"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Tree>
    <p:extLst>
      <p:ext uri="{BB962C8B-B14F-4D97-AF65-F5344CB8AC3E}">
        <p14:creationId xmlns:p14="http://schemas.microsoft.com/office/powerpoint/2010/main" val="118148059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394"/>
                                        </p:tgtEl>
                                        <p:attrNameLst>
                                          <p:attrName>style.visibility</p:attrName>
                                        </p:attrNameLst>
                                      </p:cBhvr>
                                      <p:to>
                                        <p:strVal val="visible"/>
                                      </p:to>
                                    </p:set>
                                    <p:animEffect transition="in" filter="checkerboard(across)">
                                      <p:cBhvr>
                                        <p:cTn id="7" dur="500"/>
                                        <p:tgtEl>
                                          <p:spTgt spid="16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248E4F0-DA2B-40B1-8636-F7E74C0E7E09}" type="slidenum">
              <a:rPr lang="en-US" altLang="en-US"/>
              <a:pPr/>
              <a:t>16</a:t>
            </a:fld>
            <a:endParaRPr lang="en-US" altLang="en-US"/>
          </a:p>
        </p:txBody>
      </p:sp>
      <p:sp>
        <p:nvSpPr>
          <p:cNvPr id="12290" name="Rectangle 2"/>
          <p:cNvSpPr>
            <a:spLocks noGrp="1" noChangeArrowheads="1"/>
          </p:cNvSpPr>
          <p:nvPr>
            <p:ph type="title"/>
          </p:nvPr>
        </p:nvSpPr>
        <p:spPr/>
        <p:txBody>
          <a:bodyPr/>
          <a:lstStyle/>
          <a:p>
            <a:r>
              <a:rPr lang="en-US" altLang="en-US" dirty="0"/>
              <a:t>PBVs</a:t>
            </a:r>
          </a:p>
        </p:txBody>
      </p:sp>
      <p:sp>
        <p:nvSpPr>
          <p:cNvPr id="12291" name="Rectangle 3"/>
          <p:cNvSpPr>
            <a:spLocks noGrp="1" noChangeArrowheads="1"/>
          </p:cNvSpPr>
          <p:nvPr>
            <p:ph type="body" idx="1"/>
          </p:nvPr>
        </p:nvSpPr>
        <p:spPr/>
        <p:txBody>
          <a:bodyPr>
            <a:normAutofit fontScale="92500"/>
          </a:bodyPr>
          <a:lstStyle/>
          <a:p>
            <a:r>
              <a:rPr lang="en-US" altLang="en-US" dirty="0"/>
              <a:t>A </a:t>
            </a:r>
            <a:r>
              <a:rPr lang="en-US" altLang="en-US" dirty="0">
                <a:solidFill>
                  <a:schemeClr val="tx2"/>
                </a:solidFill>
              </a:rPr>
              <a:t>PBV</a:t>
            </a:r>
            <a:r>
              <a:rPr lang="en-US" altLang="en-US" dirty="0"/>
              <a:t> is a </a:t>
            </a:r>
            <a:r>
              <a:rPr lang="en-US" altLang="en-US" dirty="0">
                <a:solidFill>
                  <a:schemeClr val="tx2"/>
                </a:solidFill>
              </a:rPr>
              <a:t>preliminary backed-up value</a:t>
            </a:r>
          </a:p>
          <a:p>
            <a:pPr lvl="1"/>
            <a:r>
              <a:rPr lang="en-US" altLang="en-US" dirty="0"/>
              <a:t>Explore down to a given level using depth-first search</a:t>
            </a:r>
          </a:p>
          <a:p>
            <a:pPr lvl="1"/>
            <a:r>
              <a:rPr lang="en-US" altLang="en-US" dirty="0"/>
              <a:t>As you reach each lowest-level node, evaluate it using your heuristic function</a:t>
            </a:r>
          </a:p>
          <a:p>
            <a:pPr lvl="1"/>
            <a:r>
              <a:rPr lang="en-US" altLang="en-US" dirty="0"/>
              <a:t>Back up values to the next higher node, according to the following rules:</a:t>
            </a:r>
          </a:p>
          <a:p>
            <a:pPr lvl="2"/>
            <a:r>
              <a:rPr lang="en-US" altLang="en-US" dirty="0"/>
              <a:t>If it’s your move, bring up the largest value, possibly replacing a smaller value</a:t>
            </a:r>
          </a:p>
          <a:p>
            <a:pPr lvl="2"/>
            <a:r>
              <a:rPr lang="en-US" altLang="en-US" dirty="0"/>
              <a:t>If it’s your opponent’s move, bring up the smallest value, possible replacing a larger value</a:t>
            </a:r>
          </a:p>
        </p:txBody>
      </p:sp>
    </p:spTree>
    <p:extLst>
      <p:ext uri="{BB962C8B-B14F-4D97-AF65-F5344CB8AC3E}">
        <p14:creationId xmlns:p14="http://schemas.microsoft.com/office/powerpoint/2010/main" val="27925911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lide Number Placeholder 4"/>
          <p:cNvSpPr>
            <a:spLocks noGrp="1"/>
          </p:cNvSpPr>
          <p:nvPr>
            <p:ph type="sldNum" sz="quarter" idx="12"/>
          </p:nvPr>
        </p:nvSpPr>
        <p:spPr/>
        <p:txBody>
          <a:bodyPr/>
          <a:lstStyle/>
          <a:p>
            <a:fld id="{C3112035-1D6D-4E96-B58F-0091F669BD19}" type="slidenum">
              <a:rPr lang="en-US" altLang="en-US"/>
              <a:pPr/>
              <a:t>17</a:t>
            </a:fld>
            <a:endParaRPr lang="en-US" altLang="en-US"/>
          </a:p>
        </p:txBody>
      </p:sp>
      <p:sp>
        <p:nvSpPr>
          <p:cNvPr id="13314" name="Rectangle 2"/>
          <p:cNvSpPr>
            <a:spLocks noGrp="1" noChangeArrowheads="1"/>
          </p:cNvSpPr>
          <p:nvPr>
            <p:ph type="title"/>
          </p:nvPr>
        </p:nvSpPr>
        <p:spPr/>
        <p:txBody>
          <a:bodyPr/>
          <a:lstStyle/>
          <a:p>
            <a:r>
              <a:rPr lang="en-US" altLang="en-US" dirty="0" smtClean="0"/>
              <a:t>Example: Using PBVs</a:t>
            </a:r>
            <a:endParaRPr lang="en-US" altLang="en-US" dirty="0"/>
          </a:p>
        </p:txBody>
      </p:sp>
      <p:grpSp>
        <p:nvGrpSpPr>
          <p:cNvPr id="13356" name="Group 44"/>
          <p:cNvGrpSpPr>
            <a:grpSpLocks/>
          </p:cNvGrpSpPr>
          <p:nvPr/>
        </p:nvGrpSpPr>
        <p:grpSpPr bwMode="auto">
          <a:xfrm>
            <a:off x="76200" y="1905000"/>
            <a:ext cx="4191000" cy="3276600"/>
            <a:chOff x="48" y="1200"/>
            <a:chExt cx="2640" cy="2064"/>
          </a:xfrm>
        </p:grpSpPr>
        <p:sp>
          <p:nvSpPr>
            <p:cNvPr id="13318" name="Oval 6"/>
            <p:cNvSpPr>
              <a:spLocks noChangeArrowheads="1"/>
            </p:cNvSpPr>
            <p:nvPr/>
          </p:nvSpPr>
          <p:spPr bwMode="auto">
            <a:xfrm>
              <a:off x="480"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19" name="Oval 7"/>
            <p:cNvSpPr>
              <a:spLocks noChangeArrowheads="1"/>
            </p:cNvSpPr>
            <p:nvPr/>
          </p:nvSpPr>
          <p:spPr bwMode="auto">
            <a:xfrm>
              <a:off x="768"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0" name="Oval 8"/>
            <p:cNvSpPr>
              <a:spLocks noChangeArrowheads="1"/>
            </p:cNvSpPr>
            <p:nvPr/>
          </p:nvSpPr>
          <p:spPr bwMode="auto">
            <a:xfrm>
              <a:off x="1056"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1" name="Oval 9"/>
            <p:cNvSpPr>
              <a:spLocks noChangeArrowheads="1"/>
            </p:cNvSpPr>
            <p:nvPr/>
          </p:nvSpPr>
          <p:spPr bwMode="auto">
            <a:xfrm>
              <a:off x="1344"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2" name="Oval 10"/>
            <p:cNvSpPr>
              <a:spLocks noChangeArrowheads="1"/>
            </p:cNvSpPr>
            <p:nvPr/>
          </p:nvSpPr>
          <p:spPr bwMode="auto">
            <a:xfrm>
              <a:off x="1632"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3" name="Oval 11"/>
            <p:cNvSpPr>
              <a:spLocks noChangeArrowheads="1"/>
            </p:cNvSpPr>
            <p:nvPr/>
          </p:nvSpPr>
          <p:spPr bwMode="auto">
            <a:xfrm>
              <a:off x="1920"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4" name="Oval 12"/>
            <p:cNvSpPr>
              <a:spLocks noChangeArrowheads="1"/>
            </p:cNvSpPr>
            <p:nvPr/>
          </p:nvSpPr>
          <p:spPr bwMode="auto">
            <a:xfrm>
              <a:off x="2208"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5" name="Oval 13"/>
            <p:cNvSpPr>
              <a:spLocks noChangeArrowheads="1"/>
            </p:cNvSpPr>
            <p:nvPr/>
          </p:nvSpPr>
          <p:spPr bwMode="auto">
            <a:xfrm>
              <a:off x="2496" y="30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6" name="Oval 14"/>
            <p:cNvSpPr>
              <a:spLocks noChangeArrowheads="1"/>
            </p:cNvSpPr>
            <p:nvPr/>
          </p:nvSpPr>
          <p:spPr bwMode="auto">
            <a:xfrm>
              <a:off x="624" y="2496"/>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28" name="Oval 16"/>
            <p:cNvSpPr>
              <a:spLocks noChangeArrowheads="1"/>
            </p:cNvSpPr>
            <p:nvPr/>
          </p:nvSpPr>
          <p:spPr bwMode="auto">
            <a:xfrm>
              <a:off x="1200" y="2496"/>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0" name="Oval 18"/>
            <p:cNvSpPr>
              <a:spLocks noChangeArrowheads="1"/>
            </p:cNvSpPr>
            <p:nvPr/>
          </p:nvSpPr>
          <p:spPr bwMode="auto">
            <a:xfrm>
              <a:off x="1776" y="2496"/>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2" name="Oval 20"/>
            <p:cNvSpPr>
              <a:spLocks noChangeArrowheads="1"/>
            </p:cNvSpPr>
            <p:nvPr/>
          </p:nvSpPr>
          <p:spPr bwMode="auto">
            <a:xfrm>
              <a:off x="2352" y="2496"/>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4" name="Oval 22"/>
            <p:cNvSpPr>
              <a:spLocks noChangeArrowheads="1"/>
            </p:cNvSpPr>
            <p:nvPr/>
          </p:nvSpPr>
          <p:spPr bwMode="auto">
            <a:xfrm>
              <a:off x="960" y="18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5" name="Oval 23"/>
            <p:cNvSpPr>
              <a:spLocks noChangeArrowheads="1"/>
            </p:cNvSpPr>
            <p:nvPr/>
          </p:nvSpPr>
          <p:spPr bwMode="auto">
            <a:xfrm>
              <a:off x="1536" y="1200"/>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6" name="Oval 24"/>
            <p:cNvSpPr>
              <a:spLocks noChangeArrowheads="1"/>
            </p:cNvSpPr>
            <p:nvPr/>
          </p:nvSpPr>
          <p:spPr bwMode="auto">
            <a:xfrm>
              <a:off x="2112" y="1872"/>
              <a:ext cx="192" cy="19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3338" name="Line 26"/>
            <p:cNvSpPr>
              <a:spLocks noChangeShapeType="1"/>
            </p:cNvSpPr>
            <p:nvPr/>
          </p:nvSpPr>
          <p:spPr bwMode="auto">
            <a:xfrm flipV="1">
              <a:off x="576"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39" name="Line 27"/>
            <p:cNvSpPr>
              <a:spLocks noChangeShapeType="1"/>
            </p:cNvSpPr>
            <p:nvPr/>
          </p:nvSpPr>
          <p:spPr bwMode="auto">
            <a:xfrm>
              <a:off x="720"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0" name="Line 28"/>
            <p:cNvSpPr>
              <a:spLocks noChangeShapeType="1"/>
            </p:cNvSpPr>
            <p:nvPr/>
          </p:nvSpPr>
          <p:spPr bwMode="auto">
            <a:xfrm flipH="1">
              <a:off x="1152"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1" name="Line 29"/>
            <p:cNvSpPr>
              <a:spLocks noChangeShapeType="1"/>
            </p:cNvSpPr>
            <p:nvPr/>
          </p:nvSpPr>
          <p:spPr bwMode="auto">
            <a:xfrm>
              <a:off x="1296"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2" name="Line 30"/>
            <p:cNvSpPr>
              <a:spLocks noChangeShapeType="1"/>
            </p:cNvSpPr>
            <p:nvPr/>
          </p:nvSpPr>
          <p:spPr bwMode="auto">
            <a:xfrm flipH="1">
              <a:off x="1728"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3" name="Line 31"/>
            <p:cNvSpPr>
              <a:spLocks noChangeShapeType="1"/>
            </p:cNvSpPr>
            <p:nvPr/>
          </p:nvSpPr>
          <p:spPr bwMode="auto">
            <a:xfrm>
              <a:off x="1872"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4" name="Line 32"/>
            <p:cNvSpPr>
              <a:spLocks noChangeShapeType="1"/>
            </p:cNvSpPr>
            <p:nvPr/>
          </p:nvSpPr>
          <p:spPr bwMode="auto">
            <a:xfrm flipH="1">
              <a:off x="2304"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5" name="Line 33"/>
            <p:cNvSpPr>
              <a:spLocks noChangeShapeType="1"/>
            </p:cNvSpPr>
            <p:nvPr/>
          </p:nvSpPr>
          <p:spPr bwMode="auto">
            <a:xfrm>
              <a:off x="2448" y="2688"/>
              <a:ext cx="144" cy="38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6" name="Line 34"/>
            <p:cNvSpPr>
              <a:spLocks noChangeShapeType="1"/>
            </p:cNvSpPr>
            <p:nvPr/>
          </p:nvSpPr>
          <p:spPr bwMode="auto">
            <a:xfrm flipH="1">
              <a:off x="720" y="2064"/>
              <a:ext cx="336"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7" name="Line 35"/>
            <p:cNvSpPr>
              <a:spLocks noChangeShapeType="1"/>
            </p:cNvSpPr>
            <p:nvPr/>
          </p:nvSpPr>
          <p:spPr bwMode="auto">
            <a:xfrm>
              <a:off x="1056" y="2064"/>
              <a:ext cx="240"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8" name="Line 36"/>
            <p:cNvSpPr>
              <a:spLocks noChangeShapeType="1"/>
            </p:cNvSpPr>
            <p:nvPr/>
          </p:nvSpPr>
          <p:spPr bwMode="auto">
            <a:xfrm flipH="1">
              <a:off x="1872" y="2064"/>
              <a:ext cx="336"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49" name="Line 37"/>
            <p:cNvSpPr>
              <a:spLocks noChangeShapeType="1"/>
            </p:cNvSpPr>
            <p:nvPr/>
          </p:nvSpPr>
          <p:spPr bwMode="auto">
            <a:xfrm>
              <a:off x="2208" y="2064"/>
              <a:ext cx="240"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50" name="Line 38"/>
            <p:cNvSpPr>
              <a:spLocks noChangeShapeType="1"/>
            </p:cNvSpPr>
            <p:nvPr/>
          </p:nvSpPr>
          <p:spPr bwMode="auto">
            <a:xfrm flipH="1">
              <a:off x="1056" y="1392"/>
              <a:ext cx="576" cy="4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51" name="Line 39"/>
            <p:cNvSpPr>
              <a:spLocks noChangeShapeType="1"/>
            </p:cNvSpPr>
            <p:nvPr/>
          </p:nvSpPr>
          <p:spPr bwMode="auto">
            <a:xfrm>
              <a:off x="1632" y="1392"/>
              <a:ext cx="576" cy="4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53" name="Text Box 41"/>
            <p:cNvSpPr txBox="1">
              <a:spLocks noChangeArrowheads="1"/>
            </p:cNvSpPr>
            <p:nvPr/>
          </p:nvSpPr>
          <p:spPr bwMode="auto">
            <a:xfrm>
              <a:off x="720" y="1344"/>
              <a:ext cx="57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Your</a:t>
              </a:r>
              <a:br>
                <a:rPr lang="en-US" altLang="en-US" sz="1800">
                  <a:latin typeface="Verdana" panose="020B0604030504040204" pitchFamily="34" charset="0"/>
                </a:rPr>
              </a:br>
              <a:r>
                <a:rPr lang="en-US" altLang="en-US" sz="1800">
                  <a:latin typeface="Verdana" panose="020B0604030504040204" pitchFamily="34" charset="0"/>
                </a:rPr>
                <a:t>move</a:t>
              </a:r>
            </a:p>
          </p:txBody>
        </p:sp>
        <p:sp>
          <p:nvSpPr>
            <p:cNvPr id="13354" name="Text Box 42"/>
            <p:cNvSpPr txBox="1">
              <a:spLocks noChangeArrowheads="1"/>
            </p:cNvSpPr>
            <p:nvPr/>
          </p:nvSpPr>
          <p:spPr bwMode="auto">
            <a:xfrm>
              <a:off x="48" y="2640"/>
              <a:ext cx="576"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Your</a:t>
              </a:r>
              <a:br>
                <a:rPr lang="en-US" altLang="en-US" sz="1800">
                  <a:latin typeface="Verdana" panose="020B0604030504040204" pitchFamily="34" charset="0"/>
                </a:rPr>
              </a:br>
              <a:r>
                <a:rPr lang="en-US" altLang="en-US" sz="1800">
                  <a:latin typeface="Verdana" panose="020B0604030504040204" pitchFamily="34" charset="0"/>
                </a:rPr>
                <a:t>move</a:t>
              </a:r>
            </a:p>
          </p:txBody>
        </p:sp>
        <p:sp>
          <p:nvSpPr>
            <p:cNvPr id="13355" name="Text Box 43"/>
            <p:cNvSpPr txBox="1">
              <a:spLocks noChangeArrowheads="1"/>
            </p:cNvSpPr>
            <p:nvPr/>
          </p:nvSpPr>
          <p:spPr bwMode="auto">
            <a:xfrm>
              <a:off x="96" y="1996"/>
              <a:ext cx="1008" cy="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Opponents</a:t>
              </a:r>
              <a:br>
                <a:rPr lang="en-US" altLang="en-US" sz="1800">
                  <a:latin typeface="Verdana" panose="020B0604030504040204" pitchFamily="34" charset="0"/>
                </a:rPr>
              </a:br>
              <a:r>
                <a:rPr lang="en-US" altLang="en-US" sz="1800">
                  <a:latin typeface="Verdana" panose="020B0604030504040204" pitchFamily="34" charset="0"/>
                </a:rPr>
                <a:t>move</a:t>
              </a:r>
            </a:p>
          </p:txBody>
        </p:sp>
      </p:grpSp>
      <p:sp>
        <p:nvSpPr>
          <p:cNvPr id="13357" name="Text Box 45"/>
          <p:cNvSpPr txBox="1">
            <a:spLocks noChangeArrowheads="1"/>
          </p:cNvSpPr>
          <p:nvPr/>
        </p:nvSpPr>
        <p:spPr bwMode="auto">
          <a:xfrm>
            <a:off x="4419600" y="1828800"/>
            <a:ext cx="40386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Do a DFS; find an 8 and bring it up</a:t>
            </a:r>
          </a:p>
        </p:txBody>
      </p:sp>
      <p:sp>
        <p:nvSpPr>
          <p:cNvPr id="13358" name="Line 46"/>
          <p:cNvSpPr>
            <a:spLocks noChangeShapeType="1"/>
          </p:cNvSpPr>
          <p:nvPr/>
        </p:nvSpPr>
        <p:spPr bwMode="auto">
          <a:xfrm flipH="1">
            <a:off x="1676400" y="2209800"/>
            <a:ext cx="914400" cy="7620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59" name="Line 47"/>
          <p:cNvSpPr>
            <a:spLocks noChangeShapeType="1"/>
          </p:cNvSpPr>
          <p:nvPr/>
        </p:nvSpPr>
        <p:spPr bwMode="auto">
          <a:xfrm flipH="1">
            <a:off x="1143000" y="3276600"/>
            <a:ext cx="5334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0" name="Line 48"/>
          <p:cNvSpPr>
            <a:spLocks noChangeShapeType="1"/>
          </p:cNvSpPr>
          <p:nvPr/>
        </p:nvSpPr>
        <p:spPr bwMode="auto">
          <a:xfrm flipH="1">
            <a:off x="9144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1" name="Oval 49"/>
          <p:cNvSpPr>
            <a:spLocks noChangeArrowheads="1"/>
          </p:cNvSpPr>
          <p:nvPr/>
        </p:nvSpPr>
        <p:spPr bwMode="auto">
          <a:xfrm>
            <a:off x="762000" y="4876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8</a:t>
            </a:r>
          </a:p>
        </p:txBody>
      </p:sp>
      <p:sp>
        <p:nvSpPr>
          <p:cNvPr id="13362" name="Freeform 50"/>
          <p:cNvSpPr>
            <a:spLocks/>
          </p:cNvSpPr>
          <p:nvPr/>
        </p:nvSpPr>
        <p:spPr bwMode="auto">
          <a:xfrm>
            <a:off x="812800" y="4191000"/>
            <a:ext cx="177800" cy="685800"/>
          </a:xfrm>
          <a:custGeom>
            <a:avLst/>
            <a:gdLst>
              <a:gd name="T0" fmla="*/ 16 w 112"/>
              <a:gd name="T1" fmla="*/ 432 h 432"/>
              <a:gd name="T2" fmla="*/ 16 w 112"/>
              <a:gd name="T3" fmla="*/ 144 h 432"/>
              <a:gd name="T4" fmla="*/ 112 w 112"/>
              <a:gd name="T5" fmla="*/ 0 h 432"/>
            </a:gdLst>
            <a:ahLst/>
            <a:cxnLst>
              <a:cxn ang="0">
                <a:pos x="T0" y="T1"/>
              </a:cxn>
              <a:cxn ang="0">
                <a:pos x="T2" y="T3"/>
              </a:cxn>
              <a:cxn ang="0">
                <a:pos x="T4" y="T5"/>
              </a:cxn>
            </a:cxnLst>
            <a:rect l="0" t="0" r="r" b="b"/>
            <a:pathLst>
              <a:path w="112" h="432">
                <a:moveTo>
                  <a:pt x="16" y="432"/>
                </a:moveTo>
                <a:cubicBezTo>
                  <a:pt x="8" y="324"/>
                  <a:pt x="0" y="216"/>
                  <a:pt x="16" y="144"/>
                </a:cubicBezTo>
                <a:cubicBezTo>
                  <a:pt x="32" y="72"/>
                  <a:pt x="72" y="36"/>
                  <a:pt x="112" y="0"/>
                </a:cubicBezTo>
              </a:path>
            </a:pathLst>
          </a:custGeom>
          <a:noFill/>
          <a:ln w="19050" cap="flat" cmpd="sng">
            <a:solidFill>
              <a:srgbClr val="FF99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3" name="Oval 51"/>
          <p:cNvSpPr>
            <a:spLocks noChangeArrowheads="1"/>
          </p:cNvSpPr>
          <p:nvPr/>
        </p:nvSpPr>
        <p:spPr bwMode="auto">
          <a:xfrm>
            <a:off x="990600" y="39624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8</a:t>
            </a:r>
          </a:p>
        </p:txBody>
      </p:sp>
      <p:sp>
        <p:nvSpPr>
          <p:cNvPr id="13364" name="Text Box 52"/>
          <p:cNvSpPr txBox="1">
            <a:spLocks noChangeArrowheads="1"/>
          </p:cNvSpPr>
          <p:nvPr/>
        </p:nvSpPr>
        <p:spPr bwMode="auto">
          <a:xfrm>
            <a:off x="4419600" y="2193925"/>
            <a:ext cx="42672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Verdana" panose="020B0604030504040204" pitchFamily="34" charset="0"/>
              </a:rPr>
              <a:t>•</a:t>
            </a:r>
            <a:r>
              <a:rPr lang="en-US" altLang="en-US"/>
              <a:t> Explore 5; smaller than 8, so ignore it</a:t>
            </a:r>
          </a:p>
        </p:txBody>
      </p:sp>
      <p:sp>
        <p:nvSpPr>
          <p:cNvPr id="13365" name="Line 53"/>
          <p:cNvSpPr>
            <a:spLocks noChangeShapeType="1"/>
          </p:cNvSpPr>
          <p:nvPr/>
        </p:nvSpPr>
        <p:spPr bwMode="auto">
          <a:xfrm>
            <a:off x="11430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6" name="Oval 54"/>
          <p:cNvSpPr>
            <a:spLocks noChangeArrowheads="1"/>
          </p:cNvSpPr>
          <p:nvPr/>
        </p:nvSpPr>
        <p:spPr bwMode="auto">
          <a:xfrm>
            <a:off x="1219200" y="4876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5</a:t>
            </a:r>
          </a:p>
        </p:txBody>
      </p:sp>
      <p:sp>
        <p:nvSpPr>
          <p:cNvPr id="13367" name="Line 55"/>
          <p:cNvSpPr>
            <a:spLocks noChangeShapeType="1"/>
          </p:cNvSpPr>
          <p:nvPr/>
        </p:nvSpPr>
        <p:spPr bwMode="auto">
          <a:xfrm flipV="1">
            <a:off x="9144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8" name="Line 56"/>
          <p:cNvSpPr>
            <a:spLocks noChangeShapeType="1"/>
          </p:cNvSpPr>
          <p:nvPr/>
        </p:nvSpPr>
        <p:spPr bwMode="auto">
          <a:xfrm flipH="1" flipV="1">
            <a:off x="11430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69" name="Line 57"/>
          <p:cNvSpPr>
            <a:spLocks noChangeShapeType="1"/>
          </p:cNvSpPr>
          <p:nvPr/>
        </p:nvSpPr>
        <p:spPr bwMode="auto">
          <a:xfrm flipV="1">
            <a:off x="1143000" y="3276600"/>
            <a:ext cx="5334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70" name="Oval 58"/>
          <p:cNvSpPr>
            <a:spLocks noChangeArrowheads="1"/>
          </p:cNvSpPr>
          <p:nvPr/>
        </p:nvSpPr>
        <p:spPr bwMode="auto">
          <a:xfrm>
            <a:off x="1524000" y="2971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8</a:t>
            </a:r>
          </a:p>
        </p:txBody>
      </p:sp>
      <p:sp>
        <p:nvSpPr>
          <p:cNvPr id="13371" name="Text Box 59"/>
          <p:cNvSpPr txBox="1">
            <a:spLocks noChangeArrowheads="1"/>
          </p:cNvSpPr>
          <p:nvPr/>
        </p:nvSpPr>
        <p:spPr bwMode="auto">
          <a:xfrm>
            <a:off x="4419600" y="2574925"/>
            <a:ext cx="42672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Backtrack; bring 8 up another level</a:t>
            </a:r>
          </a:p>
        </p:txBody>
      </p:sp>
      <p:sp>
        <p:nvSpPr>
          <p:cNvPr id="13372" name="Freeform 60"/>
          <p:cNvSpPr>
            <a:spLocks/>
          </p:cNvSpPr>
          <p:nvPr/>
        </p:nvSpPr>
        <p:spPr bwMode="auto">
          <a:xfrm>
            <a:off x="1066800" y="3168650"/>
            <a:ext cx="407988" cy="793750"/>
          </a:xfrm>
          <a:custGeom>
            <a:avLst/>
            <a:gdLst>
              <a:gd name="T0" fmla="*/ 0 w 257"/>
              <a:gd name="T1" fmla="*/ 500 h 500"/>
              <a:gd name="T2" fmla="*/ 63 w 257"/>
              <a:gd name="T3" fmla="*/ 238 h 500"/>
              <a:gd name="T4" fmla="*/ 257 w 257"/>
              <a:gd name="T5" fmla="*/ 0 h 500"/>
            </a:gdLst>
            <a:ahLst/>
            <a:cxnLst>
              <a:cxn ang="0">
                <a:pos x="T0" y="T1"/>
              </a:cxn>
              <a:cxn ang="0">
                <a:pos x="T2" y="T3"/>
              </a:cxn>
              <a:cxn ang="0">
                <a:pos x="T4" y="T5"/>
              </a:cxn>
            </a:cxnLst>
            <a:rect l="0" t="0" r="r" b="b"/>
            <a:pathLst>
              <a:path w="257" h="500">
                <a:moveTo>
                  <a:pt x="0" y="500"/>
                </a:moveTo>
                <a:cubicBezTo>
                  <a:pt x="10" y="456"/>
                  <a:pt x="20" y="321"/>
                  <a:pt x="63" y="238"/>
                </a:cubicBezTo>
                <a:cubicBezTo>
                  <a:pt x="106" y="155"/>
                  <a:pt x="217" y="50"/>
                  <a:pt x="257" y="0"/>
                </a:cubicBezTo>
              </a:path>
            </a:pathLst>
          </a:custGeom>
          <a:noFill/>
          <a:ln w="19050" cap="flat" cmpd="sng">
            <a:solidFill>
              <a:srgbClr val="FF99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73" name="Line 61"/>
          <p:cNvSpPr>
            <a:spLocks noChangeShapeType="1"/>
          </p:cNvSpPr>
          <p:nvPr/>
        </p:nvSpPr>
        <p:spPr bwMode="auto">
          <a:xfrm>
            <a:off x="1676400" y="3276600"/>
            <a:ext cx="3810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74" name="Line 62"/>
          <p:cNvSpPr>
            <a:spLocks noChangeShapeType="1"/>
          </p:cNvSpPr>
          <p:nvPr/>
        </p:nvSpPr>
        <p:spPr bwMode="auto">
          <a:xfrm flipH="1">
            <a:off x="18288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75" name="Oval 63"/>
          <p:cNvSpPr>
            <a:spLocks noChangeArrowheads="1"/>
          </p:cNvSpPr>
          <p:nvPr/>
        </p:nvSpPr>
        <p:spPr bwMode="auto">
          <a:xfrm>
            <a:off x="1676400" y="4876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2</a:t>
            </a:r>
          </a:p>
        </p:txBody>
      </p:sp>
      <p:sp>
        <p:nvSpPr>
          <p:cNvPr id="13376" name="Freeform 64"/>
          <p:cNvSpPr>
            <a:spLocks/>
          </p:cNvSpPr>
          <p:nvPr/>
        </p:nvSpPr>
        <p:spPr bwMode="auto">
          <a:xfrm>
            <a:off x="1651000" y="4191000"/>
            <a:ext cx="254000" cy="685800"/>
          </a:xfrm>
          <a:custGeom>
            <a:avLst/>
            <a:gdLst>
              <a:gd name="T0" fmla="*/ 64 w 160"/>
              <a:gd name="T1" fmla="*/ 432 h 432"/>
              <a:gd name="T2" fmla="*/ 16 w 160"/>
              <a:gd name="T3" fmla="*/ 192 h 432"/>
              <a:gd name="T4" fmla="*/ 160 w 160"/>
              <a:gd name="T5" fmla="*/ 0 h 432"/>
            </a:gdLst>
            <a:ahLst/>
            <a:cxnLst>
              <a:cxn ang="0">
                <a:pos x="T0" y="T1"/>
              </a:cxn>
              <a:cxn ang="0">
                <a:pos x="T2" y="T3"/>
              </a:cxn>
              <a:cxn ang="0">
                <a:pos x="T4" y="T5"/>
              </a:cxn>
            </a:cxnLst>
            <a:rect l="0" t="0" r="r" b="b"/>
            <a:pathLst>
              <a:path w="160" h="432">
                <a:moveTo>
                  <a:pt x="64" y="432"/>
                </a:moveTo>
                <a:cubicBezTo>
                  <a:pt x="32" y="348"/>
                  <a:pt x="0" y="264"/>
                  <a:pt x="16" y="192"/>
                </a:cubicBezTo>
                <a:cubicBezTo>
                  <a:pt x="32" y="120"/>
                  <a:pt x="96" y="60"/>
                  <a:pt x="160" y="0"/>
                </a:cubicBezTo>
              </a:path>
            </a:pathLst>
          </a:custGeom>
          <a:noFill/>
          <a:ln w="19050" cap="flat" cmpd="sng">
            <a:solidFill>
              <a:srgbClr val="FF99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77" name="Oval 65"/>
          <p:cNvSpPr>
            <a:spLocks noChangeArrowheads="1"/>
          </p:cNvSpPr>
          <p:nvPr/>
        </p:nvSpPr>
        <p:spPr bwMode="auto">
          <a:xfrm>
            <a:off x="1905000" y="39624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2</a:t>
            </a:r>
          </a:p>
        </p:txBody>
      </p:sp>
      <p:sp>
        <p:nvSpPr>
          <p:cNvPr id="13378" name="Text Box 66"/>
          <p:cNvSpPr txBox="1">
            <a:spLocks noChangeArrowheads="1"/>
          </p:cNvSpPr>
          <p:nvPr/>
        </p:nvSpPr>
        <p:spPr bwMode="auto">
          <a:xfrm>
            <a:off x="4419600" y="2955925"/>
            <a:ext cx="42672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Explore 2; bring it up</a:t>
            </a:r>
          </a:p>
        </p:txBody>
      </p:sp>
      <p:sp>
        <p:nvSpPr>
          <p:cNvPr id="13379" name="Line 67"/>
          <p:cNvSpPr>
            <a:spLocks noChangeShapeType="1"/>
          </p:cNvSpPr>
          <p:nvPr/>
        </p:nvSpPr>
        <p:spPr bwMode="auto">
          <a:xfrm>
            <a:off x="2057400" y="4343400"/>
            <a:ext cx="228600" cy="5334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0" name="Oval 68"/>
          <p:cNvSpPr>
            <a:spLocks noChangeArrowheads="1"/>
          </p:cNvSpPr>
          <p:nvPr/>
        </p:nvSpPr>
        <p:spPr bwMode="auto">
          <a:xfrm>
            <a:off x="2133600" y="4876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9</a:t>
            </a:r>
          </a:p>
        </p:txBody>
      </p:sp>
      <p:sp>
        <p:nvSpPr>
          <p:cNvPr id="13381" name="Text Box 69"/>
          <p:cNvSpPr txBox="1">
            <a:spLocks noChangeArrowheads="1"/>
          </p:cNvSpPr>
          <p:nvPr/>
        </p:nvSpPr>
        <p:spPr bwMode="auto">
          <a:xfrm>
            <a:off x="4419600" y="3260725"/>
            <a:ext cx="4267200"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Explore 9; better than 2, so bring it</a:t>
            </a:r>
            <a:br>
              <a:rPr lang="en-US" altLang="en-US" dirty="0"/>
            </a:br>
            <a:r>
              <a:rPr lang="en-US" altLang="en-US" dirty="0"/>
              <a:t>   up, replacing 2</a:t>
            </a:r>
          </a:p>
        </p:txBody>
      </p:sp>
      <p:sp>
        <p:nvSpPr>
          <p:cNvPr id="13382" name="Freeform 70"/>
          <p:cNvSpPr>
            <a:spLocks/>
          </p:cNvSpPr>
          <p:nvPr/>
        </p:nvSpPr>
        <p:spPr bwMode="auto">
          <a:xfrm>
            <a:off x="2209800" y="4191000"/>
            <a:ext cx="254000" cy="685800"/>
          </a:xfrm>
          <a:custGeom>
            <a:avLst/>
            <a:gdLst>
              <a:gd name="T0" fmla="*/ 96 w 160"/>
              <a:gd name="T1" fmla="*/ 432 h 432"/>
              <a:gd name="T2" fmla="*/ 144 w 160"/>
              <a:gd name="T3" fmla="*/ 192 h 432"/>
              <a:gd name="T4" fmla="*/ 0 w 160"/>
              <a:gd name="T5" fmla="*/ 0 h 432"/>
            </a:gdLst>
            <a:ahLst/>
            <a:cxnLst>
              <a:cxn ang="0">
                <a:pos x="T0" y="T1"/>
              </a:cxn>
              <a:cxn ang="0">
                <a:pos x="T2" y="T3"/>
              </a:cxn>
              <a:cxn ang="0">
                <a:pos x="T4" y="T5"/>
              </a:cxn>
            </a:cxnLst>
            <a:rect l="0" t="0" r="r" b="b"/>
            <a:pathLst>
              <a:path w="160" h="432">
                <a:moveTo>
                  <a:pt x="96" y="432"/>
                </a:moveTo>
                <a:cubicBezTo>
                  <a:pt x="128" y="348"/>
                  <a:pt x="160" y="264"/>
                  <a:pt x="144" y="192"/>
                </a:cubicBezTo>
                <a:cubicBezTo>
                  <a:pt x="128" y="120"/>
                  <a:pt x="64" y="60"/>
                  <a:pt x="0" y="0"/>
                </a:cubicBezTo>
              </a:path>
            </a:pathLst>
          </a:custGeom>
          <a:noFill/>
          <a:ln w="19050" cap="flat" cmpd="sng">
            <a:solidFill>
              <a:srgbClr val="FF99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3" name="Oval 71"/>
          <p:cNvSpPr>
            <a:spLocks noChangeArrowheads="1"/>
          </p:cNvSpPr>
          <p:nvPr/>
        </p:nvSpPr>
        <p:spPr bwMode="auto">
          <a:xfrm>
            <a:off x="1905000" y="3962400"/>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9</a:t>
            </a:r>
          </a:p>
        </p:txBody>
      </p:sp>
      <p:sp>
        <p:nvSpPr>
          <p:cNvPr id="13384" name="Line 72"/>
          <p:cNvSpPr>
            <a:spLocks noChangeShapeType="1"/>
          </p:cNvSpPr>
          <p:nvPr/>
        </p:nvSpPr>
        <p:spPr bwMode="auto">
          <a:xfrm flipH="1" flipV="1">
            <a:off x="20574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5" name="Line 73"/>
          <p:cNvSpPr>
            <a:spLocks noChangeShapeType="1"/>
          </p:cNvSpPr>
          <p:nvPr/>
        </p:nvSpPr>
        <p:spPr bwMode="auto">
          <a:xfrm flipH="1" flipV="1">
            <a:off x="1676400" y="3276600"/>
            <a:ext cx="3810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6" name="Line 74"/>
          <p:cNvSpPr>
            <a:spLocks noChangeShapeType="1"/>
          </p:cNvSpPr>
          <p:nvPr/>
        </p:nvSpPr>
        <p:spPr bwMode="auto">
          <a:xfrm flipV="1">
            <a:off x="1676400" y="2209800"/>
            <a:ext cx="914400" cy="7620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7" name="Line 75"/>
          <p:cNvSpPr>
            <a:spLocks noChangeShapeType="1"/>
          </p:cNvSpPr>
          <p:nvPr/>
        </p:nvSpPr>
        <p:spPr bwMode="auto">
          <a:xfrm>
            <a:off x="2590800" y="2209800"/>
            <a:ext cx="914400" cy="7620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8" name="Line 76"/>
          <p:cNvSpPr>
            <a:spLocks noChangeShapeType="1"/>
          </p:cNvSpPr>
          <p:nvPr/>
        </p:nvSpPr>
        <p:spPr bwMode="auto">
          <a:xfrm flipH="1">
            <a:off x="2971800" y="3276600"/>
            <a:ext cx="533400" cy="6858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89" name="Line 77"/>
          <p:cNvSpPr>
            <a:spLocks noChangeShapeType="1"/>
          </p:cNvSpPr>
          <p:nvPr/>
        </p:nvSpPr>
        <p:spPr bwMode="auto">
          <a:xfrm flipH="1">
            <a:off x="2743200" y="4267200"/>
            <a:ext cx="228600" cy="609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3390" name="Oval 78"/>
          <p:cNvSpPr>
            <a:spLocks noChangeArrowheads="1"/>
          </p:cNvSpPr>
          <p:nvPr/>
        </p:nvSpPr>
        <p:spPr bwMode="auto">
          <a:xfrm>
            <a:off x="2590800" y="4876800"/>
            <a:ext cx="304800" cy="3048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Verdana" panose="020B0604030504040204" pitchFamily="34" charset="0"/>
              </a:rPr>
              <a:t>-3</a:t>
            </a:r>
          </a:p>
        </p:txBody>
      </p:sp>
      <p:sp>
        <p:nvSpPr>
          <p:cNvPr id="13391" name="Text Box 79"/>
          <p:cNvSpPr txBox="1">
            <a:spLocks noChangeArrowheads="1"/>
          </p:cNvSpPr>
          <p:nvPr/>
        </p:nvSpPr>
        <p:spPr bwMode="auto">
          <a:xfrm>
            <a:off x="4419600" y="3962400"/>
            <a:ext cx="4267200" cy="70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9 is not better than 8 (for your</a:t>
            </a:r>
            <a:br>
              <a:rPr lang="en-US" altLang="en-US" dirty="0"/>
            </a:br>
            <a:r>
              <a:rPr lang="en-US" altLang="en-US" dirty="0"/>
              <a:t>   opponent), so ignore it</a:t>
            </a:r>
          </a:p>
        </p:txBody>
      </p:sp>
      <p:sp>
        <p:nvSpPr>
          <p:cNvPr id="13392" name="Text Box 80"/>
          <p:cNvSpPr txBox="1">
            <a:spLocks noChangeArrowheads="1"/>
          </p:cNvSpPr>
          <p:nvPr/>
        </p:nvSpPr>
        <p:spPr bwMode="auto">
          <a:xfrm>
            <a:off x="4419600" y="4632325"/>
            <a:ext cx="42672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Verdana" panose="020B0604030504040204" pitchFamily="34" charset="0"/>
              </a:rPr>
              <a:t>•</a:t>
            </a:r>
            <a:r>
              <a:rPr lang="en-US" altLang="en-US" dirty="0"/>
              <a:t> Explore –3, bring it up</a:t>
            </a:r>
          </a:p>
        </p:txBody>
      </p:sp>
      <p:sp>
        <p:nvSpPr>
          <p:cNvPr id="13393" name="Text Box 81"/>
          <p:cNvSpPr txBox="1">
            <a:spLocks noChangeArrowheads="1"/>
          </p:cNvSpPr>
          <p:nvPr/>
        </p:nvSpPr>
        <p:spPr bwMode="auto">
          <a:xfrm>
            <a:off x="4419600" y="5013325"/>
            <a:ext cx="4267200"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Verdana" panose="020B0604030504040204" pitchFamily="34" charset="0"/>
              </a:rPr>
              <a:t>•</a:t>
            </a:r>
            <a:r>
              <a:rPr lang="en-US" altLang="en-US"/>
              <a:t> Etc.</a:t>
            </a:r>
          </a:p>
        </p:txBody>
      </p:sp>
    </p:spTree>
    <p:extLst>
      <p:ext uri="{BB962C8B-B14F-4D97-AF65-F5344CB8AC3E}">
        <p14:creationId xmlns:p14="http://schemas.microsoft.com/office/powerpoint/2010/main" val="38148343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57"/>
                                        </p:tgtEl>
                                        <p:attrNameLst>
                                          <p:attrName>style.visibility</p:attrName>
                                        </p:attrNameLst>
                                      </p:cBhvr>
                                      <p:to>
                                        <p:strVal val="visible"/>
                                      </p:to>
                                    </p:set>
                                    <p:animEffect transition="in" filter="wipe(left)">
                                      <p:cBhvr>
                                        <p:cTn id="7" dur="500"/>
                                        <p:tgtEl>
                                          <p:spTgt spid="133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358"/>
                                        </p:tgtEl>
                                        <p:attrNameLst>
                                          <p:attrName>style.visibility</p:attrName>
                                        </p:attrNameLst>
                                      </p:cBhvr>
                                      <p:to>
                                        <p:strVal val="visible"/>
                                      </p:to>
                                    </p:set>
                                    <p:animEffect transition="in" filter="wipe(up)">
                                      <p:cBhvr>
                                        <p:cTn id="12" dur="500"/>
                                        <p:tgtEl>
                                          <p:spTgt spid="13358"/>
                                        </p:tgtEl>
                                      </p:cBhvr>
                                    </p:animEffect>
                                  </p:childTnLst>
                                  <p:subTnLst>
                                    <p:set>
                                      <p:cBhvr override="childStyle">
                                        <p:cTn dur="1" fill="hold" display="0" masterRel="nextClick" afterEffect="1"/>
                                        <p:tgtEl>
                                          <p:spTgt spid="13358"/>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359"/>
                                        </p:tgtEl>
                                        <p:attrNameLst>
                                          <p:attrName>style.visibility</p:attrName>
                                        </p:attrNameLst>
                                      </p:cBhvr>
                                      <p:to>
                                        <p:strVal val="visible"/>
                                      </p:to>
                                    </p:set>
                                    <p:animEffect transition="in" filter="wipe(up)">
                                      <p:cBhvr>
                                        <p:cTn id="17" dur="500"/>
                                        <p:tgtEl>
                                          <p:spTgt spid="13359"/>
                                        </p:tgtEl>
                                      </p:cBhvr>
                                    </p:animEffect>
                                  </p:childTnLst>
                                  <p:subTnLst>
                                    <p:set>
                                      <p:cBhvr override="childStyle">
                                        <p:cTn dur="1" fill="hold" display="0" masterRel="nextClick" afterEffect="1"/>
                                        <p:tgtEl>
                                          <p:spTgt spid="13359"/>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360"/>
                                        </p:tgtEl>
                                        <p:attrNameLst>
                                          <p:attrName>style.visibility</p:attrName>
                                        </p:attrNameLst>
                                      </p:cBhvr>
                                      <p:to>
                                        <p:strVal val="visible"/>
                                      </p:to>
                                    </p:set>
                                    <p:animEffect transition="in" filter="wipe(up)">
                                      <p:cBhvr>
                                        <p:cTn id="22" dur="500"/>
                                        <p:tgtEl>
                                          <p:spTgt spid="13360"/>
                                        </p:tgtEl>
                                      </p:cBhvr>
                                    </p:animEffect>
                                  </p:childTnLst>
                                  <p:subTnLst>
                                    <p:set>
                                      <p:cBhvr override="childStyle">
                                        <p:cTn dur="1" fill="hold" display="0" masterRel="nextClick" afterEffect="1"/>
                                        <p:tgtEl>
                                          <p:spTgt spid="13360"/>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3361"/>
                                        </p:tgtEl>
                                        <p:attrNameLst>
                                          <p:attrName>style.visibility</p:attrName>
                                        </p:attrNameLst>
                                      </p:cBhvr>
                                      <p:to>
                                        <p:strVal val="visible"/>
                                      </p:to>
                                    </p:set>
                                    <p:animEffect transition="in" filter="dissolve">
                                      <p:cBhvr>
                                        <p:cTn id="27" dur="500"/>
                                        <p:tgtEl>
                                          <p:spTgt spid="133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362"/>
                                        </p:tgtEl>
                                        <p:attrNameLst>
                                          <p:attrName>style.visibility</p:attrName>
                                        </p:attrNameLst>
                                      </p:cBhvr>
                                      <p:to>
                                        <p:strVal val="visible"/>
                                      </p:to>
                                    </p:set>
                                    <p:animEffect transition="in" filter="wipe(down)">
                                      <p:cBhvr>
                                        <p:cTn id="32" dur="500"/>
                                        <p:tgtEl>
                                          <p:spTgt spid="13362"/>
                                        </p:tgtEl>
                                      </p:cBhvr>
                                    </p:animEffect>
                                  </p:childTnLst>
                                  <p:subTnLst>
                                    <p:set>
                                      <p:cBhvr override="childStyle">
                                        <p:cTn dur="1" fill="hold" display="0" masterRel="nextClick" afterEffect="1"/>
                                        <p:tgtEl>
                                          <p:spTgt spid="13362"/>
                                        </p:tgtEl>
                                        <p:attrNameLst>
                                          <p:attrName>style.visibility</p:attrName>
                                        </p:attrNameLst>
                                      </p:cBhvr>
                                      <p:to>
                                        <p:strVal val="hidden"/>
                                      </p:to>
                                    </p:set>
                                  </p:sub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363"/>
                                        </p:tgtEl>
                                        <p:attrNameLst>
                                          <p:attrName>style.visibility</p:attrName>
                                        </p:attrNameLst>
                                      </p:cBhvr>
                                      <p:to>
                                        <p:strVal val="visible"/>
                                      </p:to>
                                    </p:set>
                                    <p:animEffect transition="in" filter="dissolve">
                                      <p:cBhvr>
                                        <p:cTn id="37" dur="500"/>
                                        <p:tgtEl>
                                          <p:spTgt spid="1336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3367"/>
                                        </p:tgtEl>
                                        <p:attrNameLst>
                                          <p:attrName>style.visibility</p:attrName>
                                        </p:attrNameLst>
                                      </p:cBhvr>
                                      <p:to>
                                        <p:strVal val="visible"/>
                                      </p:to>
                                    </p:set>
                                    <p:animEffect transition="in" filter="wipe(down)">
                                      <p:cBhvr>
                                        <p:cTn id="42" dur="500"/>
                                        <p:tgtEl>
                                          <p:spTgt spid="13367"/>
                                        </p:tgtEl>
                                      </p:cBhvr>
                                    </p:animEffect>
                                  </p:childTnLst>
                                  <p:subTnLst>
                                    <p:set>
                                      <p:cBhvr override="childStyle">
                                        <p:cTn dur="1" fill="hold" display="0" masterRel="nextClick" afterEffect="1"/>
                                        <p:tgtEl>
                                          <p:spTgt spid="13367"/>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365"/>
                                        </p:tgtEl>
                                        <p:attrNameLst>
                                          <p:attrName>style.visibility</p:attrName>
                                        </p:attrNameLst>
                                      </p:cBhvr>
                                      <p:to>
                                        <p:strVal val="visible"/>
                                      </p:to>
                                    </p:set>
                                    <p:animEffect transition="in" filter="wipe(up)">
                                      <p:cBhvr>
                                        <p:cTn id="47" dur="500"/>
                                        <p:tgtEl>
                                          <p:spTgt spid="13365"/>
                                        </p:tgtEl>
                                      </p:cBhvr>
                                    </p:animEffect>
                                  </p:childTnLst>
                                  <p:subTnLst>
                                    <p:set>
                                      <p:cBhvr override="childStyle">
                                        <p:cTn dur="1" fill="hold" display="0" masterRel="nextClick" afterEffect="1"/>
                                        <p:tgtEl>
                                          <p:spTgt spid="13365"/>
                                        </p:tgtEl>
                                        <p:attrNameLst>
                                          <p:attrName>style.visibility</p:attrName>
                                        </p:attrNameLst>
                                      </p:cBhvr>
                                      <p:to>
                                        <p:strVal val="hidden"/>
                                      </p:to>
                                    </p:set>
                                  </p:sub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364"/>
                                        </p:tgtEl>
                                        <p:attrNameLst>
                                          <p:attrName>style.visibility</p:attrName>
                                        </p:attrNameLst>
                                      </p:cBhvr>
                                      <p:to>
                                        <p:strVal val="visible"/>
                                      </p:to>
                                    </p:set>
                                    <p:animEffect transition="in" filter="wipe(left)">
                                      <p:cBhvr>
                                        <p:cTn id="52" dur="500"/>
                                        <p:tgtEl>
                                          <p:spTgt spid="133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3366"/>
                                        </p:tgtEl>
                                        <p:attrNameLst>
                                          <p:attrName>style.visibility</p:attrName>
                                        </p:attrNameLst>
                                      </p:cBhvr>
                                      <p:to>
                                        <p:strVal val="visible"/>
                                      </p:to>
                                    </p:set>
                                    <p:animEffect transition="in" filter="dissolve">
                                      <p:cBhvr>
                                        <p:cTn id="57" dur="500"/>
                                        <p:tgtEl>
                                          <p:spTgt spid="133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13368"/>
                                        </p:tgtEl>
                                        <p:attrNameLst>
                                          <p:attrName>style.visibility</p:attrName>
                                        </p:attrNameLst>
                                      </p:cBhvr>
                                      <p:to>
                                        <p:strVal val="visible"/>
                                      </p:to>
                                    </p:set>
                                    <p:animEffect transition="in" filter="wipe(down)">
                                      <p:cBhvr>
                                        <p:cTn id="62" dur="500"/>
                                        <p:tgtEl>
                                          <p:spTgt spid="13368"/>
                                        </p:tgtEl>
                                      </p:cBhvr>
                                    </p:animEffect>
                                  </p:childTnLst>
                                  <p:subTnLst>
                                    <p:set>
                                      <p:cBhvr override="childStyle">
                                        <p:cTn dur="1" fill="hold" display="0" masterRel="nextClick" afterEffect="1"/>
                                        <p:tgtEl>
                                          <p:spTgt spid="13368"/>
                                        </p:tgtEl>
                                        <p:attrNameLst>
                                          <p:attrName>style.visibility</p:attrName>
                                        </p:attrNameLst>
                                      </p:cBhvr>
                                      <p:to>
                                        <p:strVal val="hidden"/>
                                      </p:to>
                                    </p:set>
                                  </p:sub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3369"/>
                                        </p:tgtEl>
                                        <p:attrNameLst>
                                          <p:attrName>style.visibility</p:attrName>
                                        </p:attrNameLst>
                                      </p:cBhvr>
                                      <p:to>
                                        <p:strVal val="visible"/>
                                      </p:to>
                                    </p:set>
                                    <p:animEffect transition="in" filter="wipe(down)">
                                      <p:cBhvr>
                                        <p:cTn id="67" dur="500"/>
                                        <p:tgtEl>
                                          <p:spTgt spid="13369"/>
                                        </p:tgtEl>
                                      </p:cBhvr>
                                    </p:animEffect>
                                  </p:childTnLst>
                                  <p:subTnLst>
                                    <p:set>
                                      <p:cBhvr override="childStyle">
                                        <p:cTn dur="1" fill="hold" display="0" masterRel="nextClick" afterEffect="1"/>
                                        <p:tgtEl>
                                          <p:spTgt spid="13369"/>
                                        </p:tgtEl>
                                        <p:attrNameLst>
                                          <p:attrName>style.visibility</p:attrName>
                                        </p:attrNameLst>
                                      </p:cBhvr>
                                      <p:to>
                                        <p:strVal val="hidden"/>
                                      </p:to>
                                    </p:set>
                                  </p:sub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3371"/>
                                        </p:tgtEl>
                                        <p:attrNameLst>
                                          <p:attrName>style.visibility</p:attrName>
                                        </p:attrNameLst>
                                      </p:cBhvr>
                                      <p:to>
                                        <p:strVal val="visible"/>
                                      </p:to>
                                    </p:set>
                                    <p:animEffect transition="in" filter="wipe(left)">
                                      <p:cBhvr>
                                        <p:cTn id="72" dur="500"/>
                                        <p:tgtEl>
                                          <p:spTgt spid="1337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3372"/>
                                        </p:tgtEl>
                                        <p:attrNameLst>
                                          <p:attrName>style.visibility</p:attrName>
                                        </p:attrNameLst>
                                      </p:cBhvr>
                                      <p:to>
                                        <p:strVal val="visible"/>
                                      </p:to>
                                    </p:set>
                                    <p:animEffect transition="in" filter="wipe(down)">
                                      <p:cBhvr>
                                        <p:cTn id="77" dur="500"/>
                                        <p:tgtEl>
                                          <p:spTgt spid="13372"/>
                                        </p:tgtEl>
                                      </p:cBhvr>
                                    </p:animEffect>
                                  </p:childTnLst>
                                  <p:subTnLst>
                                    <p:set>
                                      <p:cBhvr override="childStyle">
                                        <p:cTn dur="1" fill="hold" display="0" masterRel="nextClick" afterEffect="1"/>
                                        <p:tgtEl>
                                          <p:spTgt spid="13372"/>
                                        </p:tgtEl>
                                        <p:attrNameLst>
                                          <p:attrName>style.visibility</p:attrName>
                                        </p:attrNameLst>
                                      </p:cBhvr>
                                      <p:to>
                                        <p:strVal val="hidden"/>
                                      </p:to>
                                    </p:set>
                                  </p:sub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3370"/>
                                        </p:tgtEl>
                                        <p:attrNameLst>
                                          <p:attrName>style.visibility</p:attrName>
                                        </p:attrNameLst>
                                      </p:cBhvr>
                                      <p:to>
                                        <p:strVal val="visible"/>
                                      </p:to>
                                    </p:set>
                                    <p:animEffect transition="in" filter="dissolve">
                                      <p:cBhvr>
                                        <p:cTn id="82" dur="500"/>
                                        <p:tgtEl>
                                          <p:spTgt spid="1337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13373"/>
                                        </p:tgtEl>
                                        <p:attrNameLst>
                                          <p:attrName>style.visibility</p:attrName>
                                        </p:attrNameLst>
                                      </p:cBhvr>
                                      <p:to>
                                        <p:strVal val="visible"/>
                                      </p:to>
                                    </p:set>
                                    <p:animEffect transition="in" filter="wipe(up)">
                                      <p:cBhvr>
                                        <p:cTn id="87" dur="500"/>
                                        <p:tgtEl>
                                          <p:spTgt spid="13373"/>
                                        </p:tgtEl>
                                      </p:cBhvr>
                                    </p:animEffect>
                                  </p:childTnLst>
                                  <p:subTnLst>
                                    <p:set>
                                      <p:cBhvr override="childStyle">
                                        <p:cTn dur="1" fill="hold" display="0" masterRel="nextClick" afterEffect="1"/>
                                        <p:tgtEl>
                                          <p:spTgt spid="13373"/>
                                        </p:tgtEl>
                                        <p:attrNameLst>
                                          <p:attrName>style.visibility</p:attrName>
                                        </p:attrNameLst>
                                      </p:cBhvr>
                                      <p:to>
                                        <p:strVal val="hidden"/>
                                      </p:to>
                                    </p:set>
                                  </p:sub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13374"/>
                                        </p:tgtEl>
                                        <p:attrNameLst>
                                          <p:attrName>style.visibility</p:attrName>
                                        </p:attrNameLst>
                                      </p:cBhvr>
                                      <p:to>
                                        <p:strVal val="visible"/>
                                      </p:to>
                                    </p:set>
                                    <p:animEffect transition="in" filter="wipe(up)">
                                      <p:cBhvr>
                                        <p:cTn id="92" dur="500"/>
                                        <p:tgtEl>
                                          <p:spTgt spid="13374"/>
                                        </p:tgtEl>
                                      </p:cBhvr>
                                    </p:animEffect>
                                  </p:childTnLst>
                                  <p:subTnLst>
                                    <p:set>
                                      <p:cBhvr override="childStyle">
                                        <p:cTn dur="1" fill="hold" display="0" masterRel="nextClick" afterEffect="1"/>
                                        <p:tgtEl>
                                          <p:spTgt spid="13374"/>
                                        </p:tgtEl>
                                        <p:attrNameLst>
                                          <p:attrName>style.visibility</p:attrName>
                                        </p:attrNameLst>
                                      </p:cBhvr>
                                      <p:to>
                                        <p:strVal val="hidden"/>
                                      </p:to>
                                    </p:set>
                                  </p:sub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3378"/>
                                        </p:tgtEl>
                                        <p:attrNameLst>
                                          <p:attrName>style.visibility</p:attrName>
                                        </p:attrNameLst>
                                      </p:cBhvr>
                                      <p:to>
                                        <p:strVal val="visible"/>
                                      </p:to>
                                    </p:set>
                                    <p:animEffect transition="in" filter="wipe(left)">
                                      <p:cBhvr>
                                        <p:cTn id="97" dur="500"/>
                                        <p:tgtEl>
                                          <p:spTgt spid="1337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13375"/>
                                        </p:tgtEl>
                                        <p:attrNameLst>
                                          <p:attrName>style.visibility</p:attrName>
                                        </p:attrNameLst>
                                      </p:cBhvr>
                                      <p:to>
                                        <p:strVal val="visible"/>
                                      </p:to>
                                    </p:set>
                                    <p:animEffect transition="in" filter="dissolve">
                                      <p:cBhvr>
                                        <p:cTn id="102" dur="500"/>
                                        <p:tgtEl>
                                          <p:spTgt spid="1337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13376"/>
                                        </p:tgtEl>
                                        <p:attrNameLst>
                                          <p:attrName>style.visibility</p:attrName>
                                        </p:attrNameLst>
                                      </p:cBhvr>
                                      <p:to>
                                        <p:strVal val="visible"/>
                                      </p:to>
                                    </p:set>
                                    <p:animEffect transition="in" filter="wipe(down)">
                                      <p:cBhvr>
                                        <p:cTn id="107" dur="500"/>
                                        <p:tgtEl>
                                          <p:spTgt spid="13376"/>
                                        </p:tgtEl>
                                      </p:cBhvr>
                                    </p:animEffect>
                                  </p:childTnLst>
                                  <p:subTnLst>
                                    <p:set>
                                      <p:cBhvr override="childStyle">
                                        <p:cTn dur="1" fill="hold" display="0" masterRel="nextClick" afterEffect="1"/>
                                        <p:tgtEl>
                                          <p:spTgt spid="13376"/>
                                        </p:tgtEl>
                                        <p:attrNameLst>
                                          <p:attrName>style.visibility</p:attrName>
                                        </p:attrNameLst>
                                      </p:cBhvr>
                                      <p:to>
                                        <p:strVal val="hidden"/>
                                      </p:to>
                                    </p:set>
                                  </p:subTnLst>
                                </p:cTn>
                              </p:par>
                            </p:childTnLst>
                          </p:cTn>
                        </p:par>
                      </p:childTnLst>
                    </p:cTn>
                  </p:par>
                  <p:par>
                    <p:cTn id="108" fill="hold" nodeType="clickPar">
                      <p:stCondLst>
                        <p:cond delay="indefinite"/>
                      </p:stCondLst>
                      <p:childTnLst>
                        <p:par>
                          <p:cTn id="109" fill="hold" nodeType="withGroup">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13377"/>
                                        </p:tgtEl>
                                        <p:attrNameLst>
                                          <p:attrName>style.visibility</p:attrName>
                                        </p:attrNameLst>
                                      </p:cBhvr>
                                      <p:to>
                                        <p:strVal val="visible"/>
                                      </p:to>
                                    </p:set>
                                    <p:animEffect transition="in" filter="dissolve">
                                      <p:cBhvr>
                                        <p:cTn id="112" dur="500"/>
                                        <p:tgtEl>
                                          <p:spTgt spid="13377"/>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13379"/>
                                        </p:tgtEl>
                                        <p:attrNameLst>
                                          <p:attrName>style.visibility</p:attrName>
                                        </p:attrNameLst>
                                      </p:cBhvr>
                                      <p:to>
                                        <p:strVal val="visible"/>
                                      </p:to>
                                    </p:set>
                                    <p:animEffect transition="in" filter="wipe(up)">
                                      <p:cBhvr>
                                        <p:cTn id="117" dur="500"/>
                                        <p:tgtEl>
                                          <p:spTgt spid="13379"/>
                                        </p:tgtEl>
                                      </p:cBhvr>
                                    </p:animEffect>
                                  </p:childTnLst>
                                  <p:subTnLst>
                                    <p:set>
                                      <p:cBhvr override="childStyle">
                                        <p:cTn dur="1" fill="hold" display="0" masterRel="nextClick" afterEffect="1"/>
                                        <p:tgtEl>
                                          <p:spTgt spid="13379"/>
                                        </p:tgtEl>
                                        <p:attrNameLst>
                                          <p:attrName>style.visibility</p:attrName>
                                        </p:attrNameLst>
                                      </p:cBhvr>
                                      <p:to>
                                        <p:strVal val="hidden"/>
                                      </p:to>
                                    </p:set>
                                  </p:sub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3381"/>
                                        </p:tgtEl>
                                        <p:attrNameLst>
                                          <p:attrName>style.visibility</p:attrName>
                                        </p:attrNameLst>
                                      </p:cBhvr>
                                      <p:to>
                                        <p:strVal val="visible"/>
                                      </p:to>
                                    </p:set>
                                    <p:animEffect transition="in" filter="wipe(left)">
                                      <p:cBhvr>
                                        <p:cTn id="122" dur="500"/>
                                        <p:tgtEl>
                                          <p:spTgt spid="13381"/>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13380"/>
                                        </p:tgtEl>
                                        <p:attrNameLst>
                                          <p:attrName>style.visibility</p:attrName>
                                        </p:attrNameLst>
                                      </p:cBhvr>
                                      <p:to>
                                        <p:strVal val="visible"/>
                                      </p:to>
                                    </p:set>
                                    <p:animEffect transition="in" filter="dissolve">
                                      <p:cBhvr>
                                        <p:cTn id="127" dur="500"/>
                                        <p:tgtEl>
                                          <p:spTgt spid="13380"/>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13382"/>
                                        </p:tgtEl>
                                        <p:attrNameLst>
                                          <p:attrName>style.visibility</p:attrName>
                                        </p:attrNameLst>
                                      </p:cBhvr>
                                      <p:to>
                                        <p:strVal val="visible"/>
                                      </p:to>
                                    </p:set>
                                    <p:animEffect transition="in" filter="wipe(down)">
                                      <p:cBhvr>
                                        <p:cTn id="132" dur="500"/>
                                        <p:tgtEl>
                                          <p:spTgt spid="13382"/>
                                        </p:tgtEl>
                                      </p:cBhvr>
                                    </p:animEffect>
                                  </p:childTnLst>
                                  <p:subTnLst>
                                    <p:set>
                                      <p:cBhvr override="childStyle">
                                        <p:cTn dur="1" fill="hold" display="0" masterRel="nextClick" afterEffect="1"/>
                                        <p:tgtEl>
                                          <p:spTgt spid="13382"/>
                                        </p:tgtEl>
                                        <p:attrNameLst>
                                          <p:attrName>style.visibility</p:attrName>
                                        </p:attrNameLst>
                                      </p:cBhvr>
                                      <p:to>
                                        <p:strVal val="hidden"/>
                                      </p:to>
                                    </p:set>
                                  </p:subTnLst>
                                </p:cTn>
                              </p:par>
                            </p:childTnLst>
                          </p:cTn>
                        </p:par>
                      </p:childTnLst>
                    </p:cTn>
                  </p:par>
                  <p:par>
                    <p:cTn id="133" fill="hold" nodeType="clickPar">
                      <p:stCondLst>
                        <p:cond delay="indefinite"/>
                      </p:stCondLst>
                      <p:childTnLst>
                        <p:par>
                          <p:cTn id="134" fill="hold" nodeType="withGroup">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13383"/>
                                        </p:tgtEl>
                                        <p:attrNameLst>
                                          <p:attrName>style.visibility</p:attrName>
                                        </p:attrNameLst>
                                      </p:cBhvr>
                                      <p:to>
                                        <p:strVal val="visible"/>
                                      </p:to>
                                    </p:set>
                                    <p:animEffect transition="in" filter="dissolve">
                                      <p:cBhvr>
                                        <p:cTn id="137" dur="500"/>
                                        <p:tgtEl>
                                          <p:spTgt spid="1338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4" fill="hold" grpId="0" nodeType="clickEffect">
                                  <p:stCondLst>
                                    <p:cond delay="0"/>
                                  </p:stCondLst>
                                  <p:childTnLst>
                                    <p:set>
                                      <p:cBhvr>
                                        <p:cTn id="141" dur="1" fill="hold">
                                          <p:stCondLst>
                                            <p:cond delay="0"/>
                                          </p:stCondLst>
                                        </p:cTn>
                                        <p:tgtEl>
                                          <p:spTgt spid="13384"/>
                                        </p:tgtEl>
                                        <p:attrNameLst>
                                          <p:attrName>style.visibility</p:attrName>
                                        </p:attrNameLst>
                                      </p:cBhvr>
                                      <p:to>
                                        <p:strVal val="visible"/>
                                      </p:to>
                                    </p:set>
                                    <p:animEffect transition="in" filter="wipe(down)">
                                      <p:cBhvr>
                                        <p:cTn id="142" dur="500"/>
                                        <p:tgtEl>
                                          <p:spTgt spid="13384"/>
                                        </p:tgtEl>
                                      </p:cBhvr>
                                    </p:animEffect>
                                  </p:childTnLst>
                                  <p:subTnLst>
                                    <p:set>
                                      <p:cBhvr override="childStyle">
                                        <p:cTn dur="1" fill="hold" display="0" masterRel="nextClick" afterEffect="1"/>
                                        <p:tgtEl>
                                          <p:spTgt spid="13384"/>
                                        </p:tgtEl>
                                        <p:attrNameLst>
                                          <p:attrName>style.visibility</p:attrName>
                                        </p:attrNameLst>
                                      </p:cBhvr>
                                      <p:to>
                                        <p:strVal val="hidden"/>
                                      </p:to>
                                    </p:set>
                                  </p:sub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13385"/>
                                        </p:tgtEl>
                                        <p:attrNameLst>
                                          <p:attrName>style.visibility</p:attrName>
                                        </p:attrNameLst>
                                      </p:cBhvr>
                                      <p:to>
                                        <p:strVal val="visible"/>
                                      </p:to>
                                    </p:set>
                                    <p:animEffect transition="in" filter="wipe(down)">
                                      <p:cBhvr>
                                        <p:cTn id="147" dur="500"/>
                                        <p:tgtEl>
                                          <p:spTgt spid="13385"/>
                                        </p:tgtEl>
                                      </p:cBhvr>
                                    </p:animEffect>
                                  </p:childTnLst>
                                  <p:subTnLst>
                                    <p:set>
                                      <p:cBhvr override="childStyle">
                                        <p:cTn dur="1" fill="hold" display="0" masterRel="nextClick" afterEffect="1"/>
                                        <p:tgtEl>
                                          <p:spTgt spid="13385"/>
                                        </p:tgtEl>
                                        <p:attrNameLst>
                                          <p:attrName>style.visibility</p:attrName>
                                        </p:attrNameLst>
                                      </p:cBhvr>
                                      <p:to>
                                        <p:strVal val="hidden"/>
                                      </p:to>
                                    </p:set>
                                  </p:subTnLst>
                                </p:cTn>
                              </p:par>
                            </p:childTnLst>
                          </p:cTn>
                        </p:par>
                      </p:childTnLst>
                    </p:cTn>
                  </p:par>
                  <p:par>
                    <p:cTn id="148" fill="hold" nodeType="clickPar">
                      <p:stCondLst>
                        <p:cond delay="indefinite"/>
                      </p:stCondLst>
                      <p:childTnLst>
                        <p:par>
                          <p:cTn id="149" fill="hold" nodeType="withGroup">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13391"/>
                                        </p:tgtEl>
                                        <p:attrNameLst>
                                          <p:attrName>style.visibility</p:attrName>
                                        </p:attrNameLst>
                                      </p:cBhvr>
                                      <p:to>
                                        <p:strVal val="visible"/>
                                      </p:to>
                                    </p:set>
                                    <p:animEffect transition="in" filter="dissolve">
                                      <p:cBhvr>
                                        <p:cTn id="152" dur="500"/>
                                        <p:tgtEl>
                                          <p:spTgt spid="13391"/>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4" fill="hold" grpId="0" nodeType="clickEffect">
                                  <p:stCondLst>
                                    <p:cond delay="0"/>
                                  </p:stCondLst>
                                  <p:childTnLst>
                                    <p:set>
                                      <p:cBhvr>
                                        <p:cTn id="156" dur="1" fill="hold">
                                          <p:stCondLst>
                                            <p:cond delay="0"/>
                                          </p:stCondLst>
                                        </p:cTn>
                                        <p:tgtEl>
                                          <p:spTgt spid="13386"/>
                                        </p:tgtEl>
                                        <p:attrNameLst>
                                          <p:attrName>style.visibility</p:attrName>
                                        </p:attrNameLst>
                                      </p:cBhvr>
                                      <p:to>
                                        <p:strVal val="visible"/>
                                      </p:to>
                                    </p:set>
                                    <p:animEffect transition="in" filter="wipe(down)">
                                      <p:cBhvr>
                                        <p:cTn id="157" dur="500"/>
                                        <p:tgtEl>
                                          <p:spTgt spid="13386"/>
                                        </p:tgtEl>
                                      </p:cBhvr>
                                    </p:animEffect>
                                  </p:childTnLst>
                                  <p:subTnLst>
                                    <p:set>
                                      <p:cBhvr override="childStyle">
                                        <p:cTn dur="1" fill="hold" display="0" masterRel="nextClick" afterEffect="1"/>
                                        <p:tgtEl>
                                          <p:spTgt spid="13386"/>
                                        </p:tgtEl>
                                        <p:attrNameLst>
                                          <p:attrName>style.visibility</p:attrName>
                                        </p:attrNameLst>
                                      </p:cBhvr>
                                      <p:to>
                                        <p:strVal val="hidden"/>
                                      </p:to>
                                    </p:set>
                                  </p:sub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1" fill="hold" grpId="0" nodeType="clickEffect">
                                  <p:stCondLst>
                                    <p:cond delay="0"/>
                                  </p:stCondLst>
                                  <p:childTnLst>
                                    <p:set>
                                      <p:cBhvr>
                                        <p:cTn id="161" dur="1" fill="hold">
                                          <p:stCondLst>
                                            <p:cond delay="0"/>
                                          </p:stCondLst>
                                        </p:cTn>
                                        <p:tgtEl>
                                          <p:spTgt spid="13387"/>
                                        </p:tgtEl>
                                        <p:attrNameLst>
                                          <p:attrName>style.visibility</p:attrName>
                                        </p:attrNameLst>
                                      </p:cBhvr>
                                      <p:to>
                                        <p:strVal val="visible"/>
                                      </p:to>
                                    </p:set>
                                    <p:animEffect transition="in" filter="wipe(up)">
                                      <p:cBhvr>
                                        <p:cTn id="162" dur="500"/>
                                        <p:tgtEl>
                                          <p:spTgt spid="13387"/>
                                        </p:tgtEl>
                                      </p:cBhvr>
                                    </p:animEffect>
                                  </p:childTnLst>
                                  <p:subTnLst>
                                    <p:set>
                                      <p:cBhvr override="childStyle">
                                        <p:cTn dur="1" fill="hold" display="0" masterRel="nextClick" afterEffect="1"/>
                                        <p:tgtEl>
                                          <p:spTgt spid="13387"/>
                                        </p:tgtEl>
                                        <p:attrNameLst>
                                          <p:attrName>style.visibility</p:attrName>
                                        </p:attrNameLst>
                                      </p:cBhvr>
                                      <p:to>
                                        <p:strVal val="hidden"/>
                                      </p:to>
                                    </p:set>
                                  </p:sub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1" fill="hold" grpId="0" nodeType="clickEffect">
                                  <p:stCondLst>
                                    <p:cond delay="0"/>
                                  </p:stCondLst>
                                  <p:childTnLst>
                                    <p:set>
                                      <p:cBhvr>
                                        <p:cTn id="166" dur="1" fill="hold">
                                          <p:stCondLst>
                                            <p:cond delay="0"/>
                                          </p:stCondLst>
                                        </p:cTn>
                                        <p:tgtEl>
                                          <p:spTgt spid="13388"/>
                                        </p:tgtEl>
                                        <p:attrNameLst>
                                          <p:attrName>style.visibility</p:attrName>
                                        </p:attrNameLst>
                                      </p:cBhvr>
                                      <p:to>
                                        <p:strVal val="visible"/>
                                      </p:to>
                                    </p:set>
                                    <p:animEffect transition="in" filter="wipe(up)">
                                      <p:cBhvr>
                                        <p:cTn id="167" dur="500"/>
                                        <p:tgtEl>
                                          <p:spTgt spid="13388"/>
                                        </p:tgtEl>
                                      </p:cBhvr>
                                    </p:animEffect>
                                  </p:childTnLst>
                                  <p:subTnLst>
                                    <p:set>
                                      <p:cBhvr override="childStyle">
                                        <p:cTn dur="1" fill="hold" display="0" masterRel="nextClick" afterEffect="1"/>
                                        <p:tgtEl>
                                          <p:spTgt spid="13388"/>
                                        </p:tgtEl>
                                        <p:attrNameLst>
                                          <p:attrName>style.visibility</p:attrName>
                                        </p:attrNameLst>
                                      </p:cBhvr>
                                      <p:to>
                                        <p:strVal val="hidden"/>
                                      </p:to>
                                    </p:set>
                                  </p:sub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1" fill="hold" grpId="0" nodeType="clickEffect">
                                  <p:stCondLst>
                                    <p:cond delay="0"/>
                                  </p:stCondLst>
                                  <p:childTnLst>
                                    <p:set>
                                      <p:cBhvr>
                                        <p:cTn id="171" dur="1" fill="hold">
                                          <p:stCondLst>
                                            <p:cond delay="0"/>
                                          </p:stCondLst>
                                        </p:cTn>
                                        <p:tgtEl>
                                          <p:spTgt spid="13389"/>
                                        </p:tgtEl>
                                        <p:attrNameLst>
                                          <p:attrName>style.visibility</p:attrName>
                                        </p:attrNameLst>
                                      </p:cBhvr>
                                      <p:to>
                                        <p:strVal val="visible"/>
                                      </p:to>
                                    </p:set>
                                    <p:animEffect transition="in" filter="wipe(up)">
                                      <p:cBhvr>
                                        <p:cTn id="172" dur="500"/>
                                        <p:tgtEl>
                                          <p:spTgt spid="13389"/>
                                        </p:tgtEl>
                                      </p:cBhvr>
                                    </p:animEffect>
                                  </p:childTnLst>
                                  <p:subTnLst>
                                    <p:set>
                                      <p:cBhvr override="childStyle">
                                        <p:cTn dur="1" fill="hold" display="0" masterRel="nextClick" afterEffect="1"/>
                                        <p:tgtEl>
                                          <p:spTgt spid="13389"/>
                                        </p:tgtEl>
                                        <p:attrNameLst>
                                          <p:attrName>style.visibility</p:attrName>
                                        </p:attrNameLst>
                                      </p:cBhvr>
                                      <p:to>
                                        <p:strVal val="hidden"/>
                                      </p:to>
                                    </p:set>
                                  </p:subTnLst>
                                </p:cTn>
                              </p:par>
                            </p:childTnLst>
                          </p:cTn>
                        </p:par>
                      </p:childTnLst>
                    </p:cTn>
                  </p:par>
                  <p:par>
                    <p:cTn id="173" fill="hold" nodeType="clickPar">
                      <p:stCondLst>
                        <p:cond delay="indefinite"/>
                      </p:stCondLst>
                      <p:childTnLst>
                        <p:par>
                          <p:cTn id="174" fill="hold" nodeType="withGroup">
                            <p:stCondLst>
                              <p:cond delay="0"/>
                            </p:stCondLst>
                            <p:childTnLst>
                              <p:par>
                                <p:cTn id="175" presetID="9" presetClass="entr" presetSubtype="0" fill="hold" grpId="0" nodeType="clickEffect">
                                  <p:stCondLst>
                                    <p:cond delay="0"/>
                                  </p:stCondLst>
                                  <p:childTnLst>
                                    <p:set>
                                      <p:cBhvr>
                                        <p:cTn id="176" dur="1" fill="hold">
                                          <p:stCondLst>
                                            <p:cond delay="0"/>
                                          </p:stCondLst>
                                        </p:cTn>
                                        <p:tgtEl>
                                          <p:spTgt spid="13390"/>
                                        </p:tgtEl>
                                        <p:attrNameLst>
                                          <p:attrName>style.visibility</p:attrName>
                                        </p:attrNameLst>
                                      </p:cBhvr>
                                      <p:to>
                                        <p:strVal val="visible"/>
                                      </p:to>
                                    </p:set>
                                    <p:animEffect transition="in" filter="dissolve">
                                      <p:cBhvr>
                                        <p:cTn id="177" dur="500"/>
                                        <p:tgtEl>
                                          <p:spTgt spid="13390"/>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9" presetClass="entr" presetSubtype="0" fill="hold" grpId="0" nodeType="clickEffect">
                                  <p:stCondLst>
                                    <p:cond delay="0"/>
                                  </p:stCondLst>
                                  <p:childTnLst>
                                    <p:set>
                                      <p:cBhvr>
                                        <p:cTn id="181" dur="1" fill="hold">
                                          <p:stCondLst>
                                            <p:cond delay="0"/>
                                          </p:stCondLst>
                                        </p:cTn>
                                        <p:tgtEl>
                                          <p:spTgt spid="13392"/>
                                        </p:tgtEl>
                                        <p:attrNameLst>
                                          <p:attrName>style.visibility</p:attrName>
                                        </p:attrNameLst>
                                      </p:cBhvr>
                                      <p:to>
                                        <p:strVal val="visible"/>
                                      </p:to>
                                    </p:set>
                                    <p:animEffect transition="in" filter="dissolve">
                                      <p:cBhvr>
                                        <p:cTn id="182" dur="500"/>
                                        <p:tgtEl>
                                          <p:spTgt spid="13392"/>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9" presetClass="entr" presetSubtype="0" fill="hold" grpId="0" nodeType="clickEffect">
                                  <p:stCondLst>
                                    <p:cond delay="0"/>
                                  </p:stCondLst>
                                  <p:childTnLst>
                                    <p:set>
                                      <p:cBhvr>
                                        <p:cTn id="186" dur="1" fill="hold">
                                          <p:stCondLst>
                                            <p:cond delay="0"/>
                                          </p:stCondLst>
                                        </p:cTn>
                                        <p:tgtEl>
                                          <p:spTgt spid="13393"/>
                                        </p:tgtEl>
                                        <p:attrNameLst>
                                          <p:attrName>style.visibility</p:attrName>
                                        </p:attrNameLst>
                                      </p:cBhvr>
                                      <p:to>
                                        <p:strVal val="visible"/>
                                      </p:to>
                                    </p:set>
                                    <p:animEffect transition="in" filter="dissolve">
                                      <p:cBhvr>
                                        <p:cTn id="187" dur="500"/>
                                        <p:tgtEl>
                                          <p:spTgt spid="13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57" grpId="0" autoUpdateAnimBg="0"/>
      <p:bldP spid="13358" grpId="0" animBg="1"/>
      <p:bldP spid="13359" grpId="0" animBg="1"/>
      <p:bldP spid="13360" grpId="0" animBg="1"/>
      <p:bldP spid="13361" grpId="0" animBg="1" autoUpdateAnimBg="0"/>
      <p:bldP spid="13362" grpId="0" animBg="1"/>
      <p:bldP spid="13363" grpId="0" animBg="1" autoUpdateAnimBg="0"/>
      <p:bldP spid="13364" grpId="0" autoUpdateAnimBg="0"/>
      <p:bldP spid="13365" grpId="0" animBg="1"/>
      <p:bldP spid="13366" grpId="0" animBg="1" autoUpdateAnimBg="0"/>
      <p:bldP spid="13367" grpId="0" animBg="1"/>
      <p:bldP spid="13368" grpId="0" animBg="1"/>
      <p:bldP spid="13369" grpId="0" animBg="1"/>
      <p:bldP spid="13370" grpId="0" animBg="1" autoUpdateAnimBg="0"/>
      <p:bldP spid="13371" grpId="0" autoUpdateAnimBg="0"/>
      <p:bldP spid="13372" grpId="0" animBg="1"/>
      <p:bldP spid="13373" grpId="0" animBg="1"/>
      <p:bldP spid="13374" grpId="0" animBg="1"/>
      <p:bldP spid="13375" grpId="0" animBg="1" autoUpdateAnimBg="0"/>
      <p:bldP spid="13376" grpId="0" animBg="1"/>
      <p:bldP spid="13377" grpId="0" animBg="1" autoUpdateAnimBg="0"/>
      <p:bldP spid="13378" grpId="0" autoUpdateAnimBg="0"/>
      <p:bldP spid="13379" grpId="0" animBg="1"/>
      <p:bldP spid="13380" grpId="0" animBg="1" autoUpdateAnimBg="0"/>
      <p:bldP spid="13381" grpId="0" autoUpdateAnimBg="0"/>
      <p:bldP spid="13382" grpId="0" animBg="1"/>
      <p:bldP spid="13383" grpId="0" animBg="1" autoUpdateAnimBg="0"/>
      <p:bldP spid="13384" grpId="0" animBg="1"/>
      <p:bldP spid="13385" grpId="0" animBg="1"/>
      <p:bldP spid="13386" grpId="0" animBg="1"/>
      <p:bldP spid="13387" grpId="0" animBg="1"/>
      <p:bldP spid="13388" grpId="0" animBg="1"/>
      <p:bldP spid="13389" grpId="0" animBg="1"/>
      <p:bldP spid="13390" grpId="0" animBg="1" autoUpdateAnimBg="0"/>
      <p:bldP spid="13391" grpId="0" autoUpdateAnimBg="0"/>
      <p:bldP spid="13392" grpId="0" autoUpdateAnimBg="0"/>
      <p:bldP spid="1339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rot="-5400000">
            <a:off x="5552282" y="3002756"/>
            <a:ext cx="61579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sz="2000"/>
              <a:t>Heuristic measuring conflict applied to states of tic-tac-toe.</a:t>
            </a:r>
            <a:endParaRPr lang="en-US" altLang="en-US" sz="2400"/>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0"/>
            <a:ext cx="7964487" cy="6858000"/>
          </a:xfrm>
          <a:prstGeom prst="rect">
            <a:avLst/>
          </a:prstGeom>
          <a:noFill/>
          <a:extLst>
            <a:ext uri="{909E8E84-426E-40DD-AFC4-6F175D3DCCD1}">
              <a14:hiddenFill xmlns:a14="http://schemas.microsoft.com/office/drawing/2010/main">
                <a:solidFill>
                  <a:srgbClr val="FFFFFF"/>
                </a:solidFill>
              </a14:hiddenFill>
            </a:ext>
          </a:extLst>
        </p:spPr>
      </p:pic>
      <p:sp>
        <p:nvSpPr>
          <p:cNvPr id="18436" name="Oval 4"/>
          <p:cNvSpPr>
            <a:spLocks noChangeArrowheads="1"/>
          </p:cNvSpPr>
          <p:nvPr/>
        </p:nvSpPr>
        <p:spPr bwMode="auto">
          <a:xfrm>
            <a:off x="1981200" y="5562600"/>
            <a:ext cx="685800" cy="457200"/>
          </a:xfrm>
          <a:prstGeom prst="ellipse">
            <a:avLst/>
          </a:prstGeom>
          <a:noFill/>
          <a:ln w="2857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18437" name="Text Box 5"/>
          <p:cNvSpPr txBox="1">
            <a:spLocks noChangeArrowheads="1"/>
          </p:cNvSpPr>
          <p:nvPr/>
        </p:nvSpPr>
        <p:spPr bwMode="auto">
          <a:xfrm>
            <a:off x="468313" y="0"/>
            <a:ext cx="575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FF0066"/>
                </a:solidFill>
              </a:rPr>
              <a:t>Ex: How to calculate heuristic values?</a:t>
            </a:r>
          </a:p>
        </p:txBody>
      </p:sp>
    </p:spTree>
    <p:extLst>
      <p:ext uri="{BB962C8B-B14F-4D97-AF65-F5344CB8AC3E}">
        <p14:creationId xmlns:p14="http://schemas.microsoft.com/office/powerpoint/2010/main" val="12885999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diamond(in)">
                                      <p:cBhvr>
                                        <p:cTn id="7" dur="200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76200" y="50800"/>
            <a:ext cx="9067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b="1"/>
              <a:t>FIXED FLY DEPTH:</a:t>
            </a:r>
            <a:r>
              <a:rPr lang="en-US" altLang="en-US" sz="2000"/>
              <a:t>Two-ply minimax applied to the opening move of tic-tac-toe, from Nilsson (1971).</a:t>
            </a:r>
            <a:endParaRPr lang="en-US" altLang="en-US" sz="2400"/>
          </a:p>
        </p:txBody>
      </p:sp>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762000"/>
            <a:ext cx="8747125" cy="5340350"/>
          </a:xfrm>
          <a:prstGeom prst="rect">
            <a:avLst/>
          </a:prstGeom>
          <a:noFill/>
          <a:extLst>
            <a:ext uri="{909E8E84-426E-40DD-AFC4-6F175D3DCCD1}">
              <a14:hiddenFill xmlns:a14="http://schemas.microsoft.com/office/drawing/2010/main">
                <a:solidFill>
                  <a:srgbClr val="FFFFFF"/>
                </a:solidFill>
              </a14:hiddenFill>
            </a:ext>
          </a:extLst>
        </p:spPr>
      </p:pic>
      <p:sp>
        <p:nvSpPr>
          <p:cNvPr id="22532" name="Text Box 4"/>
          <p:cNvSpPr txBox="1">
            <a:spLocks noChangeArrowheads="1"/>
          </p:cNvSpPr>
          <p:nvPr/>
        </p:nvSpPr>
        <p:spPr bwMode="auto">
          <a:xfrm>
            <a:off x="304800" y="4876800"/>
            <a:ext cx="2895600" cy="13239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Step1:expand the tree</a:t>
            </a:r>
          </a:p>
          <a:p>
            <a:r>
              <a:rPr lang="en-US" altLang="en-US" sz="1600"/>
              <a:t>Step2:calculate heuristic for level n</a:t>
            </a:r>
          </a:p>
          <a:p>
            <a:r>
              <a:rPr lang="en-US" altLang="en-US" sz="1600"/>
              <a:t>Step3:derived values for n-1 (propogate values back-up)</a:t>
            </a:r>
          </a:p>
        </p:txBody>
      </p:sp>
      <p:sp>
        <p:nvSpPr>
          <p:cNvPr id="22533" name="Oval 5"/>
          <p:cNvSpPr>
            <a:spLocks noChangeArrowheads="1"/>
          </p:cNvSpPr>
          <p:nvPr/>
        </p:nvSpPr>
        <p:spPr bwMode="auto">
          <a:xfrm>
            <a:off x="7620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36" name="Oval 8"/>
          <p:cNvSpPr>
            <a:spLocks noChangeArrowheads="1"/>
          </p:cNvSpPr>
          <p:nvPr/>
        </p:nvSpPr>
        <p:spPr bwMode="auto">
          <a:xfrm>
            <a:off x="78486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37" name="Oval 9"/>
          <p:cNvSpPr>
            <a:spLocks noChangeArrowheads="1"/>
          </p:cNvSpPr>
          <p:nvPr/>
        </p:nvSpPr>
        <p:spPr bwMode="auto">
          <a:xfrm>
            <a:off x="15240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38" name="Oval 10"/>
          <p:cNvSpPr>
            <a:spLocks noChangeArrowheads="1"/>
          </p:cNvSpPr>
          <p:nvPr/>
        </p:nvSpPr>
        <p:spPr bwMode="auto">
          <a:xfrm>
            <a:off x="22860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39" name="Oval 11"/>
          <p:cNvSpPr>
            <a:spLocks noChangeArrowheads="1"/>
          </p:cNvSpPr>
          <p:nvPr/>
        </p:nvSpPr>
        <p:spPr bwMode="auto">
          <a:xfrm>
            <a:off x="31242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0" name="Oval 12"/>
          <p:cNvSpPr>
            <a:spLocks noChangeArrowheads="1"/>
          </p:cNvSpPr>
          <p:nvPr/>
        </p:nvSpPr>
        <p:spPr bwMode="auto">
          <a:xfrm>
            <a:off x="38862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1" name="Oval 13"/>
          <p:cNvSpPr>
            <a:spLocks noChangeArrowheads="1"/>
          </p:cNvSpPr>
          <p:nvPr/>
        </p:nvSpPr>
        <p:spPr bwMode="auto">
          <a:xfrm>
            <a:off x="4343400" y="5791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2" name="Oval 14"/>
          <p:cNvSpPr>
            <a:spLocks noChangeArrowheads="1"/>
          </p:cNvSpPr>
          <p:nvPr/>
        </p:nvSpPr>
        <p:spPr bwMode="auto">
          <a:xfrm>
            <a:off x="8686800" y="4267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3" name="Oval 15"/>
          <p:cNvSpPr>
            <a:spLocks noChangeArrowheads="1"/>
          </p:cNvSpPr>
          <p:nvPr/>
        </p:nvSpPr>
        <p:spPr bwMode="auto">
          <a:xfrm>
            <a:off x="5181600" y="58674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4" name="Oval 16"/>
          <p:cNvSpPr>
            <a:spLocks noChangeArrowheads="1"/>
          </p:cNvSpPr>
          <p:nvPr/>
        </p:nvSpPr>
        <p:spPr bwMode="auto">
          <a:xfrm>
            <a:off x="5943600" y="5791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5" name="Oval 17"/>
          <p:cNvSpPr>
            <a:spLocks noChangeArrowheads="1"/>
          </p:cNvSpPr>
          <p:nvPr/>
        </p:nvSpPr>
        <p:spPr bwMode="auto">
          <a:xfrm>
            <a:off x="6781800" y="5791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6" name="Oval 18"/>
          <p:cNvSpPr>
            <a:spLocks noChangeArrowheads="1"/>
          </p:cNvSpPr>
          <p:nvPr/>
        </p:nvSpPr>
        <p:spPr bwMode="auto">
          <a:xfrm>
            <a:off x="7543800" y="5791200"/>
            <a:ext cx="228600" cy="304800"/>
          </a:xfrm>
          <a:prstGeom prst="ellipse">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2547" name="Freeform 19"/>
          <p:cNvSpPr>
            <a:spLocks/>
          </p:cNvSpPr>
          <p:nvPr/>
        </p:nvSpPr>
        <p:spPr bwMode="auto">
          <a:xfrm>
            <a:off x="1236663" y="1638300"/>
            <a:ext cx="7835900" cy="2978150"/>
          </a:xfrm>
          <a:custGeom>
            <a:avLst/>
            <a:gdLst>
              <a:gd name="T0" fmla="*/ 422 w 4936"/>
              <a:gd name="T1" fmla="*/ 33 h 1876"/>
              <a:gd name="T2" fmla="*/ 212 w 4936"/>
              <a:gd name="T3" fmla="*/ 127 h 1876"/>
              <a:gd name="T4" fmla="*/ 22 w 4936"/>
              <a:gd name="T5" fmla="*/ 371 h 1876"/>
              <a:gd name="T6" fmla="*/ 22 w 4936"/>
              <a:gd name="T7" fmla="*/ 581 h 1876"/>
              <a:gd name="T8" fmla="*/ 158 w 4936"/>
              <a:gd name="T9" fmla="*/ 690 h 1876"/>
              <a:gd name="T10" fmla="*/ 707 w 4936"/>
              <a:gd name="T11" fmla="*/ 805 h 1876"/>
              <a:gd name="T12" fmla="*/ 1344 w 4936"/>
              <a:gd name="T13" fmla="*/ 798 h 1876"/>
              <a:gd name="T14" fmla="*/ 1832 w 4936"/>
              <a:gd name="T15" fmla="*/ 947 h 1876"/>
              <a:gd name="T16" fmla="*/ 2347 w 4936"/>
              <a:gd name="T17" fmla="*/ 1191 h 1876"/>
              <a:gd name="T18" fmla="*/ 2448 w 4936"/>
              <a:gd name="T19" fmla="*/ 1252 h 1876"/>
              <a:gd name="T20" fmla="*/ 2577 w 4936"/>
              <a:gd name="T21" fmla="*/ 1361 h 1876"/>
              <a:gd name="T22" fmla="*/ 2787 w 4936"/>
              <a:gd name="T23" fmla="*/ 1537 h 1876"/>
              <a:gd name="T24" fmla="*/ 3173 w 4936"/>
              <a:gd name="T25" fmla="*/ 1835 h 1876"/>
              <a:gd name="T26" fmla="*/ 3302 w 4936"/>
              <a:gd name="T27" fmla="*/ 1876 h 1876"/>
              <a:gd name="T28" fmla="*/ 3593 w 4936"/>
              <a:gd name="T29" fmla="*/ 1706 h 1876"/>
              <a:gd name="T30" fmla="*/ 3641 w 4936"/>
              <a:gd name="T31" fmla="*/ 1544 h 1876"/>
              <a:gd name="T32" fmla="*/ 3715 w 4936"/>
              <a:gd name="T33" fmla="*/ 1442 h 1876"/>
              <a:gd name="T34" fmla="*/ 4054 w 4936"/>
              <a:gd name="T35" fmla="*/ 1300 h 1876"/>
              <a:gd name="T36" fmla="*/ 4563 w 4936"/>
              <a:gd name="T37" fmla="*/ 1218 h 1876"/>
              <a:gd name="T38" fmla="*/ 4759 w 4936"/>
              <a:gd name="T39" fmla="*/ 1124 h 1876"/>
              <a:gd name="T40" fmla="*/ 4854 w 4936"/>
              <a:gd name="T41" fmla="*/ 947 h 1876"/>
              <a:gd name="T42" fmla="*/ 4935 w 4936"/>
              <a:gd name="T43" fmla="*/ 615 h 1876"/>
              <a:gd name="T44" fmla="*/ 4786 w 4936"/>
              <a:gd name="T45" fmla="*/ 229 h 1876"/>
              <a:gd name="T46" fmla="*/ 4488 w 4936"/>
              <a:gd name="T47" fmla="*/ 134 h 1876"/>
              <a:gd name="T48" fmla="*/ 3959 w 4936"/>
              <a:gd name="T49" fmla="*/ 222 h 1876"/>
              <a:gd name="T50" fmla="*/ 3505 w 4936"/>
              <a:gd name="T51" fmla="*/ 317 h 1876"/>
              <a:gd name="T52" fmla="*/ 3336 w 4936"/>
              <a:gd name="T53" fmla="*/ 331 h 1876"/>
              <a:gd name="T54" fmla="*/ 2963 w 4936"/>
              <a:gd name="T55" fmla="*/ 392 h 1876"/>
              <a:gd name="T56" fmla="*/ 1832 w 4936"/>
              <a:gd name="T57" fmla="*/ 399 h 1876"/>
              <a:gd name="T58" fmla="*/ 1445 w 4936"/>
              <a:gd name="T59" fmla="*/ 344 h 1876"/>
              <a:gd name="T60" fmla="*/ 1093 w 4936"/>
              <a:gd name="T61" fmla="*/ 161 h 1876"/>
              <a:gd name="T62" fmla="*/ 917 w 4936"/>
              <a:gd name="T63" fmla="*/ 66 h 1876"/>
              <a:gd name="T64" fmla="*/ 510 w 4936"/>
              <a:gd name="T65" fmla="*/ 12 h 1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36" h="1876">
                <a:moveTo>
                  <a:pt x="510" y="12"/>
                </a:moveTo>
                <a:cubicBezTo>
                  <a:pt x="479" y="17"/>
                  <a:pt x="452" y="25"/>
                  <a:pt x="422" y="33"/>
                </a:cubicBezTo>
                <a:cubicBezTo>
                  <a:pt x="380" y="57"/>
                  <a:pt x="327" y="84"/>
                  <a:pt x="280" y="94"/>
                </a:cubicBezTo>
                <a:cubicBezTo>
                  <a:pt x="257" y="105"/>
                  <a:pt x="237" y="120"/>
                  <a:pt x="212" y="127"/>
                </a:cubicBezTo>
                <a:cubicBezTo>
                  <a:pt x="160" y="170"/>
                  <a:pt x="83" y="209"/>
                  <a:pt x="56" y="277"/>
                </a:cubicBezTo>
                <a:cubicBezTo>
                  <a:pt x="42" y="313"/>
                  <a:pt x="29" y="336"/>
                  <a:pt x="22" y="371"/>
                </a:cubicBezTo>
                <a:cubicBezTo>
                  <a:pt x="17" y="396"/>
                  <a:pt x="9" y="446"/>
                  <a:pt x="9" y="446"/>
                </a:cubicBezTo>
                <a:cubicBezTo>
                  <a:pt x="12" y="491"/>
                  <a:pt x="0" y="542"/>
                  <a:pt x="22" y="581"/>
                </a:cubicBezTo>
                <a:cubicBezTo>
                  <a:pt x="41" y="615"/>
                  <a:pt x="79" y="663"/>
                  <a:pt x="117" y="676"/>
                </a:cubicBezTo>
                <a:cubicBezTo>
                  <a:pt x="131" y="681"/>
                  <a:pt x="146" y="682"/>
                  <a:pt x="158" y="690"/>
                </a:cubicBezTo>
                <a:cubicBezTo>
                  <a:pt x="252" y="751"/>
                  <a:pt x="357" y="777"/>
                  <a:pt x="456" y="825"/>
                </a:cubicBezTo>
                <a:cubicBezTo>
                  <a:pt x="539" y="821"/>
                  <a:pt x="625" y="820"/>
                  <a:pt x="707" y="805"/>
                </a:cubicBezTo>
                <a:cubicBezTo>
                  <a:pt x="772" y="793"/>
                  <a:pt x="837" y="776"/>
                  <a:pt x="903" y="764"/>
                </a:cubicBezTo>
                <a:cubicBezTo>
                  <a:pt x="1118" y="773"/>
                  <a:pt x="1184" y="770"/>
                  <a:pt x="1344" y="798"/>
                </a:cubicBezTo>
                <a:cubicBezTo>
                  <a:pt x="1390" y="817"/>
                  <a:pt x="1437" y="824"/>
                  <a:pt x="1486" y="832"/>
                </a:cubicBezTo>
                <a:cubicBezTo>
                  <a:pt x="1598" y="878"/>
                  <a:pt x="1718" y="905"/>
                  <a:pt x="1832" y="947"/>
                </a:cubicBezTo>
                <a:cubicBezTo>
                  <a:pt x="1950" y="990"/>
                  <a:pt x="2060" y="1051"/>
                  <a:pt x="2177" y="1096"/>
                </a:cubicBezTo>
                <a:cubicBezTo>
                  <a:pt x="2228" y="1136"/>
                  <a:pt x="2289" y="1162"/>
                  <a:pt x="2347" y="1191"/>
                </a:cubicBezTo>
                <a:cubicBezTo>
                  <a:pt x="2373" y="1204"/>
                  <a:pt x="2394" y="1223"/>
                  <a:pt x="2421" y="1232"/>
                </a:cubicBezTo>
                <a:cubicBezTo>
                  <a:pt x="2430" y="1239"/>
                  <a:pt x="2440" y="1244"/>
                  <a:pt x="2448" y="1252"/>
                </a:cubicBezTo>
                <a:cubicBezTo>
                  <a:pt x="2456" y="1260"/>
                  <a:pt x="2460" y="1272"/>
                  <a:pt x="2469" y="1279"/>
                </a:cubicBezTo>
                <a:cubicBezTo>
                  <a:pt x="2503" y="1308"/>
                  <a:pt x="2543" y="1327"/>
                  <a:pt x="2577" y="1361"/>
                </a:cubicBezTo>
                <a:cubicBezTo>
                  <a:pt x="2622" y="1406"/>
                  <a:pt x="2682" y="1438"/>
                  <a:pt x="2726" y="1483"/>
                </a:cubicBezTo>
                <a:cubicBezTo>
                  <a:pt x="2820" y="1578"/>
                  <a:pt x="2687" y="1463"/>
                  <a:pt x="2787" y="1537"/>
                </a:cubicBezTo>
                <a:cubicBezTo>
                  <a:pt x="2833" y="1571"/>
                  <a:pt x="2854" y="1632"/>
                  <a:pt x="2902" y="1666"/>
                </a:cubicBezTo>
                <a:cubicBezTo>
                  <a:pt x="2963" y="1753"/>
                  <a:pt x="3079" y="1796"/>
                  <a:pt x="3173" y="1835"/>
                </a:cubicBezTo>
                <a:cubicBezTo>
                  <a:pt x="3195" y="1844"/>
                  <a:pt x="3219" y="1848"/>
                  <a:pt x="3241" y="1855"/>
                </a:cubicBezTo>
                <a:cubicBezTo>
                  <a:pt x="3261" y="1862"/>
                  <a:pt x="3302" y="1876"/>
                  <a:pt x="3302" y="1876"/>
                </a:cubicBezTo>
                <a:cubicBezTo>
                  <a:pt x="3398" y="1871"/>
                  <a:pt x="3458" y="1876"/>
                  <a:pt x="3533" y="1822"/>
                </a:cubicBezTo>
                <a:cubicBezTo>
                  <a:pt x="3557" y="1784"/>
                  <a:pt x="3574" y="1746"/>
                  <a:pt x="3593" y="1706"/>
                </a:cubicBezTo>
                <a:cubicBezTo>
                  <a:pt x="3601" y="1669"/>
                  <a:pt x="3618" y="1640"/>
                  <a:pt x="3627" y="1605"/>
                </a:cubicBezTo>
                <a:cubicBezTo>
                  <a:pt x="3628" y="1602"/>
                  <a:pt x="3638" y="1550"/>
                  <a:pt x="3641" y="1544"/>
                </a:cubicBezTo>
                <a:cubicBezTo>
                  <a:pt x="3646" y="1536"/>
                  <a:pt x="3655" y="1531"/>
                  <a:pt x="3661" y="1523"/>
                </a:cubicBezTo>
                <a:cubicBezTo>
                  <a:pt x="3681" y="1495"/>
                  <a:pt x="3691" y="1469"/>
                  <a:pt x="3715" y="1442"/>
                </a:cubicBezTo>
                <a:cubicBezTo>
                  <a:pt x="3770" y="1380"/>
                  <a:pt x="3859" y="1332"/>
                  <a:pt x="3939" y="1320"/>
                </a:cubicBezTo>
                <a:cubicBezTo>
                  <a:pt x="3981" y="1305"/>
                  <a:pt x="4005" y="1307"/>
                  <a:pt x="4054" y="1300"/>
                </a:cubicBezTo>
                <a:cubicBezTo>
                  <a:pt x="4122" y="1291"/>
                  <a:pt x="4183" y="1273"/>
                  <a:pt x="4251" y="1266"/>
                </a:cubicBezTo>
                <a:cubicBezTo>
                  <a:pt x="4350" y="1240"/>
                  <a:pt x="4460" y="1228"/>
                  <a:pt x="4563" y="1218"/>
                </a:cubicBezTo>
                <a:cubicBezTo>
                  <a:pt x="4608" y="1208"/>
                  <a:pt x="4647" y="1189"/>
                  <a:pt x="4691" y="1178"/>
                </a:cubicBezTo>
                <a:cubicBezTo>
                  <a:pt x="4714" y="1160"/>
                  <a:pt x="4740" y="1146"/>
                  <a:pt x="4759" y="1124"/>
                </a:cubicBezTo>
                <a:cubicBezTo>
                  <a:pt x="4778" y="1101"/>
                  <a:pt x="4788" y="1073"/>
                  <a:pt x="4806" y="1049"/>
                </a:cubicBezTo>
                <a:cubicBezTo>
                  <a:pt x="4819" y="1013"/>
                  <a:pt x="4843" y="983"/>
                  <a:pt x="4854" y="947"/>
                </a:cubicBezTo>
                <a:cubicBezTo>
                  <a:pt x="4873" y="887"/>
                  <a:pt x="4874" y="822"/>
                  <a:pt x="4901" y="764"/>
                </a:cubicBezTo>
                <a:cubicBezTo>
                  <a:pt x="4912" y="714"/>
                  <a:pt x="4926" y="666"/>
                  <a:pt x="4935" y="615"/>
                </a:cubicBezTo>
                <a:cubicBezTo>
                  <a:pt x="4933" y="518"/>
                  <a:pt x="4936" y="421"/>
                  <a:pt x="4928" y="324"/>
                </a:cubicBezTo>
                <a:cubicBezTo>
                  <a:pt x="4924" y="271"/>
                  <a:pt x="4829" y="240"/>
                  <a:pt x="4786" y="229"/>
                </a:cubicBezTo>
                <a:cubicBezTo>
                  <a:pt x="4736" y="197"/>
                  <a:pt x="4654" y="185"/>
                  <a:pt x="4596" y="175"/>
                </a:cubicBezTo>
                <a:cubicBezTo>
                  <a:pt x="4561" y="157"/>
                  <a:pt x="4526" y="144"/>
                  <a:pt x="4488" y="134"/>
                </a:cubicBezTo>
                <a:cubicBezTo>
                  <a:pt x="4386" y="140"/>
                  <a:pt x="4277" y="142"/>
                  <a:pt x="4176" y="161"/>
                </a:cubicBezTo>
                <a:cubicBezTo>
                  <a:pt x="4101" y="175"/>
                  <a:pt x="4036" y="212"/>
                  <a:pt x="3959" y="222"/>
                </a:cubicBezTo>
                <a:cubicBezTo>
                  <a:pt x="3854" y="259"/>
                  <a:pt x="3752" y="277"/>
                  <a:pt x="3641" y="283"/>
                </a:cubicBezTo>
                <a:cubicBezTo>
                  <a:pt x="3598" y="294"/>
                  <a:pt x="3549" y="312"/>
                  <a:pt x="3505" y="317"/>
                </a:cubicBezTo>
                <a:cubicBezTo>
                  <a:pt x="3469" y="321"/>
                  <a:pt x="3433" y="321"/>
                  <a:pt x="3397" y="324"/>
                </a:cubicBezTo>
                <a:cubicBezTo>
                  <a:pt x="3377" y="326"/>
                  <a:pt x="3356" y="329"/>
                  <a:pt x="3336" y="331"/>
                </a:cubicBezTo>
                <a:cubicBezTo>
                  <a:pt x="3292" y="342"/>
                  <a:pt x="3252" y="352"/>
                  <a:pt x="3207" y="358"/>
                </a:cubicBezTo>
                <a:cubicBezTo>
                  <a:pt x="3130" y="385"/>
                  <a:pt x="3044" y="387"/>
                  <a:pt x="2963" y="392"/>
                </a:cubicBezTo>
                <a:cubicBezTo>
                  <a:pt x="2832" y="426"/>
                  <a:pt x="2674" y="404"/>
                  <a:pt x="2536" y="412"/>
                </a:cubicBezTo>
                <a:cubicBezTo>
                  <a:pt x="2301" y="399"/>
                  <a:pt x="2067" y="413"/>
                  <a:pt x="1832" y="399"/>
                </a:cubicBezTo>
                <a:cubicBezTo>
                  <a:pt x="1732" y="378"/>
                  <a:pt x="1635" y="370"/>
                  <a:pt x="1533" y="365"/>
                </a:cubicBezTo>
                <a:cubicBezTo>
                  <a:pt x="1503" y="359"/>
                  <a:pt x="1471" y="359"/>
                  <a:pt x="1445" y="344"/>
                </a:cubicBezTo>
                <a:cubicBezTo>
                  <a:pt x="1397" y="317"/>
                  <a:pt x="1364" y="270"/>
                  <a:pt x="1317" y="243"/>
                </a:cubicBezTo>
                <a:cubicBezTo>
                  <a:pt x="1248" y="204"/>
                  <a:pt x="1166" y="188"/>
                  <a:pt x="1093" y="161"/>
                </a:cubicBezTo>
                <a:cubicBezTo>
                  <a:pt x="1052" y="146"/>
                  <a:pt x="1025" y="106"/>
                  <a:pt x="985" y="94"/>
                </a:cubicBezTo>
                <a:cubicBezTo>
                  <a:pt x="962" y="79"/>
                  <a:pt x="941" y="78"/>
                  <a:pt x="917" y="66"/>
                </a:cubicBezTo>
                <a:cubicBezTo>
                  <a:pt x="788" y="3"/>
                  <a:pt x="675" y="16"/>
                  <a:pt x="524" y="12"/>
                </a:cubicBezTo>
                <a:cubicBezTo>
                  <a:pt x="500" y="4"/>
                  <a:pt x="498" y="0"/>
                  <a:pt x="510" y="12"/>
                </a:cubicBezTo>
                <a:close/>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2548" name="Text Box 20"/>
          <p:cNvSpPr txBox="1">
            <a:spLocks noChangeArrowheads="1"/>
          </p:cNvSpPr>
          <p:nvPr/>
        </p:nvSpPr>
        <p:spPr bwMode="auto">
          <a:xfrm>
            <a:off x="2376488" y="800100"/>
            <a:ext cx="1511300" cy="3667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MAX MOVE</a:t>
            </a:r>
          </a:p>
        </p:txBody>
      </p:sp>
      <p:sp>
        <p:nvSpPr>
          <p:cNvPr id="22549" name="Text Box 21"/>
          <p:cNvSpPr txBox="1">
            <a:spLocks noChangeArrowheads="1"/>
          </p:cNvSpPr>
          <p:nvPr/>
        </p:nvSpPr>
        <p:spPr bwMode="auto">
          <a:xfrm>
            <a:off x="0" y="1592263"/>
            <a:ext cx="1476375" cy="36671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MIN MOVE</a:t>
            </a:r>
          </a:p>
        </p:txBody>
      </p:sp>
    </p:spTree>
    <p:extLst>
      <p:ext uri="{BB962C8B-B14F-4D97-AF65-F5344CB8AC3E}">
        <p14:creationId xmlns:p14="http://schemas.microsoft.com/office/powerpoint/2010/main" val="7414094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47"/>
                                        </p:tgtEl>
                                        <p:attrNameLst>
                                          <p:attrName>style.visibility</p:attrName>
                                        </p:attrNameLst>
                                      </p:cBhvr>
                                      <p:to>
                                        <p:strVal val="visible"/>
                                      </p:to>
                                    </p:set>
                                    <p:anim calcmode="lin" valueType="num">
                                      <p:cBhvr additive="base">
                                        <p:cTn id="7" dur="500" fill="hold"/>
                                        <p:tgtEl>
                                          <p:spTgt spid="22547"/>
                                        </p:tgtEl>
                                        <p:attrNameLst>
                                          <p:attrName>ppt_x</p:attrName>
                                        </p:attrNameLst>
                                      </p:cBhvr>
                                      <p:tavLst>
                                        <p:tav tm="0">
                                          <p:val>
                                            <p:strVal val="#ppt_x"/>
                                          </p:val>
                                        </p:tav>
                                        <p:tav tm="100000">
                                          <p:val>
                                            <p:strVal val="#ppt_x"/>
                                          </p:val>
                                        </p:tav>
                                      </p:tavLst>
                                    </p:anim>
                                    <p:anim calcmode="lin" valueType="num">
                                      <p:cBhvr additive="base">
                                        <p:cTn id="8" dur="500" fill="hold"/>
                                        <p:tgtEl>
                                          <p:spTgt spid="225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381000" y="212725"/>
            <a:ext cx="8001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2120900">
              <a:defRPr>
                <a:solidFill>
                  <a:schemeClr val="tx1"/>
                </a:solidFill>
                <a:latin typeface="Arial" panose="020B0604020202020204" pitchFamily="34" charset="0"/>
                <a:cs typeface="Arial" panose="020B0604020202020204" pitchFamily="34" charset="0"/>
              </a:defRPr>
            </a:lvl2pPr>
            <a:lvl3pPr marL="2235200">
              <a:defRPr>
                <a:solidFill>
                  <a:schemeClr val="tx1"/>
                </a:solidFill>
                <a:latin typeface="Arial" panose="020B0604020202020204" pitchFamily="34" charset="0"/>
                <a:cs typeface="Arial" panose="020B0604020202020204" pitchFamily="34" charset="0"/>
              </a:defRPr>
            </a:lvl3pPr>
            <a:lvl4pPr marL="2349500">
              <a:defRPr>
                <a:solidFill>
                  <a:schemeClr val="tx1"/>
                </a:solidFill>
                <a:latin typeface="Arial" panose="020B0604020202020204" pitchFamily="34" charset="0"/>
                <a:cs typeface="Arial" panose="020B0604020202020204" pitchFamily="34" charset="0"/>
              </a:defRPr>
            </a:lvl4pPr>
            <a:lvl5pPr marL="2463800">
              <a:defRPr>
                <a:solidFill>
                  <a:schemeClr val="tx1"/>
                </a:solidFill>
                <a:latin typeface="Arial" panose="020B0604020202020204" pitchFamily="34" charset="0"/>
                <a:cs typeface="Arial" panose="020B0604020202020204" pitchFamily="34" charset="0"/>
              </a:defRPr>
            </a:lvl5pPr>
            <a:lvl6pPr marL="29210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33782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8354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42926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sz="2000"/>
              <a:t>Two-ply minimax and one of two possible MAX second moves, from Nilsson (1971).</a:t>
            </a:r>
            <a:endParaRPr lang="en-US" altLang="en-US" sz="2400"/>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13" y="976313"/>
            <a:ext cx="6681787" cy="5541962"/>
          </a:xfrm>
          <a:prstGeom prst="rect">
            <a:avLst/>
          </a:prstGeom>
          <a:noFill/>
          <a:extLst>
            <a:ext uri="{909E8E84-426E-40DD-AFC4-6F175D3DCCD1}">
              <a14:hiddenFill xmlns:a14="http://schemas.microsoft.com/office/drawing/2010/main">
                <a:solidFill>
                  <a:srgbClr val="FFFFFF"/>
                </a:solidFill>
              </a14:hiddenFill>
            </a:ext>
          </a:extLst>
        </p:spPr>
      </p:pic>
      <p:sp>
        <p:nvSpPr>
          <p:cNvPr id="23556" name="Text Box 4"/>
          <p:cNvSpPr txBox="1">
            <a:spLocks noChangeArrowheads="1"/>
          </p:cNvSpPr>
          <p:nvPr/>
        </p:nvSpPr>
        <p:spPr bwMode="auto">
          <a:xfrm>
            <a:off x="304800" y="4572000"/>
            <a:ext cx="2590800" cy="106362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Step4:choose best move for MAX</a:t>
            </a:r>
          </a:p>
          <a:p>
            <a:pPr>
              <a:spcBef>
                <a:spcPct val="50000"/>
              </a:spcBef>
            </a:pPr>
            <a:r>
              <a:rPr lang="en-US" altLang="en-US"/>
              <a:t>Repeat step1-step3</a:t>
            </a:r>
          </a:p>
        </p:txBody>
      </p:sp>
      <p:sp>
        <p:nvSpPr>
          <p:cNvPr id="23557" name="AutoShape 5"/>
          <p:cNvSpPr>
            <a:spLocks noChangeArrowheads="1"/>
          </p:cNvSpPr>
          <p:nvPr/>
        </p:nvSpPr>
        <p:spPr bwMode="auto">
          <a:xfrm>
            <a:off x="7010400" y="457200"/>
            <a:ext cx="2133600" cy="990600"/>
          </a:xfrm>
          <a:prstGeom prst="wedgeEllipseCallout">
            <a:avLst>
              <a:gd name="adj1" fmla="val -41519"/>
              <a:gd name="adj2" fmla="val 4343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en-US"/>
              <a:t>-</a:t>
            </a:r>
            <a:r>
              <a:rPr lang="en-US" altLang="en-US" sz="1600"/>
              <a:t>Max middle</a:t>
            </a:r>
          </a:p>
          <a:p>
            <a:pPr algn="ctr"/>
            <a:r>
              <a:rPr lang="en-US" altLang="en-US" sz="1600"/>
              <a:t>-min top</a:t>
            </a:r>
          </a:p>
          <a:p>
            <a:pPr algn="ctr"/>
            <a:r>
              <a:rPr lang="en-US" altLang="en-US" sz="1600"/>
              <a:t>-Max ??</a:t>
            </a:r>
          </a:p>
        </p:txBody>
      </p:sp>
    </p:spTree>
    <p:extLst>
      <p:ext uri="{BB962C8B-B14F-4D97-AF65-F5344CB8AC3E}">
        <p14:creationId xmlns:p14="http://schemas.microsoft.com/office/powerpoint/2010/main" val="3431692152"/>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76200" y="50800"/>
            <a:ext cx="9067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b="1"/>
              <a:t>Figure 4.19:</a:t>
            </a:r>
            <a:r>
              <a:rPr lang="en-US" altLang="en-US" sz="2400"/>
              <a:t>	</a:t>
            </a:r>
            <a:r>
              <a:rPr lang="en-US" altLang="en-US" sz="2000"/>
              <a:t>Two-ply minimax applied to </a:t>
            </a:r>
            <a:r>
              <a:rPr lang="en-US" altLang="en-US" sz="2000" b="1"/>
              <a:t>X</a:t>
            </a:r>
            <a:r>
              <a:rPr lang="en-US" altLang="en-US" sz="2000"/>
              <a:t>’s move near the end of the game, from Nilsson (1971).</a:t>
            </a:r>
            <a:endParaRPr lang="en-US" altLang="en-US" sz="2400"/>
          </a:p>
        </p:txBody>
      </p:sp>
      <p:pic>
        <p:nvPicPr>
          <p:cNvPr id="245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138" y="1169988"/>
            <a:ext cx="7197725" cy="5307012"/>
          </a:xfrm>
          <a:prstGeom prst="rect">
            <a:avLst/>
          </a:prstGeom>
          <a:noFill/>
          <a:extLst>
            <a:ext uri="{909E8E84-426E-40DD-AFC4-6F175D3DCCD1}">
              <a14:hiddenFill xmlns:a14="http://schemas.microsoft.com/office/drawing/2010/main">
                <a:solidFill>
                  <a:srgbClr val="FFFFFF"/>
                </a:solidFill>
              </a14:hiddenFill>
            </a:ext>
          </a:extLst>
        </p:spPr>
      </p:pic>
      <p:sp>
        <p:nvSpPr>
          <p:cNvPr id="24580" name="Text Box 4"/>
          <p:cNvSpPr txBox="1">
            <a:spLocks noChangeArrowheads="1"/>
          </p:cNvSpPr>
          <p:nvPr/>
        </p:nvSpPr>
        <p:spPr bwMode="auto">
          <a:xfrm>
            <a:off x="228600" y="3581400"/>
            <a:ext cx="1676400" cy="65087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Forced win for MIN -inf</a:t>
            </a:r>
          </a:p>
        </p:txBody>
      </p:sp>
      <p:sp>
        <p:nvSpPr>
          <p:cNvPr id="24581" name="Line 5"/>
          <p:cNvSpPr>
            <a:spLocks noChangeShapeType="1"/>
          </p:cNvSpPr>
          <p:nvPr/>
        </p:nvSpPr>
        <p:spPr bwMode="auto">
          <a:xfrm>
            <a:off x="1905000" y="3581400"/>
            <a:ext cx="3048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2" name="Text Box 6"/>
          <p:cNvSpPr txBox="1">
            <a:spLocks noChangeArrowheads="1"/>
          </p:cNvSpPr>
          <p:nvPr/>
        </p:nvSpPr>
        <p:spPr bwMode="auto">
          <a:xfrm>
            <a:off x="304800" y="5486400"/>
            <a:ext cx="2590800" cy="133826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Step..N:choose best move for MAX</a:t>
            </a:r>
          </a:p>
          <a:p>
            <a:pPr>
              <a:spcBef>
                <a:spcPct val="50000"/>
              </a:spcBef>
            </a:pPr>
            <a:r>
              <a:rPr lang="en-US" altLang="en-US"/>
              <a:t>Repeat all steps until MAX WIN</a:t>
            </a:r>
          </a:p>
        </p:txBody>
      </p:sp>
      <p:sp>
        <p:nvSpPr>
          <p:cNvPr id="24583" name="Oval 7"/>
          <p:cNvSpPr>
            <a:spLocks noChangeArrowheads="1"/>
          </p:cNvSpPr>
          <p:nvPr/>
        </p:nvSpPr>
        <p:spPr bwMode="auto">
          <a:xfrm>
            <a:off x="1981200" y="16002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5" name="Oval 9"/>
          <p:cNvSpPr>
            <a:spLocks noChangeArrowheads="1"/>
          </p:cNvSpPr>
          <p:nvPr/>
        </p:nvSpPr>
        <p:spPr bwMode="auto">
          <a:xfrm>
            <a:off x="2555875" y="4041775"/>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6" name="Oval 10"/>
          <p:cNvSpPr>
            <a:spLocks noChangeArrowheads="1"/>
          </p:cNvSpPr>
          <p:nvPr/>
        </p:nvSpPr>
        <p:spPr bwMode="auto">
          <a:xfrm>
            <a:off x="4527550" y="48768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7" name="Oval 11"/>
          <p:cNvSpPr>
            <a:spLocks noChangeArrowheads="1"/>
          </p:cNvSpPr>
          <p:nvPr/>
        </p:nvSpPr>
        <p:spPr bwMode="auto">
          <a:xfrm>
            <a:off x="6553200" y="41910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8" name="Oval 12"/>
          <p:cNvSpPr>
            <a:spLocks noChangeArrowheads="1"/>
          </p:cNvSpPr>
          <p:nvPr/>
        </p:nvSpPr>
        <p:spPr bwMode="auto">
          <a:xfrm>
            <a:off x="7010400" y="17526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Tree>
    <p:extLst>
      <p:ext uri="{BB962C8B-B14F-4D97-AF65-F5344CB8AC3E}">
        <p14:creationId xmlns:p14="http://schemas.microsoft.com/office/powerpoint/2010/main" val="3392679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xit" presetSubtype="16" fill="hold" grpId="0" nodeType="clickEffect">
                                  <p:stCondLst>
                                    <p:cond delay="0"/>
                                  </p:stCondLst>
                                  <p:childTnLst>
                                    <p:animEffect transition="out" filter="box(in)">
                                      <p:cBhvr>
                                        <p:cTn id="6" dur="500"/>
                                        <p:tgtEl>
                                          <p:spTgt spid="24583"/>
                                        </p:tgtEl>
                                      </p:cBhvr>
                                    </p:animEffect>
                                    <p:set>
                                      <p:cBhvr>
                                        <p:cTn id="7" dur="1" fill="hold">
                                          <p:stCondLst>
                                            <p:cond delay="499"/>
                                          </p:stCondLst>
                                        </p:cTn>
                                        <p:tgtEl>
                                          <p:spTgt spid="24583"/>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xit" presetSubtype="16" fill="hold" grpId="0" nodeType="clickEffect">
                                  <p:stCondLst>
                                    <p:cond delay="0"/>
                                  </p:stCondLst>
                                  <p:childTnLst>
                                    <p:animEffect transition="out" filter="box(in)">
                                      <p:cBhvr>
                                        <p:cTn id="11" dur="500"/>
                                        <p:tgtEl>
                                          <p:spTgt spid="24585"/>
                                        </p:tgtEl>
                                      </p:cBhvr>
                                    </p:animEffect>
                                    <p:set>
                                      <p:cBhvr>
                                        <p:cTn id="12" dur="1" fill="hold">
                                          <p:stCondLst>
                                            <p:cond delay="499"/>
                                          </p:stCondLst>
                                        </p:cTn>
                                        <p:tgtEl>
                                          <p:spTgt spid="24585"/>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xit" presetSubtype="16" fill="hold" grpId="0" nodeType="clickEffect">
                                  <p:stCondLst>
                                    <p:cond delay="0"/>
                                  </p:stCondLst>
                                  <p:childTnLst>
                                    <p:animEffect transition="out" filter="box(in)">
                                      <p:cBhvr>
                                        <p:cTn id="16" dur="500"/>
                                        <p:tgtEl>
                                          <p:spTgt spid="24586"/>
                                        </p:tgtEl>
                                      </p:cBhvr>
                                    </p:animEffect>
                                    <p:set>
                                      <p:cBhvr>
                                        <p:cTn id="17" dur="1" fill="hold">
                                          <p:stCondLst>
                                            <p:cond delay="499"/>
                                          </p:stCondLst>
                                        </p:cTn>
                                        <p:tgtEl>
                                          <p:spTgt spid="24586"/>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xit" presetSubtype="16" fill="hold" grpId="0" nodeType="clickEffect">
                                  <p:stCondLst>
                                    <p:cond delay="0"/>
                                  </p:stCondLst>
                                  <p:childTnLst>
                                    <p:animEffect transition="out" filter="box(in)">
                                      <p:cBhvr>
                                        <p:cTn id="21" dur="500"/>
                                        <p:tgtEl>
                                          <p:spTgt spid="24587"/>
                                        </p:tgtEl>
                                      </p:cBhvr>
                                    </p:animEffect>
                                    <p:set>
                                      <p:cBhvr>
                                        <p:cTn id="22" dur="1" fill="hold">
                                          <p:stCondLst>
                                            <p:cond delay="499"/>
                                          </p:stCondLst>
                                        </p:cTn>
                                        <p:tgtEl>
                                          <p:spTgt spid="24587"/>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xit" presetSubtype="16" fill="hold" grpId="0" nodeType="clickEffect">
                                  <p:stCondLst>
                                    <p:cond delay="0"/>
                                  </p:stCondLst>
                                  <p:childTnLst>
                                    <p:animEffect transition="out" filter="box(in)">
                                      <p:cBhvr>
                                        <p:cTn id="26" dur="500"/>
                                        <p:tgtEl>
                                          <p:spTgt spid="24588"/>
                                        </p:tgtEl>
                                      </p:cBhvr>
                                    </p:animEffect>
                                    <p:set>
                                      <p:cBhvr>
                                        <p:cTn id="27" dur="1" fill="hold">
                                          <p:stCondLst>
                                            <p:cond delay="499"/>
                                          </p:stCondLst>
                                        </p:cTn>
                                        <p:tgtEl>
                                          <p:spTgt spid="245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animBg="1"/>
      <p:bldP spid="24585" grpId="0" animBg="1"/>
      <p:bldP spid="24586" grpId="0" animBg="1"/>
      <p:bldP spid="24587" grpId="0" animBg="1"/>
      <p:bldP spid="2458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457200" y="228600"/>
            <a:ext cx="8229600" cy="731838"/>
          </a:xfrm>
        </p:spPr>
        <p:txBody>
          <a:bodyPr>
            <a:normAutofit fontScale="90000"/>
          </a:bodyPr>
          <a:lstStyle/>
          <a:p>
            <a:r>
              <a:rPr lang="en-US" altLang="en-US"/>
              <a:t>Alpha-beta pruning</a:t>
            </a:r>
          </a:p>
        </p:txBody>
      </p:sp>
      <p:sp>
        <p:nvSpPr>
          <p:cNvPr id="54275" name="Rectangle 3"/>
          <p:cNvSpPr>
            <a:spLocks noGrp="1" noChangeArrowheads="1"/>
          </p:cNvSpPr>
          <p:nvPr>
            <p:ph type="body" idx="1"/>
          </p:nvPr>
        </p:nvSpPr>
        <p:spPr>
          <a:xfrm>
            <a:off x="457200" y="990600"/>
            <a:ext cx="8382000" cy="5867400"/>
          </a:xfrm>
        </p:spPr>
        <p:txBody>
          <a:bodyPr/>
          <a:lstStyle/>
          <a:p>
            <a:r>
              <a:rPr lang="en-US" altLang="en-US" sz="2600"/>
              <a:t>To improve search efficiency in two-person games (compared to minimax that always pursues all branches in state space)</a:t>
            </a:r>
          </a:p>
          <a:p>
            <a:r>
              <a:rPr lang="en-US" altLang="en-US" sz="2600"/>
              <a:t>Alpha-beta search in depth-first fashion </a:t>
            </a:r>
          </a:p>
          <a:p>
            <a:r>
              <a:rPr lang="en-US" altLang="en-US" sz="2600"/>
              <a:t>Alpha(</a:t>
            </a:r>
            <a:r>
              <a:rPr lang="el-GR" altLang="en-US" sz="2600"/>
              <a:t>α</a:t>
            </a:r>
            <a:r>
              <a:rPr lang="en-US" altLang="en-US" sz="2600"/>
              <a:t>) and beta(</a:t>
            </a:r>
            <a:r>
              <a:rPr lang="el-GR" altLang="en-US" sz="2600"/>
              <a:t>β</a:t>
            </a:r>
            <a:r>
              <a:rPr lang="en-US" altLang="en-US" sz="2600"/>
              <a:t>) values are created </a:t>
            </a:r>
          </a:p>
          <a:p>
            <a:r>
              <a:rPr lang="el-GR" altLang="en-US" sz="2600"/>
              <a:t>α</a:t>
            </a:r>
            <a:r>
              <a:rPr lang="en-US" altLang="en-US" sz="2600"/>
              <a:t> associates with MAX-never decrease</a:t>
            </a:r>
          </a:p>
          <a:p>
            <a:r>
              <a:rPr lang="el-GR" altLang="en-US" sz="2600"/>
              <a:t>β</a:t>
            </a:r>
            <a:r>
              <a:rPr lang="en-US" altLang="en-US" sz="2600"/>
              <a:t> associates with MIN-never increase</a:t>
            </a:r>
          </a:p>
          <a:p>
            <a:r>
              <a:rPr lang="en-US" altLang="en-US" sz="2600"/>
              <a:t>How?</a:t>
            </a:r>
          </a:p>
          <a:p>
            <a:pPr lvl="1"/>
            <a:r>
              <a:rPr lang="en-US" altLang="en-US" sz="2200"/>
              <a:t>Expand to full-ply</a:t>
            </a:r>
          </a:p>
          <a:p>
            <a:pPr lvl="1"/>
            <a:r>
              <a:rPr lang="en-US" altLang="en-US" sz="2200"/>
              <a:t>Apply heuristic evaluation to a state and its siblings</a:t>
            </a:r>
          </a:p>
          <a:p>
            <a:pPr lvl="1"/>
            <a:r>
              <a:rPr lang="en-US" altLang="en-US" sz="2200"/>
              <a:t>Back-up to the parent </a:t>
            </a:r>
          </a:p>
          <a:p>
            <a:pPr lvl="1"/>
            <a:r>
              <a:rPr lang="en-US" altLang="en-US" sz="2200"/>
              <a:t>The value is offered to grantparent as a potential </a:t>
            </a:r>
            <a:r>
              <a:rPr lang="el-GR" altLang="en-US" sz="2200"/>
              <a:t>α</a:t>
            </a:r>
            <a:r>
              <a:rPr lang="en-US" altLang="en-US" sz="2200"/>
              <a:t> or </a:t>
            </a:r>
            <a:r>
              <a:rPr lang="el-GR" altLang="en-US" sz="2200"/>
              <a:t>β</a:t>
            </a:r>
            <a:r>
              <a:rPr lang="en-US" altLang="en-US" sz="2200"/>
              <a:t> cutoff </a:t>
            </a:r>
          </a:p>
          <a:p>
            <a:endParaRPr lang="en-US" altLang="en-US" sz="2600"/>
          </a:p>
          <a:p>
            <a:endParaRPr lang="en-US" altLang="en-US" sz="2600"/>
          </a:p>
        </p:txBody>
      </p:sp>
    </p:spTree>
    <p:extLst>
      <p:ext uri="{BB962C8B-B14F-4D97-AF65-F5344CB8AC3E}">
        <p14:creationId xmlns:p14="http://schemas.microsoft.com/office/powerpoint/2010/main" val="39345449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t>Alpha-beta pruning</a:t>
            </a:r>
          </a:p>
        </p:txBody>
      </p:sp>
      <p:sp>
        <p:nvSpPr>
          <p:cNvPr id="55299" name="Rectangle 3"/>
          <p:cNvSpPr>
            <a:spLocks noGrp="1" noChangeArrowheads="1"/>
          </p:cNvSpPr>
          <p:nvPr>
            <p:ph type="body" idx="1"/>
          </p:nvPr>
        </p:nvSpPr>
        <p:spPr/>
        <p:txBody>
          <a:bodyPr/>
          <a:lstStyle/>
          <a:p>
            <a:pPr>
              <a:lnSpc>
                <a:spcPct val="90000"/>
              </a:lnSpc>
            </a:pPr>
            <a:r>
              <a:rPr lang="en-US" altLang="en-US" sz="2600"/>
              <a:t>Two rules to stop alpha-beta searching:</a:t>
            </a:r>
          </a:p>
          <a:p>
            <a:pPr lvl="1">
              <a:lnSpc>
                <a:spcPct val="90000"/>
              </a:lnSpc>
            </a:pPr>
            <a:r>
              <a:rPr lang="en-US" altLang="en-US" sz="2200"/>
              <a:t>For MIN node, if </a:t>
            </a:r>
            <a:r>
              <a:rPr lang="el-GR" altLang="en-US" sz="2200"/>
              <a:t>β</a:t>
            </a:r>
            <a:r>
              <a:rPr lang="en-US" altLang="en-US" sz="2200"/>
              <a:t> &lt;= </a:t>
            </a:r>
            <a:r>
              <a:rPr lang="el-GR" altLang="en-US" sz="2200"/>
              <a:t>α</a:t>
            </a:r>
            <a:r>
              <a:rPr lang="en-US" altLang="en-US" sz="2200"/>
              <a:t> of MAX ancestor</a:t>
            </a:r>
          </a:p>
          <a:p>
            <a:pPr lvl="1">
              <a:lnSpc>
                <a:spcPct val="90000"/>
              </a:lnSpc>
            </a:pPr>
            <a:r>
              <a:rPr lang="en-US" altLang="en-US" sz="2200"/>
              <a:t>For MAX node, if </a:t>
            </a:r>
            <a:r>
              <a:rPr lang="el-GR" altLang="en-US" sz="2200"/>
              <a:t>α</a:t>
            </a:r>
            <a:r>
              <a:rPr lang="en-US" altLang="en-US" sz="2200"/>
              <a:t> &gt;= </a:t>
            </a:r>
            <a:r>
              <a:rPr lang="el-GR" altLang="en-US" sz="2200"/>
              <a:t>β</a:t>
            </a:r>
            <a:r>
              <a:rPr lang="en-US" altLang="en-US" sz="2200"/>
              <a:t> of MIN ancestors</a:t>
            </a:r>
          </a:p>
          <a:p>
            <a:pPr>
              <a:lnSpc>
                <a:spcPct val="90000"/>
              </a:lnSpc>
            </a:pPr>
            <a:r>
              <a:rPr lang="en-US" altLang="en-US" sz="2600"/>
              <a:t>Alpha-beta pruning :- expresses relation between nodes at ply </a:t>
            </a:r>
            <a:r>
              <a:rPr lang="en-US" altLang="en-US" sz="2600" i="1"/>
              <a:t>n</a:t>
            </a:r>
            <a:r>
              <a:rPr lang="en-US" altLang="en-US" sz="2600"/>
              <a:t> and ply </a:t>
            </a:r>
            <a:r>
              <a:rPr lang="en-US" altLang="en-US" sz="2600" i="1"/>
              <a:t>n+2</a:t>
            </a:r>
            <a:r>
              <a:rPr lang="en-US" altLang="en-US" sz="2600"/>
              <a:t> under which entire subtrees rooted at level n+1 can be eliminated(pruned) from consideration</a:t>
            </a:r>
          </a:p>
          <a:p>
            <a:pPr>
              <a:lnSpc>
                <a:spcPct val="90000"/>
              </a:lnSpc>
            </a:pPr>
            <a:r>
              <a:rPr lang="en-US" altLang="en-US" sz="2600"/>
              <a:t>Alpha-beta pruning can effectively double the depth of search tree with same constraint of space and time-search in only one pass, with mimimax two-pass.</a:t>
            </a:r>
          </a:p>
        </p:txBody>
      </p:sp>
    </p:spTree>
    <p:extLst>
      <p:ext uri="{BB962C8B-B14F-4D97-AF65-F5344CB8AC3E}">
        <p14:creationId xmlns:p14="http://schemas.microsoft.com/office/powerpoint/2010/main" val="37253799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76200" y="50800"/>
            <a:ext cx="9067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sz="2400" b="1"/>
              <a:t>Alpha-beta pruning</a:t>
            </a:r>
            <a:r>
              <a:rPr lang="en-US" altLang="en-US" sz="2000"/>
              <a:t> applied to hypothetical state space. States without numbers are not evaluated.</a:t>
            </a:r>
            <a:endParaRPr lang="en-US" altLang="en-US" sz="2400"/>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100" y="1009650"/>
            <a:ext cx="6527800" cy="5373688"/>
          </a:xfrm>
          <a:prstGeom prst="rect">
            <a:avLst/>
          </a:prstGeom>
          <a:noFill/>
          <a:extLst>
            <a:ext uri="{909E8E84-426E-40DD-AFC4-6F175D3DCCD1}">
              <a14:hiddenFill xmlns:a14="http://schemas.microsoft.com/office/drawing/2010/main">
                <a:solidFill>
                  <a:srgbClr val="FFFFFF"/>
                </a:solidFill>
              </a14:hiddenFill>
            </a:ext>
          </a:extLst>
        </p:spPr>
      </p:pic>
      <p:sp>
        <p:nvSpPr>
          <p:cNvPr id="25604" name="Text Box 4"/>
          <p:cNvSpPr txBox="1">
            <a:spLocks noChangeArrowheads="1"/>
          </p:cNvSpPr>
          <p:nvPr/>
        </p:nvSpPr>
        <p:spPr bwMode="auto">
          <a:xfrm>
            <a:off x="152400" y="1676400"/>
            <a:ext cx="1143000" cy="92551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Depth-first fashion </a:t>
            </a:r>
          </a:p>
        </p:txBody>
      </p:sp>
      <p:sp>
        <p:nvSpPr>
          <p:cNvPr id="25605" name="Text Box 5"/>
          <p:cNvSpPr txBox="1">
            <a:spLocks noChangeArrowheads="1"/>
          </p:cNvSpPr>
          <p:nvPr/>
        </p:nvSpPr>
        <p:spPr bwMode="auto">
          <a:xfrm>
            <a:off x="6400800" y="6324600"/>
            <a:ext cx="2438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Example 1</a:t>
            </a:r>
          </a:p>
        </p:txBody>
      </p:sp>
    </p:spTree>
    <p:extLst>
      <p:ext uri="{BB962C8B-B14F-4D97-AF65-F5344CB8AC3E}">
        <p14:creationId xmlns:p14="http://schemas.microsoft.com/office/powerpoint/2010/main" val="2179663641"/>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Rectangle 5"/>
          <p:cNvSpPr>
            <a:spLocks noGrp="1" noChangeArrowheads="1"/>
          </p:cNvSpPr>
          <p:nvPr>
            <p:ph type="title"/>
          </p:nvPr>
        </p:nvSpPr>
        <p:spPr/>
        <p:txBody>
          <a:bodyPr/>
          <a:lstStyle/>
          <a:p>
            <a:r>
              <a:rPr lang="en-US" altLang="en-US" b="1">
                <a:solidFill>
                  <a:schemeClr val="tx1"/>
                </a:solidFill>
              </a:rPr>
              <a:t>Alpha-beta pruning</a:t>
            </a:r>
            <a:r>
              <a:rPr lang="en-US" altLang="en-US"/>
              <a:t> : example 2</a:t>
            </a:r>
            <a:r>
              <a:rPr lang="en-US" altLang="zh-CN">
                <a:ea typeface="SimSun" panose="02010600030101010101" pitchFamily="2" charset="-122"/>
              </a:rPr>
              <a:t>  </a:t>
            </a:r>
            <a:endParaRPr lang="en-US" altLang="en-US"/>
          </a:p>
        </p:txBody>
      </p:sp>
      <p:pic>
        <p:nvPicPr>
          <p:cNvPr id="56324" name="Picture 4" descr="alpha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600200"/>
            <a:ext cx="8001000" cy="426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4218045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a:xfrm>
            <a:off x="228600" y="0"/>
            <a:ext cx="8610600" cy="762000"/>
          </a:xfrm>
        </p:spPr>
        <p:txBody>
          <a:bodyPr>
            <a:normAutofit fontScale="90000"/>
          </a:bodyPr>
          <a:lstStyle/>
          <a:p>
            <a:r>
              <a:rPr lang="en-US" altLang="en-US" dirty="0">
                <a:effectLst/>
              </a:rPr>
              <a:t>The Alpha-Beta </a:t>
            </a:r>
            <a:r>
              <a:rPr lang="en-US" altLang="en-US" dirty="0" smtClean="0">
                <a:effectLst/>
              </a:rPr>
              <a:t>Procedure: Example 3</a:t>
            </a:r>
            <a:endParaRPr lang="en-CA" altLang="en-US" dirty="0">
              <a:effectLst/>
            </a:endParaRPr>
          </a:p>
        </p:txBody>
      </p:sp>
      <p:sp>
        <p:nvSpPr>
          <p:cNvPr id="244739" name="Line 3"/>
          <p:cNvSpPr>
            <a:spLocks noChangeShapeType="1"/>
          </p:cNvSpPr>
          <p:nvPr/>
        </p:nvSpPr>
        <p:spPr bwMode="auto">
          <a:xfrm flipV="1">
            <a:off x="823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40" name="Line 4"/>
          <p:cNvSpPr>
            <a:spLocks noChangeShapeType="1"/>
          </p:cNvSpPr>
          <p:nvPr/>
        </p:nvSpPr>
        <p:spPr bwMode="auto">
          <a:xfrm flipH="1" flipV="1">
            <a:off x="10953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41" name="Line 5"/>
          <p:cNvSpPr>
            <a:spLocks noChangeShapeType="1"/>
          </p:cNvSpPr>
          <p:nvPr/>
        </p:nvSpPr>
        <p:spPr bwMode="auto">
          <a:xfrm flipH="1" flipV="1">
            <a:off x="1128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42"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43"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44"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45"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46"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47"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48"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49" name="Line 13"/>
          <p:cNvSpPr>
            <a:spLocks noChangeShapeType="1"/>
          </p:cNvSpPr>
          <p:nvPr/>
        </p:nvSpPr>
        <p:spPr bwMode="auto">
          <a:xfrm flipV="1">
            <a:off x="17383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50"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51"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52"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53"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54"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55"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56"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57"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58"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59"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60"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61"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62"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63"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64"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65"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66"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67"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68"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69"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70"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71"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72"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73"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74"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75"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76"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77"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78"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79"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80"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81"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82"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83"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84"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85"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86"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87"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88"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89"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90"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91"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792"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93"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94"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95"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796"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97"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98"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799"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00"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01"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02"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03"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04"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05"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06"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07"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08"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09"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10"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11"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12"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13"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14"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15"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16"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17"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18"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19"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4820" name="Line 84"/>
          <p:cNvSpPr>
            <a:spLocks noChangeShapeType="1"/>
          </p:cNvSpPr>
          <p:nvPr/>
        </p:nvSpPr>
        <p:spPr bwMode="auto">
          <a:xfrm flipV="1">
            <a:off x="1143000"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21" name="Line 85"/>
          <p:cNvSpPr>
            <a:spLocks noChangeShapeType="1"/>
          </p:cNvSpPr>
          <p:nvPr/>
        </p:nvSpPr>
        <p:spPr bwMode="auto">
          <a:xfrm flipH="1" flipV="1">
            <a:off x="1601788"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22"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24" name="Text Box 88"/>
          <p:cNvSpPr txBox="1">
            <a:spLocks noChangeArrowheads="1"/>
          </p:cNvSpPr>
          <p:nvPr/>
        </p:nvSpPr>
        <p:spPr bwMode="auto">
          <a:xfrm>
            <a:off x="8154988" y="881063"/>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4825"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4826" name="Text Box 90"/>
          <p:cNvSpPr txBox="1">
            <a:spLocks noChangeArrowheads="1"/>
          </p:cNvSpPr>
          <p:nvPr/>
        </p:nvSpPr>
        <p:spPr bwMode="auto">
          <a:xfrm>
            <a:off x="8154988" y="3090863"/>
            <a:ext cx="989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4827"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28"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29"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30"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1"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2"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33"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4"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5"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36" name="Line 100"/>
          <p:cNvSpPr>
            <a:spLocks noChangeShapeType="1"/>
          </p:cNvSpPr>
          <p:nvPr/>
        </p:nvSpPr>
        <p:spPr bwMode="auto">
          <a:xfrm flipV="1">
            <a:off x="1600200" y="2286000"/>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7"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38"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39"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40"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41"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42" name="Line 106"/>
          <p:cNvSpPr>
            <a:spLocks noChangeShapeType="1"/>
          </p:cNvSpPr>
          <p:nvPr/>
        </p:nvSpPr>
        <p:spPr bwMode="auto">
          <a:xfrm flipV="1">
            <a:off x="2524125" y="1103313"/>
            <a:ext cx="1731963" cy="10541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43"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4844"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4845"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Tree>
    <p:extLst>
      <p:ext uri="{BB962C8B-B14F-4D97-AF65-F5344CB8AC3E}">
        <p14:creationId xmlns:p14="http://schemas.microsoft.com/office/powerpoint/2010/main" val="209406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5763"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64" name="Line 4"/>
          <p:cNvSpPr>
            <a:spLocks noChangeShapeType="1"/>
          </p:cNvSpPr>
          <p:nvPr/>
        </p:nvSpPr>
        <p:spPr bwMode="auto">
          <a:xfrm flipH="1" flipV="1">
            <a:off x="10953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65" name="Line 5"/>
          <p:cNvSpPr>
            <a:spLocks noChangeShapeType="1"/>
          </p:cNvSpPr>
          <p:nvPr/>
        </p:nvSpPr>
        <p:spPr bwMode="auto">
          <a:xfrm flipH="1" flipV="1">
            <a:off x="1128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66"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67"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68"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69"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70"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5771"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72"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73" name="Line 13"/>
          <p:cNvSpPr>
            <a:spLocks noChangeShapeType="1"/>
          </p:cNvSpPr>
          <p:nvPr/>
        </p:nvSpPr>
        <p:spPr bwMode="auto">
          <a:xfrm flipV="1">
            <a:off x="17383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74"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75"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76"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77"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78"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79"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80"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81"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82"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83"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84"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85"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86"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87"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88"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89"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90"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91"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92"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793"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94"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95"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796"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97"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98"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799"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00"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01"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02"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03"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04"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05"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06"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07"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08"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09"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10"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11"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12"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13"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14"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15"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16"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17"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18"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19"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20"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21"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22"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23"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24"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25"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26"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27"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28"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29"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30"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31"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32"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33"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34"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35"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36"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37"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38"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39"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40"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41"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42"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43"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5844"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45" name="Line 85"/>
          <p:cNvSpPr>
            <a:spLocks noChangeShapeType="1"/>
          </p:cNvSpPr>
          <p:nvPr/>
        </p:nvSpPr>
        <p:spPr bwMode="auto">
          <a:xfrm flipH="1" flipV="1">
            <a:off x="1601788"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46"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47" name="Text Box 87"/>
          <p:cNvSpPr txBox="1">
            <a:spLocks noChangeArrowheads="1"/>
          </p:cNvSpPr>
          <p:nvPr/>
        </p:nvSpPr>
        <p:spPr bwMode="auto">
          <a:xfrm>
            <a:off x="304800" y="762000"/>
            <a:ext cx="2057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solidFill>
                  <a:srgbClr val="FF0000"/>
                </a:solidFill>
                <a:latin typeface="Century Gothic" panose="020B0502020202020204" pitchFamily="34" charset="0"/>
              </a:rPr>
              <a:t>Example</a:t>
            </a:r>
            <a:r>
              <a:rPr lang="en-US" altLang="en-US" dirty="0">
                <a:solidFill>
                  <a:srgbClr val="00FFFF"/>
                </a:solidFill>
                <a:latin typeface="Century Gothic" panose="020B0502020202020204" pitchFamily="34" charset="0"/>
              </a:rPr>
              <a:t>:</a:t>
            </a:r>
          </a:p>
        </p:txBody>
      </p:sp>
      <p:sp>
        <p:nvSpPr>
          <p:cNvPr id="245848"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5849"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5850"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5851"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2"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3"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54"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5"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6"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57"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8"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59"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60"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1"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2"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63"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4"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5"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66"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7"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5868"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5869"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5870"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cs typeface="+mn-cs"/>
                <a:sym typeface="Symbol" panose="05050102010706020507" pitchFamily="18" charset="2"/>
              </a:rPr>
              <a:t></a:t>
            </a:r>
            <a:r>
              <a:rPr lang="en-US" altLang="en-US" sz="2000" dirty="0" smtClean="0">
                <a:solidFill>
                  <a:srgbClr val="FF0000"/>
                </a:solidFill>
                <a:latin typeface="Century Gothic" panose="020B0502020202020204" pitchFamily="34" charset="0"/>
              </a:rPr>
              <a:t> </a:t>
            </a:r>
            <a:r>
              <a:rPr lang="en-US" altLang="en-US" sz="2000" dirty="0">
                <a:solidFill>
                  <a:srgbClr val="FF0000"/>
                </a:solidFill>
                <a:latin typeface="Century Gothic" panose="020B0502020202020204" pitchFamily="34" charset="0"/>
              </a:rPr>
              <a:t>= 4</a:t>
            </a:r>
          </a:p>
        </p:txBody>
      </p:sp>
      <p:cxnSp>
        <p:nvCxnSpPr>
          <p:cNvPr id="3" name="Straight Arrow Connector 2"/>
          <p:cNvCxnSpPr/>
          <p:nvPr/>
        </p:nvCxnSpPr>
        <p:spPr>
          <a:xfrm flipH="1">
            <a:off x="2652713" y="1219975"/>
            <a:ext cx="1007268" cy="580231"/>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p:nvPr/>
        </p:nvCxnSpPr>
        <p:spPr>
          <a:xfrm flipH="1">
            <a:off x="1512887" y="2211388"/>
            <a:ext cx="623096" cy="790562"/>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nvCxnSpPr>
        <p:spPr>
          <a:xfrm flipH="1">
            <a:off x="963612" y="3335895"/>
            <a:ext cx="365411" cy="919405"/>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flipH="1">
            <a:off x="661845" y="4679817"/>
            <a:ext cx="215236" cy="854209"/>
          </a:xfrm>
          <a:prstGeom prst="straightConnector1">
            <a:avLst/>
          </a:prstGeom>
          <a:ln w="38100">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27284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6787"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788"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789" name="Line 5"/>
          <p:cNvSpPr>
            <a:spLocks noChangeShapeType="1"/>
          </p:cNvSpPr>
          <p:nvPr/>
        </p:nvSpPr>
        <p:spPr bwMode="auto">
          <a:xfrm flipH="1" flipV="1">
            <a:off x="1128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790"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791"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792"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793"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794"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6795"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6796"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797" name="Line 13"/>
          <p:cNvSpPr>
            <a:spLocks noChangeShapeType="1"/>
          </p:cNvSpPr>
          <p:nvPr/>
        </p:nvSpPr>
        <p:spPr bwMode="auto">
          <a:xfrm flipV="1">
            <a:off x="17383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798"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799"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00"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01"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02"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03"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04"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05"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06"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07"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08"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09"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10"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11"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12"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13"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14"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15"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16"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17"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18"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19"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20"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21"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22"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23"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24"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25"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26"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27"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28"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29"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30"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31"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32"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33"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34"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35"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36"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37"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38"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39"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40"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41"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42"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43"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44"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45"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46"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47"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48"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49"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50"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51"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52"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53"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54"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55"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56"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57"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58"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59"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60"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61"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62"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63"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64"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65"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66"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67"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6868"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69" name="Line 85"/>
          <p:cNvSpPr>
            <a:spLocks noChangeShapeType="1"/>
          </p:cNvSpPr>
          <p:nvPr/>
        </p:nvSpPr>
        <p:spPr bwMode="auto">
          <a:xfrm flipH="1" flipV="1">
            <a:off x="1601788"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70"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71"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6872" name="Text Box 88"/>
          <p:cNvSpPr txBox="1">
            <a:spLocks noChangeArrowheads="1"/>
          </p:cNvSpPr>
          <p:nvPr/>
        </p:nvSpPr>
        <p:spPr bwMode="auto">
          <a:xfrm>
            <a:off x="8154988" y="881063"/>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max</a:t>
            </a:r>
          </a:p>
        </p:txBody>
      </p:sp>
      <p:sp>
        <p:nvSpPr>
          <p:cNvPr id="246873"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min</a:t>
            </a:r>
          </a:p>
        </p:txBody>
      </p:sp>
      <p:sp>
        <p:nvSpPr>
          <p:cNvPr id="246874" name="Text Box 90"/>
          <p:cNvSpPr txBox="1">
            <a:spLocks noChangeArrowheads="1"/>
          </p:cNvSpPr>
          <p:nvPr/>
        </p:nvSpPr>
        <p:spPr bwMode="auto">
          <a:xfrm>
            <a:off x="8154988" y="3090863"/>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max</a:t>
            </a:r>
          </a:p>
        </p:txBody>
      </p:sp>
      <p:sp>
        <p:nvSpPr>
          <p:cNvPr id="246875"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76"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77"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78"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79"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0"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81"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2"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3"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84"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5"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6"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87"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8"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89"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90"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91"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6892"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6893"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min</a:t>
            </a:r>
          </a:p>
        </p:txBody>
      </p:sp>
      <p:sp>
        <p:nvSpPr>
          <p:cNvPr id="246894" name="Text Box 110"/>
          <p:cNvSpPr txBox="1">
            <a:spLocks noChangeArrowheads="1"/>
          </p:cNvSpPr>
          <p:nvPr/>
        </p:nvSpPr>
        <p:spPr bwMode="auto">
          <a:xfrm>
            <a:off x="243682" y="4299745"/>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sym typeface="Symbol" panose="05050102010706020507" pitchFamily="18" charset="2"/>
              </a:rPr>
              <a:t></a:t>
            </a:r>
            <a:r>
              <a:rPr lang="en-US" altLang="en-US" sz="2000" dirty="0">
                <a:solidFill>
                  <a:srgbClr val="FF0000"/>
                </a:solidFill>
                <a:latin typeface="Century Gothic" panose="020B0502020202020204" pitchFamily="34" charset="0"/>
              </a:rPr>
              <a:t> = 4</a:t>
            </a:r>
          </a:p>
        </p:txBody>
      </p:sp>
    </p:spTree>
    <p:extLst>
      <p:ext uri="{BB962C8B-B14F-4D97-AF65-F5344CB8AC3E}">
        <p14:creationId xmlns:p14="http://schemas.microsoft.com/office/powerpoint/2010/main" val="38410574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7811"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12"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13"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14"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15"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16"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17"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18"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7819"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7820"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7821" name="Line 13"/>
          <p:cNvSpPr>
            <a:spLocks noChangeShapeType="1"/>
          </p:cNvSpPr>
          <p:nvPr/>
        </p:nvSpPr>
        <p:spPr bwMode="auto">
          <a:xfrm flipV="1">
            <a:off x="17383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22"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23"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24"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25"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26"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27"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28"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29"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30"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31"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32"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33"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34"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35"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36"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37"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38"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39"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40"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41"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42"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43"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44"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45"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46"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47"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48"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49"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50"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51"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52"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53"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54"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55"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56"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57"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58"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59"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60"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61"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62"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63"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64"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65"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66"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67"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68"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69"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70"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71"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72"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73"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74"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75"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76"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77"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78"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79"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80"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81"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82"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83"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84"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85"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86"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87"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88"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89"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90"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91"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7892"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93" name="Line 85"/>
          <p:cNvSpPr>
            <a:spLocks noChangeShapeType="1"/>
          </p:cNvSpPr>
          <p:nvPr/>
        </p:nvSpPr>
        <p:spPr bwMode="auto">
          <a:xfrm flipH="1" flipV="1">
            <a:off x="1601788"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894"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895"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7896" name="Text Box 88"/>
          <p:cNvSpPr txBox="1">
            <a:spLocks noChangeArrowheads="1"/>
          </p:cNvSpPr>
          <p:nvPr/>
        </p:nvSpPr>
        <p:spPr bwMode="auto">
          <a:xfrm>
            <a:off x="8154988" y="881063"/>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max</a:t>
            </a:r>
          </a:p>
        </p:txBody>
      </p:sp>
      <p:sp>
        <p:nvSpPr>
          <p:cNvPr id="247897"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min</a:t>
            </a:r>
          </a:p>
        </p:txBody>
      </p:sp>
      <p:sp>
        <p:nvSpPr>
          <p:cNvPr id="247898" name="Text Box 90"/>
          <p:cNvSpPr txBox="1">
            <a:spLocks noChangeArrowheads="1"/>
          </p:cNvSpPr>
          <p:nvPr/>
        </p:nvSpPr>
        <p:spPr bwMode="auto">
          <a:xfrm>
            <a:off x="8154988" y="3090863"/>
            <a:ext cx="7604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max</a:t>
            </a:r>
          </a:p>
        </p:txBody>
      </p:sp>
      <p:sp>
        <p:nvSpPr>
          <p:cNvPr id="247899"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0"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1"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02"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3"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4"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05"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6"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7"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08"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09"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10"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11"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12"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13"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14"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15"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7916"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7917"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solidFill>
                  <a:srgbClr val="00FFFF"/>
                </a:solidFill>
                <a:latin typeface="Century Gothic" panose="020B0502020202020204" pitchFamily="34" charset="0"/>
              </a:rPr>
              <a:t>min</a:t>
            </a:r>
          </a:p>
        </p:txBody>
      </p:sp>
      <p:sp>
        <p:nvSpPr>
          <p:cNvPr id="247918"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sym typeface="Symbol" panose="05050102010706020507" pitchFamily="18" charset="2"/>
              </a:rPr>
              <a:t></a:t>
            </a:r>
            <a:r>
              <a:rPr lang="en-US" altLang="en-US" sz="2000" dirty="0">
                <a:solidFill>
                  <a:srgbClr val="FF0000"/>
                </a:solidFill>
                <a:latin typeface="Century Gothic" panose="020B0502020202020204" pitchFamily="34" charset="0"/>
              </a:rPr>
              <a:t> = </a:t>
            </a:r>
            <a:r>
              <a:rPr lang="en-US" altLang="en-US" sz="2000" dirty="0" smtClean="0">
                <a:solidFill>
                  <a:srgbClr val="FF0000"/>
                </a:solidFill>
                <a:latin typeface="Century Gothic" panose="020B0502020202020204" pitchFamily="34" charset="0"/>
              </a:rPr>
              <a:t>3</a:t>
            </a:r>
            <a:endParaRPr lang="en-US" altLang="en-US" sz="2000" dirty="0">
              <a:solidFill>
                <a:srgbClr val="FF0000"/>
              </a:solidFill>
              <a:latin typeface="Century Gothic" panose="020B0502020202020204" pitchFamily="34" charset="0"/>
            </a:endParaRPr>
          </a:p>
        </p:txBody>
      </p:sp>
      <p:sp>
        <p:nvSpPr>
          <p:cNvPr id="247919"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Tree>
    <p:extLst>
      <p:ext uri="{BB962C8B-B14F-4D97-AF65-F5344CB8AC3E}">
        <p14:creationId xmlns:p14="http://schemas.microsoft.com/office/powerpoint/2010/main" val="7537645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22475" y="4635500"/>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3"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sym typeface="Symbol" panose="05050102010706020507" pitchFamily="18" charset="2"/>
              </a:rPr>
              <a:t></a:t>
            </a:r>
            <a:r>
              <a:rPr lang="en-US" altLang="en-US" sz="2000" dirty="0">
                <a:solidFill>
                  <a:srgbClr val="FF0000"/>
                </a:solidFill>
                <a:latin typeface="Century Gothic" panose="020B0502020202020204" pitchFamily="34" charset="0"/>
              </a:rPr>
              <a:t> = </a:t>
            </a:r>
            <a:r>
              <a:rPr lang="en-US" altLang="en-US" sz="2000" dirty="0" smtClean="0">
                <a:solidFill>
                  <a:srgbClr val="FF0000"/>
                </a:solidFill>
                <a:latin typeface="Century Gothic" panose="020B0502020202020204" pitchFamily="34" charset="0"/>
              </a:rPr>
              <a:t>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40710881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22475" y="4635500"/>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3"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302000"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sym typeface="Symbol" panose="05050102010706020507" pitchFamily="18" charset="2"/>
              </a:rPr>
              <a:t></a:t>
            </a:r>
            <a:r>
              <a:rPr lang="en-US" altLang="en-US" sz="2000" dirty="0">
                <a:solidFill>
                  <a:srgbClr val="FF0000"/>
                </a:solidFill>
                <a:latin typeface="Century Gothic" panose="020B0502020202020204" pitchFamily="34" charset="0"/>
              </a:rPr>
              <a:t> = </a:t>
            </a:r>
            <a:r>
              <a:rPr lang="en-US" altLang="en-US" sz="2000" dirty="0" smtClean="0">
                <a:solidFill>
                  <a:srgbClr val="FF0000"/>
                </a:solidFill>
                <a:latin typeface="Century Gothic" panose="020B0502020202020204" pitchFamily="34" charset="0"/>
              </a:rPr>
              <a:t>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cxnSp>
        <p:nvCxnSpPr>
          <p:cNvPr id="6" name="Straight Connector 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2003718" y="4021694"/>
            <a:ext cx="720069"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1&lt;=3</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9598488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cxnSp>
        <p:nvCxnSpPr>
          <p:cNvPr id="117" name="Straight Connector 116"/>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4564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3441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Tree>
    <p:extLst>
      <p:ext uri="{BB962C8B-B14F-4D97-AF65-F5344CB8AC3E}">
        <p14:creationId xmlns:p14="http://schemas.microsoft.com/office/powerpoint/2010/main" val="319205149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cxnSp>
        <p:nvCxnSpPr>
          <p:cNvPr id="119" name="Straight Connector 118"/>
          <p:cNvCxnSpPr/>
          <p:nvPr/>
        </p:nvCxnSpPr>
        <p:spPr>
          <a:xfrm flipH="1">
            <a:off x="3433456" y="3728323"/>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70275" y="2942193"/>
            <a:ext cx="784189" cy="369332"/>
          </a:xfrm>
          <a:prstGeom prst="rect">
            <a:avLst/>
          </a:prstGeom>
        </p:spPr>
        <p:txBody>
          <a:bodyPr wrap="none">
            <a:spAutoFit/>
          </a:bodyPr>
          <a:lstStyle/>
          <a:p>
            <a:pPr lvl="0" fontAlgn="base">
              <a:spcBef>
                <a:spcPct val="50000"/>
              </a:spcBef>
              <a:spcAft>
                <a:spcPct val="0"/>
              </a:spcAft>
            </a:pPr>
            <a:r>
              <a:rPr lang="en-US" altLang="en-US" dirty="0" smtClean="0">
                <a:solidFill>
                  <a:srgbClr val="FF0000"/>
                </a:solidFill>
                <a:latin typeface="Century Gothic" panose="020B0502020202020204" pitchFamily="34" charset="0"/>
                <a:sym typeface="Symbol" panose="05050102010706020507" pitchFamily="18" charset="2"/>
              </a:rPr>
              <a:t>6 &gt;=3</a:t>
            </a:r>
            <a:endParaRPr lang="en-US" altLang="en-US" dirty="0">
              <a:solidFill>
                <a:srgbClr val="FF0000"/>
              </a:solidFill>
              <a:latin typeface="Century Gothic" panose="020B0502020202020204" pitchFamily="34" charset="0"/>
              <a:sym typeface="Symbol" panose="05050102010706020507" pitchFamily="18" charset="2"/>
            </a:endParaRPr>
          </a:p>
        </p:txBody>
      </p:sp>
    </p:spTree>
    <p:extLst>
      <p:ext uri="{BB962C8B-B14F-4D97-AF65-F5344CB8AC3E}">
        <p14:creationId xmlns:p14="http://schemas.microsoft.com/office/powerpoint/2010/main" val="2870986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3456" y="3728323"/>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81911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63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spTree>
    <p:extLst>
      <p:ext uri="{BB962C8B-B14F-4D97-AF65-F5344CB8AC3E}">
        <p14:creationId xmlns:p14="http://schemas.microsoft.com/office/powerpoint/2010/main" val="20941061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spTree>
    <p:extLst>
      <p:ext uri="{BB962C8B-B14F-4D97-AF65-F5344CB8AC3E}">
        <p14:creationId xmlns:p14="http://schemas.microsoft.com/office/powerpoint/2010/main" val="34485665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705043" y="4860578"/>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882393" y="4297930"/>
            <a:ext cx="720069"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2&lt;=3</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17522102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latin typeface="Century Gothic" panose="020B0502020202020204" pitchFamily="34" charset="0"/>
              </a:rPr>
              <a:t>9</a:t>
            </a:r>
          </a:p>
        </p:txBody>
      </p:sp>
      <p:sp>
        <p:nvSpPr>
          <p:cNvPr id="248893" name="Text Box 61"/>
          <p:cNvSpPr txBox="1">
            <a:spLocks noChangeArrowheads="1"/>
          </p:cNvSpPr>
          <p:nvPr/>
        </p:nvSpPr>
        <p:spPr bwMode="auto">
          <a:xfrm>
            <a:off x="55657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89475" y="4849612"/>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=9</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12716075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33359999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3</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1371774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9" name="Rectangle 8"/>
          <p:cNvSpPr/>
          <p:nvPr/>
        </p:nvSpPr>
        <p:spPr>
          <a:xfrm>
            <a:off x="5024756" y="2036544"/>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 </a:t>
            </a:r>
            <a:r>
              <a:rPr lang="en-US" altLang="en-US" dirty="0">
                <a:solidFill>
                  <a:srgbClr val="FF0000"/>
                </a:solidFill>
                <a:latin typeface="Century Gothic" panose="020B0502020202020204" pitchFamily="34" charset="0"/>
                <a:sym typeface="Symbol" panose="05050102010706020507" pitchFamily="18" charset="2"/>
              </a:rPr>
              <a:t>=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Tree>
    <p:extLst>
      <p:ext uri="{BB962C8B-B14F-4D97-AF65-F5344CB8AC3E}">
        <p14:creationId xmlns:p14="http://schemas.microsoft.com/office/powerpoint/2010/main" val="32685128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190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9" name="Rectangle 8"/>
          <p:cNvSpPr/>
          <p:nvPr/>
        </p:nvSpPr>
        <p:spPr>
          <a:xfrm>
            <a:off x="5993974" y="4379751"/>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=9</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4885714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5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384103" y="32459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9" name="Rectangle 8"/>
          <p:cNvSpPr/>
          <p:nvPr/>
        </p:nvSpPr>
        <p:spPr>
          <a:xfrm>
            <a:off x="5979587"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Tree>
    <p:extLst>
      <p:ext uri="{BB962C8B-B14F-4D97-AF65-F5344CB8AC3E}">
        <p14:creationId xmlns:p14="http://schemas.microsoft.com/office/powerpoint/2010/main" val="6737936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499" y="5794375"/>
            <a:ext cx="549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smtClean="0">
                <a:latin typeface="Century Gothic" panose="020B0502020202020204" pitchFamily="34" charset="0"/>
              </a:rPr>
              <a:t>10</a:t>
            </a:r>
            <a:endParaRPr lang="en-US" altLang="en-US" sz="2000" dirty="0">
              <a:latin typeface="Century Gothic" panose="020B0502020202020204" pitchFamily="34" charset="0"/>
            </a:endParaRP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6949" y="3215320"/>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9" name="Rectangle 8"/>
          <p:cNvSpPr/>
          <p:nvPr/>
        </p:nvSpPr>
        <p:spPr>
          <a:xfrm>
            <a:off x="6023832"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
        <p:nvSpPr>
          <p:cNvPr id="11" name="Rectangle 10"/>
          <p:cNvSpPr/>
          <p:nvPr/>
        </p:nvSpPr>
        <p:spPr>
          <a:xfrm>
            <a:off x="6168591" y="32586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FF0000"/>
              </a:solidFill>
              <a:latin typeface="Century Gothic" panose="020B0502020202020204" pitchFamily="34" charset="0"/>
              <a:sym typeface="Symbol" panose="05050102010706020507" pitchFamily="18" charset="2"/>
            </a:endParaRPr>
          </a:p>
        </p:txBody>
      </p:sp>
    </p:spTree>
    <p:extLst>
      <p:ext uri="{BB962C8B-B14F-4D97-AF65-F5344CB8AC3E}">
        <p14:creationId xmlns:p14="http://schemas.microsoft.com/office/powerpoint/2010/main" val="36726119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latin typeface="Century Gothic" panose="020B0502020202020204" pitchFamily="34" charset="0"/>
              </a:rPr>
              <a:t>9</a:t>
            </a: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499" y="5794375"/>
            <a:ext cx="5619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smtClean="0">
                <a:latin typeface="Century Gothic" panose="020B0502020202020204" pitchFamily="34" charset="0"/>
              </a:rPr>
              <a:t>10</a:t>
            </a:r>
            <a:endParaRPr lang="en-US" altLang="en-US" sz="2000" dirty="0">
              <a:latin typeface="Century Gothic" panose="020B0502020202020204" pitchFamily="34" charset="0"/>
            </a:endParaRP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6949" y="3215320"/>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9" name="Rectangle 8"/>
          <p:cNvSpPr/>
          <p:nvPr/>
        </p:nvSpPr>
        <p:spPr>
          <a:xfrm>
            <a:off x="6023832"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
        <p:nvSpPr>
          <p:cNvPr id="11" name="Rectangle 10"/>
          <p:cNvSpPr/>
          <p:nvPr/>
        </p:nvSpPr>
        <p:spPr>
          <a:xfrm>
            <a:off x="6168591" y="32586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FF0000"/>
              </a:solidFill>
              <a:latin typeface="Century Gothic" panose="020B0502020202020204" pitchFamily="34" charset="0"/>
              <a:sym typeface="Symbol" panose="05050102010706020507" pitchFamily="18" charset="2"/>
            </a:endParaRPr>
          </a:p>
        </p:txBody>
      </p:sp>
      <p:cxnSp>
        <p:nvCxnSpPr>
          <p:cNvPr id="127" name="Straight Connector 126"/>
          <p:cNvCxnSpPr/>
          <p:nvPr/>
        </p:nvCxnSpPr>
        <p:spPr>
          <a:xfrm flipH="1">
            <a:off x="7216775" y="3744219"/>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285334" y="2984884"/>
            <a:ext cx="718466" cy="338554"/>
          </a:xfrm>
          <a:prstGeom prst="rect">
            <a:avLst/>
          </a:prstGeom>
        </p:spPr>
        <p:txBody>
          <a:bodyPr wrap="none">
            <a:spAutoFit/>
          </a:bodyPr>
          <a:lstStyle/>
          <a:p>
            <a:pPr lvl="0" fontAlgn="base">
              <a:spcBef>
                <a:spcPct val="50000"/>
              </a:spcBef>
              <a:spcAft>
                <a:spcPct val="0"/>
              </a:spcAft>
            </a:pPr>
            <a:r>
              <a:rPr lang="en-US" altLang="en-US" sz="1600" dirty="0" smtClean="0">
                <a:solidFill>
                  <a:srgbClr val="FF0000"/>
                </a:solidFill>
                <a:latin typeface="Century Gothic" panose="020B0502020202020204" pitchFamily="34" charset="0"/>
                <a:sym typeface="Symbol" panose="05050102010706020507" pitchFamily="18" charset="2"/>
              </a:rPr>
              <a:t>8 &gt;=7</a:t>
            </a:r>
            <a:endParaRPr lang="en-US" altLang="en-US" sz="1600" dirty="0">
              <a:solidFill>
                <a:srgbClr val="FF0000"/>
              </a:solidFill>
              <a:latin typeface="Century Gothic" panose="020B0502020202020204" pitchFamily="34" charset="0"/>
              <a:sym typeface="Symbol" panose="05050102010706020507" pitchFamily="18" charset="2"/>
            </a:endParaRPr>
          </a:p>
        </p:txBody>
      </p:sp>
    </p:spTree>
    <p:extLst>
      <p:ext uri="{BB962C8B-B14F-4D97-AF65-F5344CB8AC3E}">
        <p14:creationId xmlns:p14="http://schemas.microsoft.com/office/powerpoint/2010/main" val="8354614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499" y="5794375"/>
            <a:ext cx="549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smtClean="0">
                <a:latin typeface="Century Gothic" panose="020B0502020202020204" pitchFamily="34" charset="0"/>
              </a:rPr>
              <a:t>10</a:t>
            </a:r>
            <a:endParaRPr lang="en-US" altLang="en-US" sz="2000" dirty="0">
              <a:latin typeface="Century Gothic" panose="020B0502020202020204" pitchFamily="34" charset="0"/>
            </a:endParaRP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398838" y="798918"/>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3</a:t>
            </a: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6949" y="3215320"/>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b="1" dirty="0">
                <a:solidFill>
                  <a:srgbClr val="0070C0"/>
                </a:solidFill>
                <a:latin typeface="Century Gothic" panose="020B0502020202020204" pitchFamily="34" charset="0"/>
                <a:sym typeface="Symbol" panose="05050102010706020507" pitchFamily="18" charset="2"/>
              </a:rPr>
              <a:t></a:t>
            </a:r>
            <a:r>
              <a:rPr lang="en-US" altLang="en-US" b="1" dirty="0" smtClean="0">
                <a:solidFill>
                  <a:srgbClr val="0070C0"/>
                </a:solidFill>
                <a:latin typeface="Century Gothic" panose="020B0502020202020204" pitchFamily="34" charset="0"/>
                <a:sym typeface="Symbol" panose="05050102010706020507" pitchFamily="18" charset="2"/>
              </a:rPr>
              <a:t>=7</a:t>
            </a:r>
            <a:endParaRPr lang="en-US" altLang="en-US" b="1" dirty="0">
              <a:solidFill>
                <a:srgbClr val="0070C0"/>
              </a:solidFill>
              <a:latin typeface="Century Gothic" panose="020B0502020202020204" pitchFamily="34" charset="0"/>
            </a:endParaRPr>
          </a:p>
        </p:txBody>
      </p:sp>
      <p:sp>
        <p:nvSpPr>
          <p:cNvPr id="9" name="Rectangle 8"/>
          <p:cNvSpPr/>
          <p:nvPr/>
        </p:nvSpPr>
        <p:spPr>
          <a:xfrm>
            <a:off x="6023832"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
        <p:nvSpPr>
          <p:cNvPr id="11" name="Rectangle 10"/>
          <p:cNvSpPr/>
          <p:nvPr/>
        </p:nvSpPr>
        <p:spPr>
          <a:xfrm>
            <a:off x="6168591" y="32586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FF0000"/>
              </a:solidFill>
              <a:latin typeface="Century Gothic" panose="020B0502020202020204" pitchFamily="34" charset="0"/>
              <a:sym typeface="Symbol" panose="05050102010706020507" pitchFamily="18" charset="2"/>
            </a:endParaRPr>
          </a:p>
        </p:txBody>
      </p:sp>
      <p:cxnSp>
        <p:nvCxnSpPr>
          <p:cNvPr id="127" name="Straight Connector 126"/>
          <p:cNvCxnSpPr/>
          <p:nvPr/>
        </p:nvCxnSpPr>
        <p:spPr>
          <a:xfrm flipH="1">
            <a:off x="7216775" y="3744219"/>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95223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499" y="5794375"/>
            <a:ext cx="549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smtClean="0">
                <a:latin typeface="Century Gothic" panose="020B0502020202020204" pitchFamily="34" charset="0"/>
              </a:rPr>
              <a:t>10</a:t>
            </a:r>
            <a:endParaRPr lang="en-US" altLang="en-US" sz="2000" dirty="0">
              <a:latin typeface="Century Gothic" panose="020B0502020202020204" pitchFamily="34" charset="0"/>
            </a:endParaRP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2192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234831" y="674951"/>
            <a:ext cx="1027845" cy="523220"/>
          </a:xfrm>
          <a:prstGeom prst="rect">
            <a:avLst/>
          </a:prstGeom>
        </p:spPr>
        <p:txBody>
          <a:bodyPr wrap="none">
            <a:spAutoFit/>
          </a:bodyPr>
          <a:lstStyle/>
          <a:p>
            <a:pPr lvl="0" fontAlgn="base">
              <a:spcBef>
                <a:spcPct val="50000"/>
              </a:spcBef>
              <a:spcAft>
                <a:spcPct val="0"/>
              </a:spcAft>
            </a:pPr>
            <a:r>
              <a:rPr lang="en-US" altLang="en-US" sz="2800" b="1" dirty="0">
                <a:solidFill>
                  <a:srgbClr val="FF0000"/>
                </a:solidFill>
                <a:latin typeface="Century Gothic" panose="020B0502020202020204" pitchFamily="34" charset="0"/>
                <a:sym typeface="Symbol" panose="05050102010706020507" pitchFamily="18" charset="2"/>
              </a:rPr>
              <a:t> = </a:t>
            </a:r>
            <a:r>
              <a:rPr lang="en-US" altLang="en-US" sz="2800" b="1" dirty="0" smtClean="0">
                <a:solidFill>
                  <a:srgbClr val="FF0000"/>
                </a:solidFill>
                <a:latin typeface="Century Gothic" panose="020B0502020202020204" pitchFamily="34" charset="0"/>
                <a:sym typeface="Symbol" panose="05050102010706020507" pitchFamily="18" charset="2"/>
              </a:rPr>
              <a:t>7</a:t>
            </a:r>
            <a:endParaRPr lang="en-US" altLang="en-US" sz="2800" b="1" dirty="0">
              <a:solidFill>
                <a:srgbClr val="FF0000"/>
              </a:solidFill>
              <a:latin typeface="Century Gothic" panose="020B0502020202020204" pitchFamily="34" charset="0"/>
              <a:sym typeface="Symbol" panose="05050102010706020507" pitchFamily="18" charset="2"/>
            </a:endParaRP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6949" y="3215320"/>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313602" y="205053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endParaRPr>
          </a:p>
        </p:txBody>
      </p:sp>
      <p:sp>
        <p:nvSpPr>
          <p:cNvPr id="9" name="Rectangle 8"/>
          <p:cNvSpPr/>
          <p:nvPr/>
        </p:nvSpPr>
        <p:spPr>
          <a:xfrm>
            <a:off x="6023832"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
        <p:nvSpPr>
          <p:cNvPr id="11" name="Rectangle 10"/>
          <p:cNvSpPr/>
          <p:nvPr/>
        </p:nvSpPr>
        <p:spPr>
          <a:xfrm>
            <a:off x="6168591" y="32586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FF0000"/>
              </a:solidFill>
              <a:latin typeface="Century Gothic" panose="020B0502020202020204" pitchFamily="34" charset="0"/>
              <a:sym typeface="Symbol" panose="05050102010706020507" pitchFamily="18" charset="2"/>
            </a:endParaRPr>
          </a:p>
        </p:txBody>
      </p:sp>
      <p:cxnSp>
        <p:nvCxnSpPr>
          <p:cNvPr id="127" name="Straight Connector 126"/>
          <p:cNvCxnSpPr/>
          <p:nvPr/>
        </p:nvCxnSpPr>
        <p:spPr>
          <a:xfrm flipH="1">
            <a:off x="7216775" y="3744219"/>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23218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a:xfrm>
            <a:off x="228600" y="0"/>
            <a:ext cx="8610600" cy="762000"/>
          </a:xfrm>
        </p:spPr>
        <p:txBody>
          <a:bodyPr/>
          <a:lstStyle/>
          <a:p>
            <a:r>
              <a:rPr lang="en-US" altLang="en-US">
                <a:effectLst/>
              </a:rPr>
              <a:t>The Alpha-Beta Procedure</a:t>
            </a:r>
            <a:endParaRPr lang="en-CA" altLang="en-US">
              <a:effectLst/>
            </a:endParaRPr>
          </a:p>
        </p:txBody>
      </p:sp>
      <p:sp>
        <p:nvSpPr>
          <p:cNvPr id="248835" name="Line 3"/>
          <p:cNvSpPr>
            <a:spLocks noChangeShapeType="1"/>
          </p:cNvSpPr>
          <p:nvPr/>
        </p:nvSpPr>
        <p:spPr bwMode="auto">
          <a:xfrm flipV="1">
            <a:off x="8239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6" name="Line 4"/>
          <p:cNvSpPr>
            <a:spLocks noChangeShapeType="1"/>
          </p:cNvSpPr>
          <p:nvPr/>
        </p:nvSpPr>
        <p:spPr bwMode="auto">
          <a:xfrm flipH="1" flipV="1">
            <a:off x="1095375" y="4598988"/>
            <a:ext cx="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7" name="Line 5"/>
          <p:cNvSpPr>
            <a:spLocks noChangeShapeType="1"/>
          </p:cNvSpPr>
          <p:nvPr/>
        </p:nvSpPr>
        <p:spPr bwMode="auto">
          <a:xfrm flipH="1" flipV="1">
            <a:off x="11287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38" name="Oval 6"/>
          <p:cNvSpPr>
            <a:spLocks noChangeArrowheads="1"/>
          </p:cNvSpPr>
          <p:nvPr/>
        </p:nvSpPr>
        <p:spPr bwMode="auto">
          <a:xfrm>
            <a:off x="7477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39" name="Oval 7"/>
          <p:cNvSpPr>
            <a:spLocks noChangeArrowheads="1"/>
          </p:cNvSpPr>
          <p:nvPr/>
        </p:nvSpPr>
        <p:spPr bwMode="auto">
          <a:xfrm>
            <a:off x="10207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0" name="Oval 8"/>
          <p:cNvSpPr>
            <a:spLocks noChangeArrowheads="1"/>
          </p:cNvSpPr>
          <p:nvPr/>
        </p:nvSpPr>
        <p:spPr bwMode="auto">
          <a:xfrm>
            <a:off x="13033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1" name="Oval 9"/>
          <p:cNvSpPr>
            <a:spLocks noChangeArrowheads="1"/>
          </p:cNvSpPr>
          <p:nvPr/>
        </p:nvSpPr>
        <p:spPr bwMode="auto">
          <a:xfrm>
            <a:off x="10207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2" name="Text Box 10"/>
          <p:cNvSpPr txBox="1">
            <a:spLocks noChangeArrowheads="1"/>
          </p:cNvSpPr>
          <p:nvPr/>
        </p:nvSpPr>
        <p:spPr bwMode="auto">
          <a:xfrm>
            <a:off x="655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4</a:t>
            </a:r>
          </a:p>
        </p:txBody>
      </p:sp>
      <p:sp>
        <p:nvSpPr>
          <p:cNvPr id="248843" name="Text Box 11"/>
          <p:cNvSpPr txBox="1">
            <a:spLocks noChangeArrowheads="1"/>
          </p:cNvSpPr>
          <p:nvPr/>
        </p:nvSpPr>
        <p:spPr bwMode="auto">
          <a:xfrm>
            <a:off x="9175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5</a:t>
            </a:r>
          </a:p>
        </p:txBody>
      </p:sp>
      <p:sp>
        <p:nvSpPr>
          <p:cNvPr id="248844" name="Text Box 12"/>
          <p:cNvSpPr txBox="1">
            <a:spLocks noChangeArrowheads="1"/>
          </p:cNvSpPr>
          <p:nvPr/>
        </p:nvSpPr>
        <p:spPr bwMode="auto">
          <a:xfrm>
            <a:off x="1189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3</a:t>
            </a:r>
          </a:p>
        </p:txBody>
      </p:sp>
      <p:sp>
        <p:nvSpPr>
          <p:cNvPr id="248845" name="Line 13"/>
          <p:cNvSpPr>
            <a:spLocks noChangeShapeType="1"/>
          </p:cNvSpPr>
          <p:nvPr/>
        </p:nvSpPr>
        <p:spPr bwMode="auto">
          <a:xfrm flipV="1">
            <a:off x="1738313" y="4592638"/>
            <a:ext cx="228600" cy="9906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6" name="Line 14"/>
          <p:cNvSpPr>
            <a:spLocks noChangeShapeType="1"/>
          </p:cNvSpPr>
          <p:nvPr/>
        </p:nvSpPr>
        <p:spPr bwMode="auto">
          <a:xfrm flipH="1" flipV="1">
            <a:off x="2009775" y="459898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7" name="Line 15"/>
          <p:cNvSpPr>
            <a:spLocks noChangeShapeType="1"/>
          </p:cNvSpPr>
          <p:nvPr/>
        </p:nvSpPr>
        <p:spPr bwMode="auto">
          <a:xfrm flipH="1" flipV="1">
            <a:off x="2043113" y="459263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48" name="Oval 16"/>
          <p:cNvSpPr>
            <a:spLocks noChangeArrowheads="1"/>
          </p:cNvSpPr>
          <p:nvPr/>
        </p:nvSpPr>
        <p:spPr bwMode="auto">
          <a:xfrm>
            <a:off x="16621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49" name="Oval 17"/>
          <p:cNvSpPr>
            <a:spLocks noChangeArrowheads="1"/>
          </p:cNvSpPr>
          <p:nvPr/>
        </p:nvSpPr>
        <p:spPr bwMode="auto">
          <a:xfrm>
            <a:off x="19351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0" name="Oval 18"/>
          <p:cNvSpPr>
            <a:spLocks noChangeArrowheads="1"/>
          </p:cNvSpPr>
          <p:nvPr/>
        </p:nvSpPr>
        <p:spPr bwMode="auto">
          <a:xfrm>
            <a:off x="22177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1" name="Oval 19"/>
          <p:cNvSpPr>
            <a:spLocks noChangeArrowheads="1"/>
          </p:cNvSpPr>
          <p:nvPr/>
        </p:nvSpPr>
        <p:spPr bwMode="auto">
          <a:xfrm>
            <a:off x="19351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2" name="Text Box 20"/>
          <p:cNvSpPr txBox="1">
            <a:spLocks noChangeArrowheads="1"/>
          </p:cNvSpPr>
          <p:nvPr/>
        </p:nvSpPr>
        <p:spPr bwMode="auto">
          <a:xfrm>
            <a:off x="15700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1</a:t>
            </a:r>
          </a:p>
        </p:txBody>
      </p:sp>
      <p:sp>
        <p:nvSpPr>
          <p:cNvPr id="248853" name="Text Box 21"/>
          <p:cNvSpPr txBox="1">
            <a:spLocks noChangeArrowheads="1"/>
          </p:cNvSpPr>
          <p:nvPr/>
        </p:nvSpPr>
        <p:spPr bwMode="auto">
          <a:xfrm>
            <a:off x="1831975" y="577532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4" name="Text Box 22"/>
          <p:cNvSpPr txBox="1">
            <a:spLocks noChangeArrowheads="1"/>
          </p:cNvSpPr>
          <p:nvPr/>
        </p:nvSpPr>
        <p:spPr bwMode="auto">
          <a:xfrm>
            <a:off x="21034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55" name="Line 23"/>
          <p:cNvSpPr>
            <a:spLocks noChangeShapeType="1"/>
          </p:cNvSpPr>
          <p:nvPr/>
        </p:nvSpPr>
        <p:spPr bwMode="auto">
          <a:xfrm flipV="1">
            <a:off x="26527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6" name="Line 24"/>
          <p:cNvSpPr>
            <a:spLocks noChangeShapeType="1"/>
          </p:cNvSpPr>
          <p:nvPr/>
        </p:nvSpPr>
        <p:spPr bwMode="auto">
          <a:xfrm flipH="1" flipV="1">
            <a:off x="29241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7" name="Line 25"/>
          <p:cNvSpPr>
            <a:spLocks noChangeShapeType="1"/>
          </p:cNvSpPr>
          <p:nvPr/>
        </p:nvSpPr>
        <p:spPr bwMode="auto">
          <a:xfrm flipH="1" flipV="1">
            <a:off x="29575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58" name="Oval 26"/>
          <p:cNvSpPr>
            <a:spLocks noChangeArrowheads="1"/>
          </p:cNvSpPr>
          <p:nvPr/>
        </p:nvSpPr>
        <p:spPr bwMode="auto">
          <a:xfrm>
            <a:off x="25765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59" name="Oval 27"/>
          <p:cNvSpPr>
            <a:spLocks noChangeArrowheads="1"/>
          </p:cNvSpPr>
          <p:nvPr/>
        </p:nvSpPr>
        <p:spPr bwMode="auto">
          <a:xfrm>
            <a:off x="28495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0" name="Oval 28"/>
          <p:cNvSpPr>
            <a:spLocks noChangeArrowheads="1"/>
          </p:cNvSpPr>
          <p:nvPr/>
        </p:nvSpPr>
        <p:spPr bwMode="auto">
          <a:xfrm>
            <a:off x="31321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1" name="Oval 29"/>
          <p:cNvSpPr>
            <a:spLocks noChangeArrowheads="1"/>
          </p:cNvSpPr>
          <p:nvPr/>
        </p:nvSpPr>
        <p:spPr bwMode="auto">
          <a:xfrm>
            <a:off x="28495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2" name="Text Box 30"/>
          <p:cNvSpPr txBox="1">
            <a:spLocks noChangeArrowheads="1"/>
          </p:cNvSpPr>
          <p:nvPr/>
        </p:nvSpPr>
        <p:spPr bwMode="auto">
          <a:xfrm>
            <a:off x="24844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63" name="Text Box 31"/>
          <p:cNvSpPr txBox="1">
            <a:spLocks noChangeArrowheads="1"/>
          </p:cNvSpPr>
          <p:nvPr/>
        </p:nvSpPr>
        <p:spPr bwMode="auto">
          <a:xfrm>
            <a:off x="27463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6</a:t>
            </a:r>
            <a:endParaRPr lang="en-US" altLang="en-US" sz="2000" dirty="0">
              <a:latin typeface="Century Gothic" panose="020B0502020202020204" pitchFamily="34" charset="0"/>
            </a:endParaRPr>
          </a:p>
        </p:txBody>
      </p:sp>
      <p:sp>
        <p:nvSpPr>
          <p:cNvPr id="248864" name="Text Box 32"/>
          <p:cNvSpPr txBox="1">
            <a:spLocks noChangeArrowheads="1"/>
          </p:cNvSpPr>
          <p:nvPr/>
        </p:nvSpPr>
        <p:spPr bwMode="auto">
          <a:xfrm>
            <a:off x="3017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65" name="Line 33"/>
          <p:cNvSpPr>
            <a:spLocks noChangeShapeType="1"/>
          </p:cNvSpPr>
          <p:nvPr/>
        </p:nvSpPr>
        <p:spPr bwMode="auto">
          <a:xfrm flipV="1">
            <a:off x="36004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6" name="Line 34"/>
          <p:cNvSpPr>
            <a:spLocks noChangeShapeType="1"/>
          </p:cNvSpPr>
          <p:nvPr/>
        </p:nvSpPr>
        <p:spPr bwMode="auto">
          <a:xfrm flipH="1" flipV="1">
            <a:off x="38719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7" name="Line 35"/>
          <p:cNvSpPr>
            <a:spLocks noChangeShapeType="1"/>
          </p:cNvSpPr>
          <p:nvPr/>
        </p:nvSpPr>
        <p:spPr bwMode="auto">
          <a:xfrm flipH="1" flipV="1">
            <a:off x="39052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68" name="Oval 36"/>
          <p:cNvSpPr>
            <a:spLocks noChangeArrowheads="1"/>
          </p:cNvSpPr>
          <p:nvPr/>
        </p:nvSpPr>
        <p:spPr bwMode="auto">
          <a:xfrm>
            <a:off x="35242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69" name="Oval 37"/>
          <p:cNvSpPr>
            <a:spLocks noChangeArrowheads="1"/>
          </p:cNvSpPr>
          <p:nvPr/>
        </p:nvSpPr>
        <p:spPr bwMode="auto">
          <a:xfrm>
            <a:off x="37973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0" name="Oval 38"/>
          <p:cNvSpPr>
            <a:spLocks noChangeArrowheads="1"/>
          </p:cNvSpPr>
          <p:nvPr/>
        </p:nvSpPr>
        <p:spPr bwMode="auto">
          <a:xfrm>
            <a:off x="40798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1" name="Oval 39"/>
          <p:cNvSpPr>
            <a:spLocks noChangeArrowheads="1"/>
          </p:cNvSpPr>
          <p:nvPr/>
        </p:nvSpPr>
        <p:spPr bwMode="auto">
          <a:xfrm>
            <a:off x="37973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2" name="Text Box 40"/>
          <p:cNvSpPr txBox="1">
            <a:spLocks noChangeArrowheads="1"/>
          </p:cNvSpPr>
          <p:nvPr/>
        </p:nvSpPr>
        <p:spPr bwMode="auto">
          <a:xfrm>
            <a:off x="34321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3" name="Text Box 41"/>
          <p:cNvSpPr txBox="1">
            <a:spLocks noChangeArrowheads="1"/>
          </p:cNvSpPr>
          <p:nvPr/>
        </p:nvSpPr>
        <p:spPr bwMode="auto">
          <a:xfrm>
            <a:off x="36941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4" name="Text Box 42"/>
          <p:cNvSpPr txBox="1">
            <a:spLocks noChangeArrowheads="1"/>
          </p:cNvSpPr>
          <p:nvPr/>
        </p:nvSpPr>
        <p:spPr bwMode="auto">
          <a:xfrm>
            <a:off x="39655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75" name="Line 43"/>
          <p:cNvSpPr>
            <a:spLocks noChangeShapeType="1"/>
          </p:cNvSpPr>
          <p:nvPr/>
        </p:nvSpPr>
        <p:spPr bwMode="auto">
          <a:xfrm flipV="1">
            <a:off x="4514850" y="458628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6" name="Line 44"/>
          <p:cNvSpPr>
            <a:spLocks noChangeShapeType="1"/>
          </p:cNvSpPr>
          <p:nvPr/>
        </p:nvSpPr>
        <p:spPr bwMode="auto">
          <a:xfrm flipH="1" flipV="1">
            <a:off x="4786313" y="4592638"/>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7" name="Line 45"/>
          <p:cNvSpPr>
            <a:spLocks noChangeShapeType="1"/>
          </p:cNvSpPr>
          <p:nvPr/>
        </p:nvSpPr>
        <p:spPr bwMode="auto">
          <a:xfrm flipH="1" flipV="1">
            <a:off x="4819650" y="4586288"/>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78" name="Oval 46"/>
          <p:cNvSpPr>
            <a:spLocks noChangeArrowheads="1"/>
          </p:cNvSpPr>
          <p:nvPr/>
        </p:nvSpPr>
        <p:spPr bwMode="auto">
          <a:xfrm>
            <a:off x="443865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79" name="Oval 47"/>
          <p:cNvSpPr>
            <a:spLocks noChangeArrowheads="1"/>
          </p:cNvSpPr>
          <p:nvPr/>
        </p:nvSpPr>
        <p:spPr bwMode="auto">
          <a:xfrm>
            <a:off x="4711700"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0" name="Oval 48"/>
          <p:cNvSpPr>
            <a:spLocks noChangeArrowheads="1"/>
          </p:cNvSpPr>
          <p:nvPr/>
        </p:nvSpPr>
        <p:spPr bwMode="auto">
          <a:xfrm>
            <a:off x="4994275" y="557688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1" name="Oval 49"/>
          <p:cNvSpPr>
            <a:spLocks noChangeArrowheads="1"/>
          </p:cNvSpPr>
          <p:nvPr/>
        </p:nvSpPr>
        <p:spPr bwMode="auto">
          <a:xfrm>
            <a:off x="4711700" y="446722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2" name="Text Box 50"/>
          <p:cNvSpPr txBox="1">
            <a:spLocks noChangeArrowheads="1"/>
          </p:cNvSpPr>
          <p:nvPr/>
        </p:nvSpPr>
        <p:spPr bwMode="auto">
          <a:xfrm>
            <a:off x="4346575" y="577850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2</a:t>
            </a:r>
            <a:endParaRPr lang="en-US" altLang="en-US" sz="2000" dirty="0">
              <a:latin typeface="Century Gothic" panose="020B0502020202020204" pitchFamily="34" charset="0"/>
            </a:endParaRPr>
          </a:p>
        </p:txBody>
      </p:sp>
      <p:sp>
        <p:nvSpPr>
          <p:cNvPr id="248883" name="Text Box 51"/>
          <p:cNvSpPr txBox="1">
            <a:spLocks noChangeArrowheads="1"/>
          </p:cNvSpPr>
          <p:nvPr/>
        </p:nvSpPr>
        <p:spPr bwMode="auto">
          <a:xfrm>
            <a:off x="4608513" y="57689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4" name="Text Box 52"/>
          <p:cNvSpPr txBox="1">
            <a:spLocks noChangeArrowheads="1"/>
          </p:cNvSpPr>
          <p:nvPr/>
        </p:nvSpPr>
        <p:spPr bwMode="auto">
          <a:xfrm>
            <a:off x="4879975" y="577850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885" name="Line 53"/>
          <p:cNvSpPr>
            <a:spLocks noChangeShapeType="1"/>
          </p:cNvSpPr>
          <p:nvPr/>
        </p:nvSpPr>
        <p:spPr bwMode="auto">
          <a:xfrm flipV="1">
            <a:off x="54721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6" name="Line 54"/>
          <p:cNvSpPr>
            <a:spLocks noChangeShapeType="1"/>
          </p:cNvSpPr>
          <p:nvPr/>
        </p:nvSpPr>
        <p:spPr bwMode="auto">
          <a:xfrm flipH="1" flipV="1">
            <a:off x="5743575" y="4598988"/>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7" name="Line 55"/>
          <p:cNvSpPr>
            <a:spLocks noChangeShapeType="1"/>
          </p:cNvSpPr>
          <p:nvPr/>
        </p:nvSpPr>
        <p:spPr bwMode="auto">
          <a:xfrm flipH="1" flipV="1">
            <a:off x="5776913" y="4592638"/>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88" name="Oval 56"/>
          <p:cNvSpPr>
            <a:spLocks noChangeArrowheads="1"/>
          </p:cNvSpPr>
          <p:nvPr/>
        </p:nvSpPr>
        <p:spPr bwMode="auto">
          <a:xfrm>
            <a:off x="539591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89" name="Oval 57"/>
          <p:cNvSpPr>
            <a:spLocks noChangeArrowheads="1"/>
          </p:cNvSpPr>
          <p:nvPr/>
        </p:nvSpPr>
        <p:spPr bwMode="auto">
          <a:xfrm>
            <a:off x="5668963"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0" name="Oval 58"/>
          <p:cNvSpPr>
            <a:spLocks noChangeArrowheads="1"/>
          </p:cNvSpPr>
          <p:nvPr/>
        </p:nvSpPr>
        <p:spPr bwMode="auto">
          <a:xfrm>
            <a:off x="5951538" y="5583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1" name="Oval 59"/>
          <p:cNvSpPr>
            <a:spLocks noChangeArrowheads="1"/>
          </p:cNvSpPr>
          <p:nvPr/>
        </p:nvSpPr>
        <p:spPr bwMode="auto">
          <a:xfrm>
            <a:off x="5668963" y="44735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2" name="Text Box 60"/>
          <p:cNvSpPr txBox="1">
            <a:spLocks noChangeArrowheads="1"/>
          </p:cNvSpPr>
          <p:nvPr/>
        </p:nvSpPr>
        <p:spPr bwMode="auto">
          <a:xfrm>
            <a:off x="53038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893" name="Text Box 61"/>
          <p:cNvSpPr txBox="1">
            <a:spLocks noChangeArrowheads="1"/>
          </p:cNvSpPr>
          <p:nvPr/>
        </p:nvSpPr>
        <p:spPr bwMode="auto">
          <a:xfrm>
            <a:off x="5565775" y="577532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894" name="Text Box 62"/>
          <p:cNvSpPr txBox="1">
            <a:spLocks noChangeArrowheads="1"/>
          </p:cNvSpPr>
          <p:nvPr/>
        </p:nvSpPr>
        <p:spPr bwMode="auto">
          <a:xfrm>
            <a:off x="58372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7</a:t>
            </a:r>
            <a:endParaRPr lang="en-US" altLang="en-US" sz="2000" dirty="0">
              <a:latin typeface="Century Gothic" panose="020B0502020202020204" pitchFamily="34" charset="0"/>
            </a:endParaRPr>
          </a:p>
        </p:txBody>
      </p:sp>
      <p:sp>
        <p:nvSpPr>
          <p:cNvPr id="248895" name="Line 63"/>
          <p:cNvSpPr>
            <a:spLocks noChangeShapeType="1"/>
          </p:cNvSpPr>
          <p:nvPr/>
        </p:nvSpPr>
        <p:spPr bwMode="auto">
          <a:xfrm flipV="1">
            <a:off x="64293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6" name="Line 64"/>
          <p:cNvSpPr>
            <a:spLocks noChangeShapeType="1"/>
          </p:cNvSpPr>
          <p:nvPr/>
        </p:nvSpPr>
        <p:spPr bwMode="auto">
          <a:xfrm flipH="1" flipV="1">
            <a:off x="6700838" y="4608513"/>
            <a:ext cx="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7" name="Line 65"/>
          <p:cNvSpPr>
            <a:spLocks noChangeShapeType="1"/>
          </p:cNvSpPr>
          <p:nvPr/>
        </p:nvSpPr>
        <p:spPr bwMode="auto">
          <a:xfrm flipH="1" flipV="1">
            <a:off x="6734175" y="4602163"/>
            <a:ext cx="228600" cy="9906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898" name="Oval 66"/>
          <p:cNvSpPr>
            <a:spLocks noChangeArrowheads="1"/>
          </p:cNvSpPr>
          <p:nvPr/>
        </p:nvSpPr>
        <p:spPr bwMode="auto">
          <a:xfrm>
            <a:off x="63531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899" name="Oval 67"/>
          <p:cNvSpPr>
            <a:spLocks noChangeArrowheads="1"/>
          </p:cNvSpPr>
          <p:nvPr/>
        </p:nvSpPr>
        <p:spPr bwMode="auto">
          <a:xfrm>
            <a:off x="66262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0" name="Oval 68"/>
          <p:cNvSpPr>
            <a:spLocks noChangeArrowheads="1"/>
          </p:cNvSpPr>
          <p:nvPr/>
        </p:nvSpPr>
        <p:spPr bwMode="auto">
          <a:xfrm>
            <a:off x="69088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1" name="Oval 69"/>
          <p:cNvSpPr>
            <a:spLocks noChangeArrowheads="1"/>
          </p:cNvSpPr>
          <p:nvPr/>
        </p:nvSpPr>
        <p:spPr bwMode="auto">
          <a:xfrm>
            <a:off x="66262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2" name="Text Box 70"/>
          <p:cNvSpPr txBox="1">
            <a:spLocks noChangeArrowheads="1"/>
          </p:cNvSpPr>
          <p:nvPr/>
        </p:nvSpPr>
        <p:spPr bwMode="auto">
          <a:xfrm>
            <a:off x="6261100" y="5794375"/>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9</a:t>
            </a:r>
            <a:endParaRPr lang="en-US" altLang="en-US" sz="2000" dirty="0">
              <a:latin typeface="Century Gothic" panose="020B0502020202020204" pitchFamily="34" charset="0"/>
            </a:endParaRPr>
          </a:p>
        </p:txBody>
      </p:sp>
      <p:sp>
        <p:nvSpPr>
          <p:cNvPr id="248903" name="Text Box 71"/>
          <p:cNvSpPr txBox="1">
            <a:spLocks noChangeArrowheads="1"/>
          </p:cNvSpPr>
          <p:nvPr/>
        </p:nvSpPr>
        <p:spPr bwMode="auto">
          <a:xfrm>
            <a:off x="6523038" y="5784850"/>
            <a:ext cx="381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latin typeface="Century Gothic" panose="020B0502020202020204" pitchFamily="34" charset="0"/>
              </a:rPr>
              <a:t>8</a:t>
            </a:r>
            <a:endParaRPr lang="en-US" altLang="en-US" sz="2000" dirty="0">
              <a:latin typeface="Century Gothic" panose="020B0502020202020204" pitchFamily="34" charset="0"/>
            </a:endParaRPr>
          </a:p>
        </p:txBody>
      </p:sp>
      <p:sp>
        <p:nvSpPr>
          <p:cNvPr id="248904" name="Text Box 72"/>
          <p:cNvSpPr txBox="1">
            <a:spLocks noChangeArrowheads="1"/>
          </p:cNvSpPr>
          <p:nvPr/>
        </p:nvSpPr>
        <p:spPr bwMode="auto">
          <a:xfrm>
            <a:off x="6794499" y="5794375"/>
            <a:ext cx="5492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sz="2000" dirty="0" smtClean="0">
                <a:latin typeface="Century Gothic" panose="020B0502020202020204" pitchFamily="34" charset="0"/>
              </a:rPr>
              <a:t>10</a:t>
            </a:r>
            <a:endParaRPr lang="en-US" altLang="en-US" sz="2000" dirty="0">
              <a:latin typeface="Century Gothic" panose="020B0502020202020204" pitchFamily="34" charset="0"/>
            </a:endParaRPr>
          </a:p>
        </p:txBody>
      </p:sp>
      <p:sp>
        <p:nvSpPr>
          <p:cNvPr id="248905" name="Line 73"/>
          <p:cNvSpPr>
            <a:spLocks noChangeShapeType="1"/>
          </p:cNvSpPr>
          <p:nvPr/>
        </p:nvSpPr>
        <p:spPr bwMode="auto">
          <a:xfrm flipV="1">
            <a:off x="74199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6" name="Line 74"/>
          <p:cNvSpPr>
            <a:spLocks noChangeShapeType="1"/>
          </p:cNvSpPr>
          <p:nvPr/>
        </p:nvSpPr>
        <p:spPr bwMode="auto">
          <a:xfrm flipH="1" flipV="1">
            <a:off x="7691438" y="4608513"/>
            <a:ext cx="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7" name="Line 75"/>
          <p:cNvSpPr>
            <a:spLocks noChangeShapeType="1"/>
          </p:cNvSpPr>
          <p:nvPr/>
        </p:nvSpPr>
        <p:spPr bwMode="auto">
          <a:xfrm flipH="1" flipV="1">
            <a:off x="7724775" y="4602163"/>
            <a:ext cx="228600" cy="9906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08" name="Oval 76"/>
          <p:cNvSpPr>
            <a:spLocks noChangeArrowheads="1"/>
          </p:cNvSpPr>
          <p:nvPr/>
        </p:nvSpPr>
        <p:spPr bwMode="auto">
          <a:xfrm>
            <a:off x="734377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09" name="Oval 77"/>
          <p:cNvSpPr>
            <a:spLocks noChangeArrowheads="1"/>
          </p:cNvSpPr>
          <p:nvPr/>
        </p:nvSpPr>
        <p:spPr bwMode="auto">
          <a:xfrm>
            <a:off x="7616825"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0" name="Oval 78"/>
          <p:cNvSpPr>
            <a:spLocks noChangeArrowheads="1"/>
          </p:cNvSpPr>
          <p:nvPr/>
        </p:nvSpPr>
        <p:spPr bwMode="auto">
          <a:xfrm>
            <a:off x="7899400" y="55927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1" name="Oval 79"/>
          <p:cNvSpPr>
            <a:spLocks noChangeArrowheads="1"/>
          </p:cNvSpPr>
          <p:nvPr/>
        </p:nvSpPr>
        <p:spPr bwMode="auto">
          <a:xfrm>
            <a:off x="7616825" y="448310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2" name="Text Box 80"/>
          <p:cNvSpPr txBox="1">
            <a:spLocks noChangeArrowheads="1"/>
          </p:cNvSpPr>
          <p:nvPr/>
        </p:nvSpPr>
        <p:spPr bwMode="auto">
          <a:xfrm>
            <a:off x="72517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3" name="Text Box 81"/>
          <p:cNvSpPr txBox="1">
            <a:spLocks noChangeArrowheads="1"/>
          </p:cNvSpPr>
          <p:nvPr/>
        </p:nvSpPr>
        <p:spPr bwMode="auto">
          <a:xfrm>
            <a:off x="7513638" y="5784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4" name="Text Box 82"/>
          <p:cNvSpPr txBox="1">
            <a:spLocks noChangeArrowheads="1"/>
          </p:cNvSpPr>
          <p:nvPr/>
        </p:nvSpPr>
        <p:spPr bwMode="auto">
          <a:xfrm>
            <a:off x="7785100" y="5794375"/>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5" name="Text Box 83"/>
          <p:cNvSpPr txBox="1">
            <a:spLocks noChangeArrowheads="1"/>
          </p:cNvSpPr>
          <p:nvPr/>
        </p:nvSpPr>
        <p:spPr bwMode="auto">
          <a:xfrm>
            <a:off x="8667750" y="5403850"/>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Century Gothic" panose="020B0502020202020204" pitchFamily="34" charset="0"/>
              </a:rPr>
              <a:t> </a:t>
            </a:r>
          </a:p>
        </p:txBody>
      </p:sp>
      <p:sp>
        <p:nvSpPr>
          <p:cNvPr id="248916" name="Line 84"/>
          <p:cNvSpPr>
            <a:spLocks noChangeShapeType="1"/>
          </p:cNvSpPr>
          <p:nvPr/>
        </p:nvSpPr>
        <p:spPr bwMode="auto">
          <a:xfrm flipV="1">
            <a:off x="1143000" y="3444875"/>
            <a:ext cx="371475" cy="105251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7" name="Line 85"/>
          <p:cNvSpPr>
            <a:spLocks noChangeShapeType="1"/>
          </p:cNvSpPr>
          <p:nvPr/>
        </p:nvSpPr>
        <p:spPr bwMode="auto">
          <a:xfrm flipH="1" flipV="1">
            <a:off x="1601788" y="3429000"/>
            <a:ext cx="407987" cy="103346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18" name="Oval 86"/>
          <p:cNvSpPr>
            <a:spLocks noChangeArrowheads="1"/>
          </p:cNvSpPr>
          <p:nvPr/>
        </p:nvSpPr>
        <p:spPr bwMode="auto">
          <a:xfrm>
            <a:off x="1482725" y="3297238"/>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19" name="Text Box 87"/>
          <p:cNvSpPr txBox="1">
            <a:spLocks noChangeArrowheads="1"/>
          </p:cNvSpPr>
          <p:nvPr/>
        </p:nvSpPr>
        <p:spPr bwMode="auto">
          <a:xfrm>
            <a:off x="304800" y="762000"/>
            <a:ext cx="2057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srgbClr val="00FFFF"/>
                </a:solidFill>
                <a:latin typeface="Century Gothic" panose="020B0502020202020204" pitchFamily="34" charset="0"/>
              </a:rPr>
              <a:t>Example:</a:t>
            </a:r>
          </a:p>
        </p:txBody>
      </p:sp>
      <p:sp>
        <p:nvSpPr>
          <p:cNvPr id="248920" name="Text Box 88"/>
          <p:cNvSpPr txBox="1">
            <a:spLocks noChangeArrowheads="1"/>
          </p:cNvSpPr>
          <p:nvPr/>
        </p:nvSpPr>
        <p:spPr bwMode="auto">
          <a:xfrm>
            <a:off x="8154988" y="8810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1" name="Text Box 89"/>
          <p:cNvSpPr txBox="1">
            <a:spLocks noChangeArrowheads="1"/>
          </p:cNvSpPr>
          <p:nvPr/>
        </p:nvSpPr>
        <p:spPr bwMode="auto">
          <a:xfrm>
            <a:off x="8154988" y="19478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22" name="Text Box 90"/>
          <p:cNvSpPr txBox="1">
            <a:spLocks noChangeArrowheads="1"/>
          </p:cNvSpPr>
          <p:nvPr/>
        </p:nvSpPr>
        <p:spPr bwMode="auto">
          <a:xfrm>
            <a:off x="8154988" y="3090863"/>
            <a:ext cx="8366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max</a:t>
            </a:r>
          </a:p>
        </p:txBody>
      </p:sp>
      <p:sp>
        <p:nvSpPr>
          <p:cNvPr id="248923" name="Line 91"/>
          <p:cNvSpPr>
            <a:spLocks noChangeShapeType="1"/>
          </p:cNvSpPr>
          <p:nvPr/>
        </p:nvSpPr>
        <p:spPr bwMode="auto">
          <a:xfrm flipV="1">
            <a:off x="2962275" y="3444875"/>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4" name="Line 92"/>
          <p:cNvSpPr>
            <a:spLocks noChangeShapeType="1"/>
          </p:cNvSpPr>
          <p:nvPr/>
        </p:nvSpPr>
        <p:spPr bwMode="auto">
          <a:xfrm flipH="1" flipV="1">
            <a:off x="3421063" y="3429000"/>
            <a:ext cx="407987" cy="103346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5" name="Oval 93"/>
          <p:cNvSpPr>
            <a:spLocks noChangeArrowheads="1"/>
          </p:cNvSpPr>
          <p:nvPr/>
        </p:nvSpPr>
        <p:spPr bwMode="auto">
          <a:xfrm>
            <a:off x="3274526" y="325325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6" name="Line 94"/>
          <p:cNvSpPr>
            <a:spLocks noChangeShapeType="1"/>
          </p:cNvSpPr>
          <p:nvPr/>
        </p:nvSpPr>
        <p:spPr bwMode="auto">
          <a:xfrm flipV="1">
            <a:off x="483393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7" name="Line 95"/>
          <p:cNvSpPr>
            <a:spLocks noChangeShapeType="1"/>
          </p:cNvSpPr>
          <p:nvPr/>
        </p:nvSpPr>
        <p:spPr bwMode="auto">
          <a:xfrm flipH="1" flipV="1">
            <a:off x="5292725" y="3419475"/>
            <a:ext cx="419100" cy="10795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28" name="Oval 96"/>
          <p:cNvSpPr>
            <a:spLocks noChangeArrowheads="1"/>
          </p:cNvSpPr>
          <p:nvPr/>
        </p:nvSpPr>
        <p:spPr bwMode="auto">
          <a:xfrm>
            <a:off x="517366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29" name="Line 97"/>
          <p:cNvSpPr>
            <a:spLocks noChangeShapeType="1"/>
          </p:cNvSpPr>
          <p:nvPr/>
        </p:nvSpPr>
        <p:spPr bwMode="auto">
          <a:xfrm flipV="1">
            <a:off x="6757988" y="3435350"/>
            <a:ext cx="371475" cy="1052513"/>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0" name="Line 98"/>
          <p:cNvSpPr>
            <a:spLocks noChangeShapeType="1"/>
          </p:cNvSpPr>
          <p:nvPr/>
        </p:nvSpPr>
        <p:spPr bwMode="auto">
          <a:xfrm flipH="1" flipV="1">
            <a:off x="7216775" y="3419475"/>
            <a:ext cx="419100" cy="1079500"/>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1" name="Oval 99"/>
          <p:cNvSpPr>
            <a:spLocks noChangeArrowheads="1"/>
          </p:cNvSpPr>
          <p:nvPr/>
        </p:nvSpPr>
        <p:spPr bwMode="auto">
          <a:xfrm>
            <a:off x="7097713" y="328771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2" name="Line 100"/>
          <p:cNvSpPr>
            <a:spLocks noChangeShapeType="1"/>
          </p:cNvSpPr>
          <p:nvPr/>
        </p:nvSpPr>
        <p:spPr bwMode="auto">
          <a:xfrm flipV="1">
            <a:off x="1600200" y="2286000"/>
            <a:ext cx="796925" cy="10414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3" name="Line 101"/>
          <p:cNvSpPr>
            <a:spLocks noChangeShapeType="1"/>
          </p:cNvSpPr>
          <p:nvPr/>
        </p:nvSpPr>
        <p:spPr bwMode="auto">
          <a:xfrm flipH="1" flipV="1">
            <a:off x="2484438" y="2270125"/>
            <a:ext cx="866775" cy="1052513"/>
          </a:xfrm>
          <a:prstGeom prst="line">
            <a:avLst/>
          </a:prstGeom>
          <a:noFill/>
          <a:ln w="190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4" name="Oval 102"/>
          <p:cNvSpPr>
            <a:spLocks noChangeArrowheads="1"/>
          </p:cNvSpPr>
          <p:nvPr/>
        </p:nvSpPr>
        <p:spPr bwMode="auto">
          <a:xfrm>
            <a:off x="2365375" y="2138363"/>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5" name="Line 103"/>
          <p:cNvSpPr>
            <a:spLocks noChangeShapeType="1"/>
          </p:cNvSpPr>
          <p:nvPr/>
        </p:nvSpPr>
        <p:spPr bwMode="auto">
          <a:xfrm flipV="1">
            <a:off x="5341938" y="2274888"/>
            <a:ext cx="796925" cy="10414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6" name="Line 104"/>
          <p:cNvSpPr>
            <a:spLocks noChangeShapeType="1"/>
          </p:cNvSpPr>
          <p:nvPr/>
        </p:nvSpPr>
        <p:spPr bwMode="auto">
          <a:xfrm flipH="1" flipV="1">
            <a:off x="6226175" y="2259013"/>
            <a:ext cx="866775" cy="1052512"/>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7" name="Oval 105"/>
          <p:cNvSpPr>
            <a:spLocks noChangeArrowheads="1"/>
          </p:cNvSpPr>
          <p:nvPr/>
        </p:nvSpPr>
        <p:spPr bwMode="auto">
          <a:xfrm>
            <a:off x="6107113" y="2127250"/>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38" name="Line 106"/>
          <p:cNvSpPr>
            <a:spLocks noChangeShapeType="1"/>
          </p:cNvSpPr>
          <p:nvPr/>
        </p:nvSpPr>
        <p:spPr bwMode="auto">
          <a:xfrm flipV="1">
            <a:off x="2524125" y="1103313"/>
            <a:ext cx="1731963" cy="1054100"/>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39" name="Line 107"/>
          <p:cNvSpPr>
            <a:spLocks noChangeShapeType="1"/>
          </p:cNvSpPr>
          <p:nvPr/>
        </p:nvSpPr>
        <p:spPr bwMode="auto">
          <a:xfrm flipH="1" flipV="1">
            <a:off x="4343400" y="1087438"/>
            <a:ext cx="1804988" cy="1066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48940" name="Oval 108"/>
          <p:cNvSpPr>
            <a:spLocks noChangeArrowheads="1"/>
          </p:cNvSpPr>
          <p:nvPr/>
        </p:nvSpPr>
        <p:spPr bwMode="auto">
          <a:xfrm>
            <a:off x="4224338" y="955675"/>
            <a:ext cx="152400" cy="152400"/>
          </a:xfrm>
          <a:prstGeom prst="ellipse">
            <a:avLst/>
          </a:prstGeom>
          <a:noFill/>
          <a:ln w="19050">
            <a:solidFill>
              <a:srgbClr val="66FF3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MY"/>
          </a:p>
        </p:txBody>
      </p:sp>
      <p:sp>
        <p:nvSpPr>
          <p:cNvPr id="248941" name="Text Box 109"/>
          <p:cNvSpPr txBox="1">
            <a:spLocks noChangeArrowheads="1"/>
          </p:cNvSpPr>
          <p:nvPr/>
        </p:nvSpPr>
        <p:spPr bwMode="auto">
          <a:xfrm>
            <a:off x="8154988" y="431006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FF0000"/>
                </a:solidFill>
                <a:latin typeface="Century Gothic" panose="020B0502020202020204" pitchFamily="34" charset="0"/>
              </a:rPr>
              <a:t>min</a:t>
            </a:r>
          </a:p>
        </p:txBody>
      </p:sp>
      <p:sp>
        <p:nvSpPr>
          <p:cNvPr id="248942" name="Text Box 110"/>
          <p:cNvSpPr txBox="1">
            <a:spLocks noChangeArrowheads="1"/>
          </p:cNvSpPr>
          <p:nvPr/>
        </p:nvSpPr>
        <p:spPr bwMode="auto">
          <a:xfrm>
            <a:off x="228600" y="43434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a:t>
            </a:r>
            <a:r>
              <a:rPr lang="en-US" altLang="en-US" sz="2000" dirty="0" smtClean="0">
                <a:solidFill>
                  <a:srgbClr val="FF0000"/>
                </a:solidFill>
                <a:latin typeface="Century Gothic" panose="020B0502020202020204" pitchFamily="34" charset="0"/>
              </a:rPr>
              <a:t> = 3</a:t>
            </a:r>
            <a:endParaRPr lang="en-US" altLang="en-US" sz="2000" dirty="0">
              <a:solidFill>
                <a:srgbClr val="FF0000"/>
              </a:solidFill>
              <a:latin typeface="Century Gothic" panose="020B0502020202020204" pitchFamily="34" charset="0"/>
            </a:endParaRPr>
          </a:p>
        </p:txBody>
      </p:sp>
      <p:sp>
        <p:nvSpPr>
          <p:cNvPr id="248943" name="Text Box 111"/>
          <p:cNvSpPr txBox="1">
            <a:spLocks noChangeArrowheads="1"/>
          </p:cNvSpPr>
          <p:nvPr/>
        </p:nvSpPr>
        <p:spPr bwMode="auto">
          <a:xfrm>
            <a:off x="609600" y="31242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0" fontAlgn="base">
              <a:spcBef>
                <a:spcPct val="50000"/>
              </a:spcBef>
              <a:spcAft>
                <a:spcPct val="0"/>
              </a:spcAft>
            </a:pPr>
            <a:r>
              <a:rPr lang="en-US" altLang="en-US" sz="2000" dirty="0">
                <a:solidFill>
                  <a:srgbClr val="FF0000"/>
                </a:solidFill>
                <a:latin typeface="Century Gothic" panose="020B0502020202020204" pitchFamily="34" charset="0"/>
                <a:sym typeface="Symbol" panose="05050102010706020507" pitchFamily="18" charset="2"/>
              </a:rPr>
              <a:t> = 3</a:t>
            </a:r>
          </a:p>
        </p:txBody>
      </p:sp>
      <p:sp>
        <p:nvSpPr>
          <p:cNvPr id="248944" name="Text Box 112"/>
          <p:cNvSpPr txBox="1">
            <a:spLocks noChangeArrowheads="1"/>
          </p:cNvSpPr>
          <p:nvPr/>
        </p:nvSpPr>
        <p:spPr bwMode="auto">
          <a:xfrm>
            <a:off x="1314450" y="4357132"/>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66FF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smtClean="0">
                <a:solidFill>
                  <a:srgbClr val="FF0000"/>
                </a:solidFill>
                <a:latin typeface="Century Gothic" panose="020B0502020202020204" pitchFamily="34" charset="0"/>
                <a:sym typeface="Symbol" panose="05050102010706020507" pitchFamily="18" charset="2"/>
              </a:rPr>
              <a:t>=1</a:t>
            </a:r>
            <a:endParaRPr lang="en-US" altLang="en-US" sz="2000" dirty="0">
              <a:solidFill>
                <a:srgbClr val="00FFFF"/>
              </a:solidFill>
              <a:latin typeface="Century Gothic" panose="020B0502020202020204" pitchFamily="34" charset="0"/>
            </a:endParaRPr>
          </a:p>
        </p:txBody>
      </p:sp>
      <p:sp>
        <p:nvSpPr>
          <p:cNvPr id="2" name="Rectangle 1"/>
          <p:cNvSpPr/>
          <p:nvPr/>
        </p:nvSpPr>
        <p:spPr>
          <a:xfrm>
            <a:off x="1577167" y="1947863"/>
            <a:ext cx="70724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a:solidFill>
                  <a:srgbClr val="FF0000"/>
                </a:solidFill>
                <a:latin typeface="Century Gothic" panose="020B0502020202020204" pitchFamily="34" charset="0"/>
              </a:rPr>
              <a:t> = 3</a:t>
            </a:r>
          </a:p>
        </p:txBody>
      </p:sp>
      <p:sp>
        <p:nvSpPr>
          <p:cNvPr id="114" name="Line 100"/>
          <p:cNvSpPr>
            <a:spLocks noChangeShapeType="1"/>
          </p:cNvSpPr>
          <p:nvPr/>
        </p:nvSpPr>
        <p:spPr bwMode="auto">
          <a:xfrm flipH="1" flipV="1">
            <a:off x="2522537" y="2282825"/>
            <a:ext cx="852487" cy="1025523"/>
          </a:xfrm>
          <a:prstGeom prst="line">
            <a:avLst/>
          </a:prstGeom>
          <a:noFill/>
          <a:ln w="6350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 name="Rectangle 3"/>
          <p:cNvSpPr/>
          <p:nvPr/>
        </p:nvSpPr>
        <p:spPr>
          <a:xfrm>
            <a:off x="2291773" y="4352407"/>
            <a:ext cx="579005" cy="369332"/>
          </a:xfrm>
          <a:prstGeom prst="rect">
            <a:avLst/>
          </a:prstGeom>
        </p:spPr>
        <p:txBody>
          <a:bodyPr wrap="none">
            <a:spAutoFit/>
          </a:bodyPr>
          <a:lstStyle/>
          <a:p>
            <a:pPr>
              <a:spcBef>
                <a:spcPct val="50000"/>
              </a:spcBef>
            </a:pP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00FFFF"/>
              </a:solidFill>
              <a:latin typeface="Century Gothic" panose="020B0502020202020204" pitchFamily="34" charset="0"/>
            </a:endParaRPr>
          </a:p>
        </p:txBody>
      </p:sp>
      <p:cxnSp>
        <p:nvCxnSpPr>
          <p:cNvPr id="116" name="Straight Connector 115"/>
          <p:cNvCxnSpPr/>
          <p:nvPr/>
        </p:nvCxnSpPr>
        <p:spPr>
          <a:xfrm flipH="1">
            <a:off x="1880625" y="485131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468799" y="3242745"/>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6</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5" name="Rectangle 4"/>
          <p:cNvSpPr/>
          <p:nvPr/>
        </p:nvSpPr>
        <p:spPr>
          <a:xfrm>
            <a:off x="3234831" y="674951"/>
            <a:ext cx="1027845" cy="523220"/>
          </a:xfrm>
          <a:prstGeom prst="rect">
            <a:avLst/>
          </a:prstGeom>
        </p:spPr>
        <p:txBody>
          <a:bodyPr wrap="none">
            <a:spAutoFit/>
          </a:bodyPr>
          <a:lstStyle/>
          <a:p>
            <a:pPr lvl="0" fontAlgn="base">
              <a:spcBef>
                <a:spcPct val="50000"/>
              </a:spcBef>
              <a:spcAft>
                <a:spcPct val="0"/>
              </a:spcAft>
            </a:pPr>
            <a:r>
              <a:rPr lang="en-US" altLang="en-US" sz="2800" b="1" dirty="0">
                <a:solidFill>
                  <a:srgbClr val="FF0000"/>
                </a:solidFill>
                <a:latin typeface="Century Gothic" panose="020B0502020202020204" pitchFamily="34" charset="0"/>
                <a:sym typeface="Symbol" panose="05050102010706020507" pitchFamily="18" charset="2"/>
              </a:rPr>
              <a:t> = </a:t>
            </a:r>
            <a:r>
              <a:rPr lang="en-US" altLang="en-US" sz="2800" b="1" dirty="0" smtClean="0">
                <a:solidFill>
                  <a:srgbClr val="FF0000"/>
                </a:solidFill>
                <a:latin typeface="Century Gothic" panose="020B0502020202020204" pitchFamily="34" charset="0"/>
                <a:sym typeface="Symbol" panose="05050102010706020507" pitchFamily="18" charset="2"/>
              </a:rPr>
              <a:t>7</a:t>
            </a:r>
            <a:endParaRPr lang="en-US" altLang="en-US" sz="2800" b="1" dirty="0">
              <a:solidFill>
                <a:srgbClr val="FF0000"/>
              </a:solidFill>
              <a:latin typeface="Century Gothic" panose="020B0502020202020204" pitchFamily="34" charset="0"/>
              <a:sym typeface="Symbol" panose="05050102010706020507" pitchFamily="18" charset="2"/>
            </a:endParaRPr>
          </a:p>
        </p:txBody>
      </p:sp>
      <p:cxnSp>
        <p:nvCxnSpPr>
          <p:cNvPr id="119" name="Straight Connector 118"/>
          <p:cNvCxnSpPr/>
          <p:nvPr/>
        </p:nvCxnSpPr>
        <p:spPr>
          <a:xfrm flipH="1">
            <a:off x="3432892" y="3720077"/>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426949" y="3215320"/>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FF0000"/>
              </a:solidFill>
              <a:latin typeface="Century Gothic" panose="020B0502020202020204" pitchFamily="34" charset="0"/>
              <a:sym typeface="Symbol" panose="05050102010706020507" pitchFamily="18" charset="2"/>
            </a:endParaRPr>
          </a:p>
        </p:txBody>
      </p:sp>
      <p:sp>
        <p:nvSpPr>
          <p:cNvPr id="8" name="Rectangle 7"/>
          <p:cNvSpPr/>
          <p:nvPr/>
        </p:nvSpPr>
        <p:spPr>
          <a:xfrm>
            <a:off x="4119996" y="4381855"/>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=2</a:t>
            </a:r>
            <a:endParaRPr lang="en-US" altLang="en-US" dirty="0">
              <a:solidFill>
                <a:srgbClr val="00FFFF"/>
              </a:solidFill>
              <a:latin typeface="Century Gothic" panose="020B0502020202020204" pitchFamily="34" charset="0"/>
            </a:endParaRPr>
          </a:p>
        </p:txBody>
      </p:sp>
      <p:cxnSp>
        <p:nvCxnSpPr>
          <p:cNvPr id="124" name="Straight Connector 123"/>
          <p:cNvCxnSpPr/>
          <p:nvPr/>
        </p:nvCxnSpPr>
        <p:spPr>
          <a:xfrm flipH="1">
            <a:off x="4691421" y="4905891"/>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122862" y="4410353"/>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=7</a:t>
            </a:r>
            <a:endParaRPr lang="en-US" altLang="en-US" dirty="0">
              <a:solidFill>
                <a:srgbClr val="00FFFF"/>
              </a:solidFill>
              <a:latin typeface="Century Gothic" panose="020B0502020202020204" pitchFamily="34" charset="0"/>
            </a:endParaRPr>
          </a:p>
        </p:txBody>
      </p:sp>
      <p:sp>
        <p:nvSpPr>
          <p:cNvPr id="6" name="Rectangle 5"/>
          <p:cNvSpPr/>
          <p:nvPr/>
        </p:nvSpPr>
        <p:spPr>
          <a:xfrm>
            <a:off x="5260630" y="2063645"/>
            <a:ext cx="579005" cy="369332"/>
          </a:xfrm>
          <a:prstGeom prst="rect">
            <a:avLst/>
          </a:prstGeom>
        </p:spPr>
        <p:txBody>
          <a:bodyPr wrap="none">
            <a:spAutoFit/>
          </a:bodyPr>
          <a:lstStyle/>
          <a:p>
            <a:pPr>
              <a:spcBef>
                <a:spcPct val="50000"/>
              </a:spcBef>
            </a:pPr>
            <a:r>
              <a:rPr lang="en-US" altLang="en-US" b="1" dirty="0">
                <a:solidFill>
                  <a:srgbClr val="FF0000"/>
                </a:solidFill>
                <a:latin typeface="Century Gothic" panose="020B0502020202020204" pitchFamily="34" charset="0"/>
                <a:sym typeface="Symbol" panose="05050102010706020507" pitchFamily="18" charset="2"/>
              </a:rPr>
              <a:t></a:t>
            </a:r>
            <a:r>
              <a:rPr lang="en-US" altLang="en-US" b="1" dirty="0" smtClean="0">
                <a:solidFill>
                  <a:srgbClr val="FF0000"/>
                </a:solidFill>
                <a:latin typeface="Century Gothic" panose="020B0502020202020204" pitchFamily="34" charset="0"/>
                <a:sym typeface="Symbol" panose="05050102010706020507" pitchFamily="18" charset="2"/>
              </a:rPr>
              <a:t>=7</a:t>
            </a:r>
            <a:endParaRPr lang="en-US" altLang="en-US" b="1" dirty="0">
              <a:solidFill>
                <a:srgbClr val="FF0000"/>
              </a:solidFill>
              <a:latin typeface="Century Gothic" panose="020B0502020202020204" pitchFamily="34" charset="0"/>
            </a:endParaRPr>
          </a:p>
        </p:txBody>
      </p:sp>
      <p:sp>
        <p:nvSpPr>
          <p:cNvPr id="9" name="Rectangle 8"/>
          <p:cNvSpPr/>
          <p:nvPr/>
        </p:nvSpPr>
        <p:spPr>
          <a:xfrm>
            <a:off x="6023832" y="4365109"/>
            <a:ext cx="579005" cy="369332"/>
          </a:xfrm>
          <a:prstGeom prst="rect">
            <a:avLst/>
          </a:prstGeom>
        </p:spPr>
        <p:txBody>
          <a:bodyPr wrap="none">
            <a:spAutoFit/>
          </a:bodyPr>
          <a:lstStyle/>
          <a:p>
            <a:pPr>
              <a:spcBef>
                <a:spcPct val="50000"/>
              </a:spcBef>
            </a:pPr>
            <a:r>
              <a:rPr lang="en-US" altLang="en-US" dirty="0">
                <a:solidFill>
                  <a:srgbClr val="FF0000"/>
                </a:solidFill>
                <a:latin typeface="Century Gothic" panose="020B0502020202020204" pitchFamily="34" charset="0"/>
                <a:sym typeface="Symbol" panose="05050102010706020507" pitchFamily="18" charset="2"/>
              </a:rPr>
              <a:t></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00FFFF"/>
              </a:solidFill>
              <a:latin typeface="Century Gothic" panose="020B0502020202020204" pitchFamily="34" charset="0"/>
            </a:endParaRPr>
          </a:p>
        </p:txBody>
      </p:sp>
      <p:sp>
        <p:nvSpPr>
          <p:cNvPr id="11" name="Rectangle 10"/>
          <p:cNvSpPr/>
          <p:nvPr/>
        </p:nvSpPr>
        <p:spPr>
          <a:xfrm>
            <a:off x="6168591" y="3258622"/>
            <a:ext cx="726481" cy="369332"/>
          </a:xfrm>
          <a:prstGeom prst="rect">
            <a:avLst/>
          </a:prstGeom>
        </p:spPr>
        <p:txBody>
          <a:bodyPr wrap="none">
            <a:spAutoFit/>
          </a:bodyPr>
          <a:lstStyle/>
          <a:p>
            <a:pPr lvl="0" fontAlgn="base">
              <a:spcBef>
                <a:spcPct val="50000"/>
              </a:spcBef>
              <a:spcAft>
                <a:spcPct val="0"/>
              </a:spcAft>
            </a:pPr>
            <a:r>
              <a:rPr lang="en-US" altLang="en-US" dirty="0">
                <a:solidFill>
                  <a:srgbClr val="FF0000"/>
                </a:solidFill>
                <a:latin typeface="Century Gothic" panose="020B0502020202020204" pitchFamily="34" charset="0"/>
                <a:sym typeface="Symbol" panose="05050102010706020507" pitchFamily="18" charset="2"/>
              </a:rPr>
              <a:t> = </a:t>
            </a:r>
            <a:r>
              <a:rPr lang="en-US" altLang="en-US" dirty="0" smtClean="0">
                <a:solidFill>
                  <a:srgbClr val="FF0000"/>
                </a:solidFill>
                <a:latin typeface="Century Gothic" panose="020B0502020202020204" pitchFamily="34" charset="0"/>
                <a:sym typeface="Symbol" panose="05050102010706020507" pitchFamily="18" charset="2"/>
              </a:rPr>
              <a:t>8</a:t>
            </a:r>
            <a:endParaRPr lang="en-US" altLang="en-US" dirty="0">
              <a:solidFill>
                <a:srgbClr val="FF0000"/>
              </a:solidFill>
              <a:latin typeface="Century Gothic" panose="020B0502020202020204" pitchFamily="34" charset="0"/>
              <a:sym typeface="Symbol" panose="05050102010706020507" pitchFamily="18" charset="2"/>
            </a:endParaRPr>
          </a:p>
        </p:txBody>
      </p:sp>
      <p:cxnSp>
        <p:nvCxnSpPr>
          <p:cNvPr id="127" name="Straight Connector 126"/>
          <p:cNvCxnSpPr/>
          <p:nvPr/>
        </p:nvCxnSpPr>
        <p:spPr>
          <a:xfrm flipH="1">
            <a:off x="7216775" y="3744219"/>
            <a:ext cx="358775" cy="34359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a:off x="4523759" y="1037101"/>
            <a:ext cx="1601909" cy="927224"/>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flipH="1">
            <a:off x="5514571" y="2459170"/>
            <a:ext cx="652876" cy="855530"/>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6" name="Straight Arrow Connector 135"/>
          <p:cNvCxnSpPr/>
          <p:nvPr/>
        </p:nvCxnSpPr>
        <p:spPr>
          <a:xfrm>
            <a:off x="5479096" y="3433887"/>
            <a:ext cx="444595" cy="1041151"/>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p:cNvCxnSpPr/>
          <p:nvPr/>
        </p:nvCxnSpPr>
        <p:spPr>
          <a:xfrm>
            <a:off x="5960629" y="4663233"/>
            <a:ext cx="222250" cy="925704"/>
          </a:xfrm>
          <a:prstGeom prst="straightConnector1">
            <a:avLst/>
          </a:prstGeom>
          <a:ln w="38100">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81022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eaLnBrk="1" hangingPunct="1"/>
            <a:fld id="{98B3CB0B-7708-4942-B79F-2203098FE7D7}" type="slidenum">
              <a:rPr lang="en-US" altLang="en-US">
                <a:solidFill>
                  <a:schemeClr val="tx1"/>
                </a:solidFill>
                <a:cs typeface="Arial" panose="020B0604020202020204" pitchFamily="34" charset="0"/>
              </a:rPr>
              <a:pPr eaLnBrk="1" hangingPunct="1"/>
              <a:t>51</a:t>
            </a:fld>
            <a:endParaRPr lang="en-US" altLang="en-US">
              <a:solidFill>
                <a:schemeClr val="tx1"/>
              </a:solidFill>
              <a:cs typeface="Arial" panose="020B0604020202020204" pitchFamily="34" charset="0"/>
            </a:endParaRPr>
          </a:p>
        </p:txBody>
      </p:sp>
      <p:sp>
        <p:nvSpPr>
          <p:cNvPr id="24579" name="Rectangle 1"/>
          <p:cNvSpPr>
            <a:spLocks noGrp="1" noChangeArrowheads="1"/>
          </p:cNvSpPr>
          <p:nvPr>
            <p:ph type="title"/>
          </p:nvPr>
        </p:nvSpPr>
        <p:spPr/>
        <p:txBody>
          <a:bodyPr rIns="132080"/>
          <a:lstStyle/>
          <a:p>
            <a:pPr indent="0" eaLnBrk="1" hangingPunct="1"/>
            <a:r>
              <a:rPr lang="en-US" altLang="en-US" smtClean="0"/>
              <a:t>Alpha-beta pruning</a:t>
            </a:r>
          </a:p>
        </p:txBody>
      </p:sp>
      <p:sp>
        <p:nvSpPr>
          <p:cNvPr id="24580" name="Rectangle 2"/>
          <p:cNvSpPr>
            <a:spLocks noGrp="1" noChangeArrowheads="1"/>
          </p:cNvSpPr>
          <p:nvPr>
            <p:ph type="body" idx="1"/>
          </p:nvPr>
        </p:nvSpPr>
        <p:spPr/>
        <p:txBody>
          <a:bodyPr rIns="132080"/>
          <a:lstStyle/>
          <a:p>
            <a:pPr eaLnBrk="1" hangingPunct="1"/>
            <a:r>
              <a:rPr lang="en-US" altLang="en-US" dirty="0" smtClean="0"/>
              <a:t>It is possible to compute the correct minimax decision without looking at every node in the game tree.</a:t>
            </a:r>
          </a:p>
          <a:p>
            <a:pPr eaLnBrk="1" hangingPunct="1"/>
            <a:r>
              <a:rPr lang="en-US" altLang="en-US" dirty="0" smtClean="0"/>
              <a:t>Alpha-beta pruning allows to eliminate large parts of the tree from consideration, without influencing the final decision.</a:t>
            </a:r>
          </a:p>
        </p:txBody>
      </p:sp>
      <p:sp>
        <p:nvSpPr>
          <p:cNvPr id="24581" name="Text Box 3"/>
          <p:cNvSpPr txBox="1">
            <a:spLocks noChangeArrowheads="1"/>
          </p:cNvSpPr>
          <p:nvPr/>
        </p:nvSpPr>
        <p:spPr bwMode="auto">
          <a:xfrm>
            <a:off x="7462838" y="6245225"/>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algn="ctr" eaLnBrk="1" hangingPunct="1"/>
            <a:fld id="{73C9E2EE-19A8-4E7B-8491-FEFF4AEDDA5D}" type="slidenum">
              <a:rPr lang="en-US" altLang="en-US" sz="1400">
                <a:solidFill>
                  <a:schemeClr val="tx1"/>
                </a:solidFill>
                <a:cs typeface="Arial" panose="020B0604020202020204" pitchFamily="34" charset="0"/>
              </a:rPr>
              <a:pPr algn="ctr" eaLnBrk="1" hangingPunct="1"/>
              <a:t>51</a:t>
            </a:fld>
            <a:endParaRPr lang="en-US" altLang="en-US" sz="1400">
              <a:solidFill>
                <a:schemeClr val="tx1"/>
              </a:solidFill>
              <a:cs typeface="Arial" panose="020B0604020202020204" pitchFamily="34" charset="0"/>
            </a:endParaRPr>
          </a:p>
        </p:txBody>
      </p:sp>
    </p:spTree>
    <p:extLst>
      <p:ext uri="{BB962C8B-B14F-4D97-AF65-F5344CB8AC3E}">
        <p14:creationId xmlns:p14="http://schemas.microsoft.com/office/powerpoint/2010/main" val="4227686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eaLnBrk="1" hangingPunct="1"/>
            <a:fld id="{1BC19E9D-BF54-4B30-B530-BDC44A52DC38}" type="slidenum">
              <a:rPr lang="en-US" altLang="en-US">
                <a:solidFill>
                  <a:schemeClr val="tx1"/>
                </a:solidFill>
                <a:cs typeface="Arial" panose="020B0604020202020204" pitchFamily="34" charset="0"/>
              </a:rPr>
              <a:pPr eaLnBrk="1" hangingPunct="1"/>
              <a:t>52</a:t>
            </a:fld>
            <a:endParaRPr lang="en-US" altLang="en-US">
              <a:solidFill>
                <a:schemeClr val="tx1"/>
              </a:solidFill>
              <a:cs typeface="Arial" panose="020B0604020202020204" pitchFamily="34" charset="0"/>
            </a:endParaRPr>
          </a:p>
        </p:txBody>
      </p:sp>
      <p:sp>
        <p:nvSpPr>
          <p:cNvPr id="37891" name="Rectangle 1"/>
          <p:cNvSpPr>
            <a:spLocks noGrp="1" noChangeArrowheads="1"/>
          </p:cNvSpPr>
          <p:nvPr>
            <p:ph type="title"/>
          </p:nvPr>
        </p:nvSpPr>
        <p:spPr/>
        <p:txBody>
          <a:bodyPr rIns="132080">
            <a:normAutofit fontScale="90000"/>
          </a:bodyPr>
          <a:lstStyle/>
          <a:p>
            <a:pPr indent="0" eaLnBrk="1" hangingPunct="1"/>
            <a:r>
              <a:rPr lang="en-US" altLang="en-US" dirty="0" smtClean="0"/>
              <a:t>Final comments about alpha-beta pruning</a:t>
            </a:r>
          </a:p>
        </p:txBody>
      </p:sp>
      <p:sp>
        <p:nvSpPr>
          <p:cNvPr id="37892" name="Rectangle 2"/>
          <p:cNvSpPr>
            <a:spLocks noGrp="1" noChangeArrowheads="1"/>
          </p:cNvSpPr>
          <p:nvPr>
            <p:ph type="body" idx="1"/>
          </p:nvPr>
        </p:nvSpPr>
        <p:spPr/>
        <p:txBody>
          <a:bodyPr rIns="132080"/>
          <a:lstStyle/>
          <a:p>
            <a:pPr eaLnBrk="1" hangingPunct="1"/>
            <a:r>
              <a:rPr lang="en-US" altLang="en-US" sz="2800" dirty="0" smtClean="0"/>
              <a:t>Pruning does not affect final results.</a:t>
            </a:r>
          </a:p>
          <a:p>
            <a:pPr eaLnBrk="1" hangingPunct="1"/>
            <a:r>
              <a:rPr lang="en-US" altLang="en-US" sz="2800" dirty="0" smtClean="0"/>
              <a:t>Entire subtrees can be pruned, not just leaves.</a:t>
            </a:r>
          </a:p>
          <a:p>
            <a:pPr eaLnBrk="1" hangingPunct="1"/>
            <a:r>
              <a:rPr lang="en-US" altLang="en-US" sz="2800" dirty="0" smtClean="0"/>
              <a:t>Good move </a:t>
            </a:r>
            <a:r>
              <a:rPr lang="en-US" altLang="en-US" sz="2800" i="1" dirty="0" smtClean="0"/>
              <a:t>ordering</a:t>
            </a:r>
            <a:r>
              <a:rPr lang="en-US" altLang="en-US" sz="2800" dirty="0" smtClean="0"/>
              <a:t> improves effectiveness of pruning.</a:t>
            </a:r>
          </a:p>
          <a:p>
            <a:pPr eaLnBrk="1" hangingPunct="1"/>
            <a:r>
              <a:rPr lang="en-US" altLang="en-US" sz="2800" dirty="0" smtClean="0"/>
              <a:t>Alpha-beta pruning can look twice as deep as minimax in the same amount of time.</a:t>
            </a:r>
          </a:p>
        </p:txBody>
      </p:sp>
      <p:sp>
        <p:nvSpPr>
          <p:cNvPr id="37893" name="Text Box 3"/>
          <p:cNvSpPr txBox="1">
            <a:spLocks noChangeArrowheads="1"/>
          </p:cNvSpPr>
          <p:nvPr/>
        </p:nvSpPr>
        <p:spPr bwMode="auto">
          <a:xfrm>
            <a:off x="7462838" y="6245225"/>
            <a:ext cx="3127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1pPr>
            <a:lvl2pPr marL="742950" indent="-28575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2pPr>
            <a:lvl3pPr marL="11430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3pPr>
            <a:lvl4pPr marL="16002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4pPr>
            <a:lvl5pPr marL="2057400" indent="-228600" eaLnBrk="0" hangingPunct="0">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5pPr>
            <a:lvl6pPr marL="25146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6pPr>
            <a:lvl7pPr marL="29718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7pPr>
            <a:lvl8pPr marL="34290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8pPr>
            <a:lvl9pPr marL="3886200" indent="-228600" eaLnBrk="0" fontAlgn="base" hangingPunct="0">
              <a:spcBef>
                <a:spcPct val="0"/>
              </a:spcBef>
              <a:spcAft>
                <a:spcPct val="0"/>
              </a:spcAft>
              <a:defRPr>
                <a:solidFill>
                  <a:srgbClr val="000000"/>
                </a:solidFill>
                <a:latin typeface="Arial" panose="020B0604020202020204" pitchFamily="34" charset="0"/>
                <a:ea typeface="ヒラギノ角ゴ ProN W3" charset="0"/>
                <a:cs typeface="ヒラギノ角ゴ ProN W3" charset="0"/>
                <a:sym typeface="Arial" panose="020B0604020202020204" pitchFamily="34" charset="0"/>
              </a:defRPr>
            </a:lvl9pPr>
          </a:lstStyle>
          <a:p>
            <a:pPr algn="ctr" eaLnBrk="1" hangingPunct="1"/>
            <a:fld id="{D8039A18-380E-4CAE-AD73-53686CBC4B31}" type="slidenum">
              <a:rPr lang="en-US" altLang="en-US" sz="1400">
                <a:solidFill>
                  <a:schemeClr val="tx1"/>
                </a:solidFill>
                <a:cs typeface="Arial" panose="020B0604020202020204" pitchFamily="34" charset="0"/>
              </a:rPr>
              <a:pPr algn="ctr" eaLnBrk="1" hangingPunct="1"/>
              <a:t>52</a:t>
            </a:fld>
            <a:endParaRPr lang="en-US" altLang="en-US" sz="1400">
              <a:solidFill>
                <a:schemeClr val="tx1"/>
              </a:solidFill>
              <a:cs typeface="Arial" panose="020B0604020202020204" pitchFamily="34" charset="0"/>
            </a:endParaRPr>
          </a:p>
        </p:txBody>
      </p:sp>
    </p:spTree>
    <p:extLst>
      <p:ext uri="{BB962C8B-B14F-4D97-AF65-F5344CB8AC3E}">
        <p14:creationId xmlns:p14="http://schemas.microsoft.com/office/powerpoint/2010/main" val="35850492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338" y="762000"/>
            <a:ext cx="8059737" cy="4552950"/>
          </a:xfrm>
          <a:prstGeom prst="rect">
            <a:avLst/>
          </a:prstGeom>
          <a:noFill/>
          <a:extLst>
            <a:ext uri="{909E8E84-426E-40DD-AFC4-6F175D3DCCD1}">
              <a14:hiddenFill xmlns:a14="http://schemas.microsoft.com/office/drawing/2010/main">
                <a:solidFill>
                  <a:srgbClr val="FFFFFF"/>
                </a:solidFill>
              </a14:hiddenFill>
            </a:ext>
          </a:extLst>
        </p:spPr>
      </p:pic>
      <p:sp>
        <p:nvSpPr>
          <p:cNvPr id="26628" name="Text Box 4"/>
          <p:cNvSpPr txBox="1">
            <a:spLocks noChangeArrowheads="1"/>
          </p:cNvSpPr>
          <p:nvPr/>
        </p:nvSpPr>
        <p:spPr bwMode="auto">
          <a:xfrm>
            <a:off x="4953000" y="6491288"/>
            <a:ext cx="2743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26629" name="Text Box 5"/>
          <p:cNvSpPr txBox="1">
            <a:spLocks noChangeArrowheads="1"/>
          </p:cNvSpPr>
          <p:nvPr/>
        </p:nvSpPr>
        <p:spPr bwMode="auto">
          <a:xfrm>
            <a:off x="3352800" y="5181600"/>
            <a:ext cx="2743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Total states at depth n</a:t>
            </a:r>
          </a:p>
        </p:txBody>
      </p:sp>
      <p:sp>
        <p:nvSpPr>
          <p:cNvPr id="26630" name="Text Box 6"/>
          <p:cNvSpPr txBox="1">
            <a:spLocks noChangeArrowheads="1"/>
          </p:cNvSpPr>
          <p:nvPr/>
        </p:nvSpPr>
        <p:spPr bwMode="auto">
          <a:xfrm>
            <a:off x="150813" y="838200"/>
            <a:ext cx="458787"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en-US" altLang="en-US"/>
              <a:t>Branching factor-to calculate complexity</a:t>
            </a:r>
          </a:p>
        </p:txBody>
      </p:sp>
      <p:sp>
        <p:nvSpPr>
          <p:cNvPr id="26631" name="Text Box 7"/>
          <p:cNvSpPr txBox="1">
            <a:spLocks noChangeArrowheads="1"/>
          </p:cNvSpPr>
          <p:nvPr/>
        </p:nvSpPr>
        <p:spPr bwMode="auto">
          <a:xfrm>
            <a:off x="228600" y="5713413"/>
            <a:ext cx="88392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Analysis: if the Branching factor is 2, it takes search of 100 states to examine all paths  six levels deep into search space. And it takes about 10,000 states to consider paths 12 move deep.</a:t>
            </a:r>
          </a:p>
        </p:txBody>
      </p:sp>
      <p:sp>
        <p:nvSpPr>
          <p:cNvPr id="26632" name="Text Box 8"/>
          <p:cNvSpPr txBox="1">
            <a:spLocks noChangeArrowheads="1"/>
          </p:cNvSpPr>
          <p:nvPr/>
        </p:nvSpPr>
        <p:spPr bwMode="auto">
          <a:xfrm>
            <a:off x="0" y="0"/>
            <a:ext cx="937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Number of nodes generated as a function of branching factor, for various lengths, </a:t>
            </a:r>
            <a:r>
              <a:rPr lang="en-US" altLang="en-US">
                <a:solidFill>
                  <a:srgbClr val="FF0066"/>
                </a:solidFill>
              </a:rPr>
              <a:t>L, of solution paths</a:t>
            </a:r>
            <a:r>
              <a:rPr lang="en-US" altLang="en-US"/>
              <a:t>. The relating equation is: T = B(BL - 1)/(B - 1), adapted from Nilsson (1980).</a:t>
            </a:r>
          </a:p>
        </p:txBody>
      </p:sp>
    </p:spTree>
    <p:extLst>
      <p:ext uri="{BB962C8B-B14F-4D97-AF65-F5344CB8AC3E}">
        <p14:creationId xmlns:p14="http://schemas.microsoft.com/office/powerpoint/2010/main" val="405659468"/>
      </p:ext>
    </p:extLst>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76200" y="50800"/>
            <a:ext cx="9067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5100" indent="-1435100">
              <a:defRPr>
                <a:solidFill>
                  <a:schemeClr val="tx1"/>
                </a:solidFill>
                <a:latin typeface="Arial" panose="020B0604020202020204" pitchFamily="34" charset="0"/>
                <a:cs typeface="Arial" panose="020B0604020202020204" pitchFamily="34" charset="0"/>
              </a:defRPr>
            </a:lvl1pPr>
            <a:lvl2pPr marL="1549400">
              <a:defRPr>
                <a:solidFill>
                  <a:schemeClr val="tx1"/>
                </a:solidFill>
                <a:latin typeface="Arial" panose="020B0604020202020204" pitchFamily="34" charset="0"/>
                <a:cs typeface="Arial" panose="020B0604020202020204" pitchFamily="34" charset="0"/>
              </a:defRPr>
            </a:lvl2pPr>
            <a:lvl3pPr marL="1663700">
              <a:defRPr>
                <a:solidFill>
                  <a:schemeClr val="tx1"/>
                </a:solidFill>
                <a:latin typeface="Arial" panose="020B0604020202020204" pitchFamily="34" charset="0"/>
                <a:cs typeface="Arial" panose="020B0604020202020204" pitchFamily="34" charset="0"/>
              </a:defRPr>
            </a:lvl3pPr>
            <a:lvl4pPr marL="1778000">
              <a:defRPr>
                <a:solidFill>
                  <a:schemeClr val="tx1"/>
                </a:solidFill>
                <a:latin typeface="Arial" panose="020B0604020202020204" pitchFamily="34" charset="0"/>
                <a:cs typeface="Arial" panose="020B0604020202020204" pitchFamily="34" charset="0"/>
              </a:defRPr>
            </a:lvl4pPr>
            <a:lvl5pPr marL="1892300">
              <a:defRPr>
                <a:solidFill>
                  <a:schemeClr val="tx1"/>
                </a:solidFill>
                <a:latin typeface="Arial" panose="020B0604020202020204" pitchFamily="34" charset="0"/>
                <a:cs typeface="Arial" panose="020B0604020202020204" pitchFamily="34" charset="0"/>
              </a:defRPr>
            </a:lvl5pPr>
            <a:lvl6pPr marL="2349500" fontAlgn="base">
              <a:spcBef>
                <a:spcPct val="0"/>
              </a:spcBef>
              <a:spcAft>
                <a:spcPct val="0"/>
              </a:spcAft>
              <a:defRPr>
                <a:solidFill>
                  <a:schemeClr val="tx1"/>
                </a:solidFill>
                <a:latin typeface="Arial" panose="020B0604020202020204" pitchFamily="34" charset="0"/>
                <a:cs typeface="Arial" panose="020B0604020202020204" pitchFamily="34" charset="0"/>
              </a:defRPr>
            </a:lvl6pPr>
            <a:lvl7pPr marL="2806700" fontAlgn="base">
              <a:spcBef>
                <a:spcPct val="0"/>
              </a:spcBef>
              <a:spcAft>
                <a:spcPct val="0"/>
              </a:spcAft>
              <a:defRPr>
                <a:solidFill>
                  <a:schemeClr val="tx1"/>
                </a:solidFill>
                <a:latin typeface="Arial" panose="020B0604020202020204" pitchFamily="34" charset="0"/>
                <a:cs typeface="Arial" panose="020B0604020202020204" pitchFamily="34" charset="0"/>
              </a:defRPr>
            </a:lvl7pPr>
            <a:lvl8pPr marL="3263900" fontAlgn="base">
              <a:spcBef>
                <a:spcPct val="0"/>
              </a:spcBef>
              <a:spcAft>
                <a:spcPct val="0"/>
              </a:spcAft>
              <a:defRPr>
                <a:solidFill>
                  <a:schemeClr val="tx1"/>
                </a:solidFill>
                <a:latin typeface="Arial" panose="020B0604020202020204" pitchFamily="34" charset="0"/>
                <a:cs typeface="Arial" panose="020B0604020202020204" pitchFamily="34" charset="0"/>
              </a:defRPr>
            </a:lvl8pPr>
            <a:lvl9pPr marL="3721100" fontAlgn="base">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0" hangingPunct="0"/>
            <a:r>
              <a:rPr lang="en-US" altLang="en-US" b="1"/>
              <a:t>Figure 4.22:</a:t>
            </a:r>
            <a:r>
              <a:rPr lang="en-US" altLang="en-US" sz="2400"/>
              <a:t>	</a:t>
            </a:r>
            <a:r>
              <a:rPr lang="en-US" altLang="en-US" sz="2000"/>
              <a:t>Informal plot of cost of searching and cost of computing heuristic evaluation against informedness of heuristic, adapted from Nilsson (1980).</a:t>
            </a:r>
          </a:p>
        </p:txBody>
      </p: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1063" y="1247775"/>
            <a:ext cx="7381875"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279877"/>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MY" dirty="0" smtClean="0"/>
              <a:t>Exercise</a:t>
            </a:r>
            <a:endParaRPr lang="en-MY" dirty="0"/>
          </a:p>
        </p:txBody>
      </p:sp>
      <p:sp>
        <p:nvSpPr>
          <p:cNvPr id="115" name="Rectangle 114"/>
          <p:cNvSpPr/>
          <p:nvPr/>
        </p:nvSpPr>
        <p:spPr>
          <a:xfrm>
            <a:off x="368710" y="1447406"/>
            <a:ext cx="7690925" cy="1815882"/>
          </a:xfrm>
          <a:prstGeom prst="rect">
            <a:avLst/>
          </a:prstGeom>
        </p:spPr>
        <p:txBody>
          <a:bodyPr wrap="square">
            <a:spAutoFit/>
          </a:bodyPr>
          <a:lstStyle/>
          <a:p>
            <a:r>
              <a:rPr lang="en-MY" sz="1600" dirty="0">
                <a:latin typeface="+mj-lt"/>
              </a:rPr>
              <a:t>Consider the game tree shown </a:t>
            </a:r>
            <a:r>
              <a:rPr lang="en-MY" sz="1600" dirty="0" smtClean="0">
                <a:latin typeface="+mj-lt"/>
              </a:rPr>
              <a:t>below. </a:t>
            </a:r>
          </a:p>
          <a:p>
            <a:r>
              <a:rPr lang="en-MY" sz="1600" dirty="0" smtClean="0">
                <a:latin typeface="+mj-lt"/>
              </a:rPr>
              <a:t>Q1.</a:t>
            </a:r>
            <a:r>
              <a:rPr lang="en-US" sz="1600" dirty="0" smtClean="0"/>
              <a:t>Trace </a:t>
            </a:r>
            <a:r>
              <a:rPr lang="en-US" sz="1600" dirty="0"/>
              <a:t>and write the values propagated up the graph for node A, B, C, D, F, G, and </a:t>
            </a:r>
            <a:r>
              <a:rPr lang="en-US" sz="1600" dirty="0" smtClean="0"/>
              <a:t>H </a:t>
            </a:r>
            <a:r>
              <a:rPr lang="en-US" sz="1600" dirty="0"/>
              <a:t>using MINIMAX search</a:t>
            </a:r>
            <a:r>
              <a:rPr lang="en-US" sz="1600" dirty="0" smtClean="0"/>
              <a:t>.</a:t>
            </a:r>
          </a:p>
          <a:p>
            <a:r>
              <a:rPr lang="en-US" sz="1600" dirty="0" smtClean="0"/>
              <a:t>Q2. </a:t>
            </a:r>
            <a:r>
              <a:rPr lang="en-US" sz="1600" dirty="0"/>
              <a:t>Trace and write the values propagated up the graph for node A, B, C, D, F, G, and H using </a:t>
            </a:r>
            <a:r>
              <a:rPr lang="en-US" sz="1600" dirty="0" smtClean="0"/>
              <a:t>ALPHA BETA PROCEDURE and </a:t>
            </a:r>
            <a:r>
              <a:rPr lang="en-US" sz="1600" dirty="0" err="1" smtClean="0"/>
              <a:t>i</a:t>
            </a:r>
            <a:r>
              <a:rPr lang="en-MY" sz="1600" dirty="0" err="1" smtClean="0">
                <a:latin typeface="+mj-lt"/>
              </a:rPr>
              <a:t>ndicate</a:t>
            </a:r>
            <a:r>
              <a:rPr lang="en-MY" sz="1600" dirty="0" smtClean="0">
                <a:latin typeface="+mj-lt"/>
              </a:rPr>
              <a:t> </a:t>
            </a:r>
            <a:r>
              <a:rPr lang="en-MY" sz="1600" dirty="0">
                <a:latin typeface="+mj-lt"/>
              </a:rPr>
              <a:t>all parts </a:t>
            </a:r>
            <a:r>
              <a:rPr lang="en-MY" sz="1600" dirty="0" smtClean="0">
                <a:latin typeface="+mj-lt"/>
              </a:rPr>
              <a:t>of the </a:t>
            </a:r>
            <a:r>
              <a:rPr lang="en-MY" sz="1600" dirty="0">
                <a:latin typeface="+mj-lt"/>
              </a:rPr>
              <a:t>tree that are cut off, and indicate the winning path or paths</a:t>
            </a:r>
            <a:r>
              <a:rPr lang="en-MY" sz="1600" dirty="0" smtClean="0">
                <a:latin typeface="+mj-lt"/>
              </a:rPr>
              <a:t>.</a:t>
            </a:r>
          </a:p>
          <a:p>
            <a:r>
              <a:rPr lang="en-MY" sz="1600" dirty="0" smtClean="0">
                <a:latin typeface="+mj-lt"/>
              </a:rPr>
              <a:t>Q3. Analyse your answer between Q1 and Q2 and give your conclusion .</a:t>
            </a:r>
            <a:endParaRPr lang="en-MY" sz="1600" dirty="0">
              <a:latin typeface="+mj-lt"/>
            </a:endParaRPr>
          </a:p>
        </p:txBody>
      </p:sp>
      <p:pic>
        <p:nvPicPr>
          <p:cNvPr id="46" name="Picture 45"/>
          <p:cNvPicPr>
            <a:picLocks noChangeAspect="1"/>
          </p:cNvPicPr>
          <p:nvPr/>
        </p:nvPicPr>
        <p:blipFill>
          <a:blip r:embed="rId2"/>
          <a:stretch>
            <a:fillRect/>
          </a:stretch>
        </p:blipFill>
        <p:spPr>
          <a:xfrm>
            <a:off x="886748" y="3297379"/>
            <a:ext cx="6654848" cy="2799905"/>
          </a:xfrm>
          <a:prstGeom prst="rect">
            <a:avLst/>
          </a:prstGeom>
        </p:spPr>
      </p:pic>
    </p:spTree>
    <p:extLst>
      <p:ext uri="{BB962C8B-B14F-4D97-AF65-F5344CB8AC3E}">
        <p14:creationId xmlns:p14="http://schemas.microsoft.com/office/powerpoint/2010/main" val="33701573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3809</TotalTime>
  <Words>2838</Words>
  <Application>Microsoft Office PowerPoint</Application>
  <PresentationFormat>On-screen Show (4:3)</PresentationFormat>
  <Paragraphs>1172</Paragraphs>
  <Slides>55</Slides>
  <Notes>31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55</vt:i4>
      </vt:variant>
    </vt:vector>
  </HeadingPairs>
  <TitlesOfParts>
    <vt:vector size="69" baseType="lpstr">
      <vt:lpstr>ＭＳ Ｐゴシック</vt:lpstr>
      <vt:lpstr>SimSun</vt:lpstr>
      <vt:lpstr>Arial</vt:lpstr>
      <vt:lpstr>Baskerville Old Face</vt:lpstr>
      <vt:lpstr>Bookman Old Style</vt:lpstr>
      <vt:lpstr>Calibri</vt:lpstr>
      <vt:lpstr>Century Gothic</vt:lpstr>
      <vt:lpstr>Garamond</vt:lpstr>
      <vt:lpstr>Symbol</vt:lpstr>
      <vt:lpstr>Verdana</vt:lpstr>
      <vt:lpstr>Wingdings</vt:lpstr>
      <vt:lpstr>ヒラギノ角ゴ ProN W3</vt:lpstr>
      <vt:lpstr>Office Theme</vt:lpstr>
      <vt:lpstr>Custom Design</vt:lpstr>
      <vt:lpstr>PowerPoint Presentation</vt:lpstr>
      <vt:lpstr>PowerPoint Presentation</vt:lpstr>
      <vt:lpstr>PowerPoint Presentation</vt:lpstr>
      <vt:lpstr>Admissibility</vt:lpstr>
      <vt:lpstr>PowerPoint Presentation</vt:lpstr>
      <vt:lpstr>PowerPoint Presentation</vt:lpstr>
      <vt:lpstr>Monotonicity</vt:lpstr>
      <vt:lpstr>PowerPoint Presentation</vt:lpstr>
      <vt:lpstr>Informed Heuristics</vt:lpstr>
      <vt:lpstr>PowerPoint Presentation</vt:lpstr>
      <vt:lpstr>Heuristics in Games</vt:lpstr>
      <vt:lpstr>PowerPoint Presentation</vt:lpstr>
      <vt:lpstr>PowerPoint Presentation</vt:lpstr>
      <vt:lpstr>Minimaxing to fixed Ply depth</vt:lpstr>
      <vt:lpstr>PowerPoint Presentation</vt:lpstr>
      <vt:lpstr>PBVs</vt:lpstr>
      <vt:lpstr>Example: Using PBVs</vt:lpstr>
      <vt:lpstr>PowerPoint Presentation</vt:lpstr>
      <vt:lpstr>PowerPoint Presentation</vt:lpstr>
      <vt:lpstr>PowerPoint Presentation</vt:lpstr>
      <vt:lpstr>PowerPoint Presentation</vt:lpstr>
      <vt:lpstr>Alpha-beta pruning</vt:lpstr>
      <vt:lpstr>Alpha-beta pruning</vt:lpstr>
      <vt:lpstr>PowerPoint Presentation</vt:lpstr>
      <vt:lpstr>Alpha-beta pruning : example 2  </vt:lpstr>
      <vt:lpstr>The Alpha-Beta Procedure: Example 3</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The Alpha-Beta Procedure</vt:lpstr>
      <vt:lpstr>Alpha-beta pruning</vt:lpstr>
      <vt:lpstr>Final comments about alpha-beta pruning</vt:lpstr>
      <vt:lpstr>PowerPoint Presentation</vt:lpstr>
      <vt:lpstr>PowerPoint Presentation</vt:lpstr>
      <vt:lpstr>Exercise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Referee</dc:creator>
  <cp:lastModifiedBy>RUHAIDA</cp:lastModifiedBy>
  <cp:revision>226</cp:revision>
  <dcterms:created xsi:type="dcterms:W3CDTF">2012-07-30T02:22:03Z</dcterms:created>
  <dcterms:modified xsi:type="dcterms:W3CDTF">2018-04-13T09:51:30Z</dcterms:modified>
</cp:coreProperties>
</file>